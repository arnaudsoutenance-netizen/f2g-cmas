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Good morning. This is a proposal from F2G Solutions Inc and KFOKAM48 Telecommunication Academy for a national emergency alert system for Cameroon, based on CMAS and PWS, the cell-broadcast standards used around the world. The promise fits in one line: one alert, every phone, under four seconds. The poster and the phone on this slide show exactly what we mean: a missing-child alert that pops up on every handset in the area instead of waiting on a wall.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Cameroon faces the same kinds of emergency again and again. Children go missing and the first minutes decide the outcome. Security incidents hit the Far-North and the North-West and South-West regions. Mount Cameroon and the Far-North floods are recurring natural hazards. Public-health emergencies such as cholera and meningitis need fast outreach for containment and vaccination drives. These risks have different owners in government, but they all need the same thing: a way to warn the population fast.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 is the problem in one sentence. When disaster strikes, Cameroon cannot reach every phone in the danger zone within seconds. No national public warning system runs on the mobile networks today. Mass SMS, radio and social media take minutes to hours, and they miss people. We have more than thirty million mobile subscriptions, but no way to alert only the people who are actually at risk.</a:t>
            </a:r>
          </a:p>
          <a:p>
            <a:pPr/>
            <a:endParaRPr lang="en" dirty="0"/>
          </a:p>
          <a:p>
            <a:pPr/>
            <a:r>
              <a:rPr lang="en" dirty="0"/>
              <a:t>Personal: my little brother went missing in Bafoussam in August 2009 — this is why AMBER alerts matter to me.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answer is the F2G CMAS Hub, which we call CM-Alert. It is one platform that lets authorities send a warning to every phone in a target area in under four seconds. Three qualities matter. It is fast: under four seconds to every handset in the target cells. It needs no phone numbers: we broadcast to a tracking area or a list of cells, so there is no SIM database and no privacy exposure. And it is unmissable: a full-screen popup with a special alert tone, and Presidential alerts cannot be switched off. It is the same 3GPP technology as US WEA, EU-Alert, Japan's ETWS and Korea's KPAS.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not a plan on paper; it already works in our lab. We run an Open5GS 4G core in Docker and a srsRAN eNodeB on a bladeRF xA4 software radio in Band 3, as part of the F2G Portable Lab. Real SIB12 CMAS alerts and SIB11 ETWS alerts reach a standard smartphone over the air. We have tested ten alert scenarios, CMAS and ETWS, and captured all of them in Wireshark. The next lab step is geo-targeting by tracking area: sending an alert to Yaoundé on TAC 1 without touching Douala on TAC 2.</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team. On the F2G Solutions side, Arnaud DJOUM, a telecom engineer who is doing RAN installation and commissioning for Nokia and Safaricom in Ethiopia in 2026, runs a private 4G and 5G lab, and built this CMAS prototype. On the KFOKAM48 and PKF side, Luis Geralda. We already build, test and deploy mobile networks; cell broadcast uses the same skill set.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vision is for CM-Alert to become Cameroon's national warning system first, and then to offer the same hub to the neighbouring CEMAC countries. The use cases are clear: AMBER alerts for missing children, natural hazards such as Mount Cameroon and the Far-North floods, security incidents, and health emergencies. The target customers are the ministries that own those risks: MINAT through Protection Civile, MINSANTE and MINDEF.</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total reach is every active mobile subscription in the country. According to ART Cameroon's 2024 data, reported by TechAfrica News in December 2025, there are 31.5 million active mobile subscriptions: 15.67 million on Orange, 13.75 million on MTN and 2.08 million on Camtel. Nexttel is not included in that count; it reports about five million users of its own.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Who pays? This is a bottom-up F2G estimate from our own price list, and it is conservative. In Year 1 we see one national government licence at 70 million FCFA, two operators on the SaaS Pro plan at 48 million, and two NGO or donor-funded projects at 20 million, for a total of 138 million FCFA, about 210 thousand euros. Our Year 3 target is 224 million FCFA. All of these figures are F2G estimates, not signed revenue.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wedge is the regulator. First, MINPOSTEL and ART, to bring cell broadcast into the national telecom framework. Second, a pilot with one operator, MTN or Orange: a letter of intent, an SBc-AP link and one pilot city. Third, the institutions, MINAT, MINSANTE and MINDEF. Fourth, scale to all four operators and then to CEMAC. The logic is simple: once the regulator mandates CMAS, every operator needs a broadcast centre, and we are ready.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To be honest about traction: we have no customer yet. What we do have is proof that we can build it. The prototype runs CMAS and ETWS end to end in our lab, with ten scenarios tested. The EN and FR technical guide and the demo scripts are ready. We made a first internal presentation to PKF Telco Academy on the 21st of September 2026. The next proof points are a meeting with MINPOSTEL, one operator letter of intent, and a demo targeted by tracking area.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map is our own reading of the field, not measured market data. The horizontal axis is operator coverage: one operator at a time on the left, one hub for all operators on the right. The vertical axis is local presence and speed to deploy. Mass SMS is what Cameroon relies on today; it is local, but it needs phone numbers, it is slow at scale and it cannot geo-target. Global vendor cell-broadcast centres from Nokia and Ericsson are strong, carrier-grade technology, but they are deployed per operator on a heavy budget. Specialist warning vendors such as Everbridge Public Warning sell turnkey national platforms through government tenders, with long sales cycles. F2G sits in the upper right: one hub for every operator, open 3GPP standards, a local bilingual team and a working prototype.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Why we win: the technology is the same 3GPP standard; the difference is how it is delivered in Cameroon. Our engineers are in Cameroon, while global vendors support from abroad. We work in English and French. Our hub is operator-neutral and connects every network, where vendor systems are deployed per operator. And our proof is a working lab prototype today; the global vendors are proven abroad but come with a heavy budget.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 is the F2G plan, which still has to be validated with the team. A three-month proof of concept to build the core engine and a dashboard MVP, for 15 million FCFA. A six-month pilot with MINPOSTEL and one operator in one city, for 50 million FCFA. Then a twelve-month national phase, with a government contract and all operators, for 100 million FCFA. That takes us from the lab to national service in about 21 months, and then we offer the hub to CEMAC.</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next steps. First, the team reviews this deck and aligns on scope, pricing and roles. Second, a live lab demo for the team and our first partners, showing Presidential, AMBER and ETWS alerts. Third, an introductory meeting with MINPOSTEL and ART on a national public warning framework. Fourth, a proposal for a one-city pilot with MTN or Orange. Our ask is simple: your feedback on this deck, and one contact at MINPOSTEL, ART or an operator.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the live demonstration. We will broadcast a real alert from our Portable Lab, an Open5GS core with a srsRAN eNodeB, to a test phone, and show a Presidential alert, an AMBER alert and an ETWS alert.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technical appendix covers what CMAS is, the international standards, the alert types and message IDs, the 3GPP architecture, the end-to-end call flow, the alert journey and the design of the F2G CMAS Hub.</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CMAS and PWS are 3GPP standards that broadcast an emergency message to every phone in a target area using cell broadcast, not phone numbers. With cell broadcast, one message goes to all handsets in the target cells at once, with no numbers and no SIM database, in under four seconds, with a full-screen popup and a special sound. Classic SMS is point to point: it is sent one number at a time, it needs every recipient's number, it takes minutes to hours at scale, and it is easily missed among other texts.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CMAS and PWS are proven worldwide. The United States runs WEA, with Presidential, Imminent Threat and AMBER alerts. The European Union runs EU-Alert under Directive 2018/1972, the European Electronic Communications Code. Japan runs ETWS for earthquake and tsunami warnings, and South Korea runs KPAS for nationwide disaster alerts. All of them are built on 3GPP cell broadcast as defined in TS 23.041, so Cameroon would adopt one core technology that handsets already support.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alert classes and their message identifiers are fixed by 3GPP TS 23.041, so handsets already recognise them. Presidential alerts use message ID 4370 and cannot be switched off. Extreme alerts use 4371 to 4372, Severe alerts 4373 to 4378, and AMBER alerts for child abduction use 4379. ETWS earthquake and tsunami warnings use 4352 to 4354, and test messages use 4380 and 4392.</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standard warning chain has five elements. Alert sources such as the government and MINDEF, Météo and Protection Civile, and the Ministry of Health send CAP messages to the Cell Broadcast Entity. The CBE feeds the Cell Broadcast Centre, which is where the F2G CMAS Hub sits. The CBC talks to each operator's core, the MME in 4G or the AMF in 5G, over SBc-AP, defined in 3GPP TS 29.168. The core sends a Write-Replace Warning over S1-AP or NGAP to the base stations, and the cells broadcast SIB10 and SIB11 for ETWS and SIB12 for CMAS. The phone reads the system information and shows the alert.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end-to-end call flow on LTE. The authority issues a CAP alert to the CBC. The CBC sends a Write-Replace Warning Request to the MME, which forwards it to every eNodeB in the warning area. Each eNodeB starts scheduling SIB12, or SIB10 and SIB11 for ETWS, and pages the cells with the CMAS or ETWS indication so that idle and connected phones wake up. The phone reads SIB1, then the warning SIBs, checks the message ID and serial number, and displays the alert. The eNodeBs report back through the MME to the CBC, which confirms delivery to the authority. The total elapsed time is under four seconds.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Put simply, there are four steps from an authority's decision to a popup on a phone. Create: an authority writes and approves the alert in the CMAS Hub and picks the target cells. Broadcast: the CBC sends a Write-Replace Warning over SBc-AP to each operator's MME or AMF. Schedule: each eNodeB schedules SIB12 and pages its cells with a CMAS indication. Display: every phone in the area shows a full-screen alert with a special sound, under four seconds end to end.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F2G CMAS Hub: one platform between the authorities and every operator. On the left are the alert sources: MINDEF, the Ministry of Health, Protection Civile and Météo. In the middle, the hub holds the web dashboard, the core engine, the SBc-AP gateway and analytics. On the right, the hub connects to MTN, Orange, Camtel and Nexttel, whose radio networks deliver the alert to subscribers.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mas_v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1/27/13</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mas_v3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
                <a:solidFill>
                  <a:schemeClr val="tx1">
                    <a:tint val="75000"/>
                  </a:schemeClr>
                </a:solidFill>
              </a:defRPr>
            </a:lvl1pPr>
          </a:lstStyle>
          <a:p>
            <a:fld id="{5BCAD085-E8A6-8845-BD4E-CB4CCA059FC4}" type="datetimeFigureOut">
              <a:rPr lang="en" smtClean="0"/>
              <a:t>1/27/13</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e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e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e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e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e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e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e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e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e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en">
          <a:solidFill>
            <a:schemeClr val="tx1"/>
          </a:solidFill>
          <a:latin typeface="+mn-lt"/>
          <a:ea typeface="+mn-ea"/>
          <a:cs typeface="+mn-cs"/>
        </a:defRPr>
      </a:lvl9pPr>
    </p:bodyStyle>
    <p:other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6151b4e4e5dd1de.png"/>
  <Relationship Id="rId3" Type="http://schemas.openxmlformats.org/officeDocument/2006/relationships/image" Target="../media/image_33711777d4ca7d48.png"/>
  <Relationship Id="rId4" Type="http://schemas.openxmlformats.org/officeDocument/2006/relationships/image" Target="../media/image_e74f4ac864923ad9.png"/>
  <Relationship Id="rId5"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image" Target="../media/image_f96681ded91f18aa.jpg"/>
  <Relationship Id="rId4" Type="http://schemas.openxmlformats.org/officeDocument/2006/relationships/image" Target="../media/image_1e32dff1f82dc7d8.jpg"/>
  <Relationship Id="rId5" Type="http://schemas.openxmlformats.org/officeDocument/2006/relationships/image" Target="../media/image_646d061c888382e3.jpg"/>
  <Relationship Id="rId6" Type="http://schemas.openxmlformats.org/officeDocument/2006/relationships/image" Target="../media/image_afcec26cac58d6fc.jpg"/>
  <Relationship Id="rId7"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image" Target="../media/image_33711777d4ca7d48.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image" Target="../media/image_33711777d4ca7d48.pn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image" Target="../media/image_7a03c544baebefdc.png"/>
  <Relationship Id="rId4" Type="http://schemas.openxmlformats.org/officeDocument/2006/relationships/image" Target="../media/image_3b5780953b3bfd7c.png"/>
  <Relationship Id="rId5" Type="http://schemas.openxmlformats.org/officeDocument/2006/relationships/image" Target="../media/image_b18c34335b691015.png"/>
  <Relationship Id="rId6" Type="http://schemas.openxmlformats.org/officeDocument/2006/relationships/image" Target="../media/image_47af48c78c2bca1f.png"/>
  <Relationship Id="rId7"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image" Target="../media/image_875836a75256a51d.png"/>
  <Relationship Id="rId4"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4f4ac864923ad9.png"/>
  <Relationship Id="rId3" Type="http://schemas.openxmlformats.org/officeDocument/2006/relationships/image" Target="../media/image_d594a174525995c6.png"/>
  <Relationship Id="rId4"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F3864"/>
            </a:gs>
            <a:gs pos="100000">
              <a:srgbClr val="132644"/>
            </a:gs>
          </a:gsLst>
          <a:lin ang="2700000" scaled="1"/>
        </a:gradFill>
        <a:effectLst/>
      </p:bgPr>
    </p:bg>
    <p:spTree>
      <p:nvGrpSpPr>
        <p:cNvPr id="1" name=""/>
        <p:cNvGrpSpPr/>
        <p:nvPr/>
      </p:nvGrpSpPr>
      <p:grpSpPr>
        <a:xfrm>
          <a:off x="0" y="0"/>
          <a:ext cx="0" cy="0"/>
          <a:chOff x="0" y="0"/>
          <a:chExt cx="0" cy="0"/>
        </a:xfrm>
      </p:grpSpPr>
      <p:sp>
        <p:nvSpPr>
          <p:cNvPr id="2" name="ripple-1"/>
          <p:cNvSpPr/>
          <p:nvPr/>
        </p:nvSpPr>
        <p:spPr>
          <a:xfrm>
            <a:off x="8277225" y="1905000"/>
            <a:ext cx="3238500" cy="3238500"/>
          </a:xfrm>
          <a:prstGeom prst="ellipse">
            <a:avLst/>
          </a:prstGeom>
          <a:noFill/>
          <a:ln w="19050">
            <a:solidFill>
              <a:srgbClr val="EC8236">
                <a:alpha val="45000"/>
              </a:srgbClr>
            </a:solidFill>
          </a:ln>
        </p:spPr>
      </p:sp>
      <p:sp>
        <p:nvSpPr>
          <p:cNvPr id="3" name="ripple-2"/>
          <p:cNvSpPr/>
          <p:nvPr/>
        </p:nvSpPr>
        <p:spPr>
          <a:xfrm>
            <a:off x="7515225" y="1143000"/>
            <a:ext cx="4762500" cy="4762500"/>
          </a:xfrm>
          <a:prstGeom prst="ellipse">
            <a:avLst/>
          </a:prstGeom>
          <a:noFill/>
          <a:ln w="19050">
            <a:solidFill>
              <a:srgbClr val="EC8236">
                <a:alpha val="28000"/>
              </a:srgbClr>
            </a:solidFill>
          </a:ln>
        </p:spPr>
      </p:sp>
      <p:sp>
        <p:nvSpPr>
          <p:cNvPr id="4" name="ripple-3"/>
          <p:cNvSpPr/>
          <p:nvPr/>
        </p:nvSpPr>
        <p:spPr>
          <a:xfrm>
            <a:off x="6753225" y="381000"/>
            <a:ext cx="6286500" cy="6286500"/>
          </a:xfrm>
          <a:prstGeom prst="ellipse">
            <a:avLst/>
          </a:prstGeom>
          <a:noFill/>
          <a:ln w="19050">
            <a:solidFill>
              <a:srgbClr val="EC8236">
                <a:alpha val="14000"/>
              </a:srgbClr>
            </a:solidFill>
          </a:ln>
        </p:spPr>
      </p:sp>
      <p:grpSp>
        <p:nvGrpSpPr>
          <p:cNvPr id="7" name="hero-visual"/>
          <p:cNvGrpSpPr/>
          <p:nvPr/>
        </p:nvGrpSpPr>
        <p:grpSpPr>
          <a:xfrm>
            <a:off x="6397673" y="1047750"/>
            <a:ext cx="4841827" cy="4953000"/>
            <a:chOff x="6397673" y="1047750"/>
            <a:chExt cx="4841827" cy="4953000"/>
          </a:xfrm>
        </p:grpSpPr>
        <p:pic>
          <p:nvPicPr>
            <p:cNvPr id="5" name="Image 5"/>
            <p:cNvPicPr>
              <a:picLocks noChangeAspect="1"/>
            </p:cNvPicPr>
            <p:nvPr/>
          </p:nvPicPr>
          <p:blipFill>
            <a:blip r:embed="rId2"/>
            <a:stretch>
              <a:fillRect/>
            </a:stretch>
          </p:blipFill>
          <p:spPr>
            <a:xfrm rot="-300000">
              <a:off x="6515515" y="1866882"/>
              <a:ext cx="2857500" cy="2828925"/>
            </a:xfrm>
            <a:prstGeom prst="rect">
              <a:avLst/>
            </a:prstGeom>
          </p:spPr>
        </p:pic>
        <p:pic>
          <p:nvPicPr>
            <p:cNvPr id="6" name="Image 6"/>
            <p:cNvPicPr>
              <a:picLocks noChangeAspect="1"/>
            </p:cNvPicPr>
            <p:nvPr/>
          </p:nvPicPr>
          <p:blipFill>
            <a:blip r:embed="rId3"/>
            <a:stretch>
              <a:fillRect/>
            </a:stretch>
          </p:blipFill>
          <p:spPr>
            <a:xfrm>
              <a:off x="8820150" y="1047750"/>
              <a:ext cx="2419350" cy="4953000"/>
            </a:xfrm>
            <a:prstGeom prst="rect">
              <a:avLst/>
            </a:prstGeom>
            <a:effectLst>
              <a:outerShdw blurRad="228600" dist="76200" dir="5400000" algn="ctr" rotWithShape="0">
                <a:srgbClr val="000000">
                  <a:alpha val="22500"/>
                </a:srgbClr>
              </a:outerShdw>
            </a:effectLst>
          </p:spPr>
        </p:pic>
      </p:grpSp>
      <p:grpSp>
        <p:nvGrpSpPr>
          <p:cNvPr id="14" name="title-block"/>
          <p:cNvGrpSpPr/>
          <p:nvPr/>
        </p:nvGrpSpPr>
        <p:grpSpPr>
          <a:xfrm>
            <a:off x="590550" y="1402556"/>
            <a:ext cx="5720055" cy="4011645"/>
            <a:chOff x="590550" y="1402556"/>
            <a:chExt cx="5720055" cy="4011645"/>
          </a:xfrm>
        </p:grpSpPr>
        <p:sp>
          <p:nvSpPr>
            <p:cNvPr id="8" name="TextBox 8"/>
            <p:cNvSpPr txBox="1"/>
            <p:nvPr/>
          </p:nvSpPr>
          <p:spPr>
            <a:xfrm>
              <a:off x="603885" y="1402556"/>
              <a:ext cx="7133400" cy="220028"/>
            </a:xfrm>
            <a:prstGeom prst="rect">
              <a:avLst/>
            </a:prstGeom>
            <a:noFill/>
            <a:ln>
              <a:noFill/>
            </a:ln>
          </p:spPr>
          <p:txBody>
            <a:bodyPr wrap="square" lIns="0" tIns="0" rIns="0" bIns="0" anchor="t" anchorCtr="0">
              <a:spAutoFit/>
            </a:bodyPr>
            <a:lstStyle/>
            <a:p>
              <a:pPr algn="l"/>
              <a:r>
                <a:rPr lang="en" sz="1120" b="1" spc="112" dirty="0">
                  <a:solidFill>
                    <a:srgbClr val="F5B888"/>
                  </a:solidFill>
                  <a:latin typeface="+mn-lt"/>
                  <a:ea typeface="+mn-ea"/>
                  <a:cs typeface="+mn-cs"/>
                </a:rPr>
                <a:t>F2G SOLUTIONS INC × KFOKAM48 TELECOMMUNICATION ACADEMY</a:t>
              </a:r>
            </a:p>
          </p:txBody>
        </p:sp>
        <p:grpSp>
          <p:nvGrpSpPr>
            <p:cNvPr id="11" name="Group 11"/>
            <p:cNvGrpSpPr/>
            <p:nvPr/>
          </p:nvGrpSpPr>
          <p:grpSpPr>
            <a:xfrm>
              <a:off x="590550" y="2038350"/>
              <a:ext cx="5621780" cy="1981200"/>
              <a:chOff x="590550" y="2038350"/>
              <a:chExt cx="5621780" cy="1981200"/>
            </a:xfrm>
          </p:grpSpPr>
          <p:sp>
            <p:nvSpPr>
              <p:cNvPr id="9" name="TextBox 9"/>
              <p:cNvSpPr txBox="1"/>
              <p:nvPr/>
            </p:nvSpPr>
            <p:spPr>
              <a:xfrm>
                <a:off x="590550" y="2038350"/>
                <a:ext cx="6096381" cy="1162050"/>
              </a:xfrm>
              <a:prstGeom prst="rect">
                <a:avLst/>
              </a:prstGeom>
              <a:noFill/>
              <a:ln>
                <a:noFill/>
              </a:ln>
            </p:spPr>
            <p:txBody>
              <a:bodyPr wrap="square" lIns="0" tIns="0" rIns="0" bIns="0" anchor="t" anchorCtr="0">
                <a:spAutoFit/>
              </a:bodyPr>
              <a:lstStyle/>
              <a:p>
                <a:pPr algn="l"/>
                <a:r>
                  <a:rPr lang="en" sz="6000" b="1" dirty="0">
                    <a:solidFill>
                      <a:srgbClr val="FFFFFF"/>
                    </a:solidFill>
                    <a:latin typeface="Baloo 2"/>
                    <a:ea typeface="Baloo 2"/>
                    <a:cs typeface="Baloo 2"/>
                  </a:rPr>
                  <a:t>CMAS / PWS</a:t>
                </a:r>
              </a:p>
            </p:txBody>
          </p:sp>
          <p:sp>
            <p:nvSpPr>
              <p:cNvPr id="10" name="TextBox 10"/>
              <p:cNvSpPr txBox="1"/>
              <p:nvPr/>
            </p:nvSpPr>
            <p:spPr>
              <a:xfrm>
                <a:off x="590550" y="2857500"/>
                <a:ext cx="7027225" cy="1162050"/>
              </a:xfrm>
              <a:prstGeom prst="rect">
                <a:avLst/>
              </a:prstGeom>
              <a:noFill/>
              <a:ln>
                <a:noFill/>
              </a:ln>
            </p:spPr>
            <p:txBody>
              <a:bodyPr wrap="square" lIns="0" tIns="0" rIns="0" bIns="0" anchor="t" anchorCtr="0">
                <a:spAutoFit/>
              </a:bodyPr>
              <a:lstStyle/>
              <a:p>
                <a:pPr algn="l"/>
                <a:r>
                  <a:rPr lang="en" sz="6000" b="1" dirty="0">
                    <a:solidFill>
                      <a:srgbClr val="EC8236"/>
                    </a:solidFill>
                    <a:latin typeface="Baloo 2"/>
                    <a:ea typeface="Baloo 2"/>
                    <a:cs typeface="Baloo 2"/>
                  </a:rPr>
                  <a:t>for Cameroon</a:t>
                </a:r>
              </a:p>
            </p:txBody>
          </p:sp>
        </p:grpSp>
        <p:sp>
          <p:nvSpPr>
            <p:cNvPr id="12" name="TextBox 12"/>
            <p:cNvSpPr txBox="1"/>
            <p:nvPr/>
          </p:nvSpPr>
          <p:spPr>
            <a:xfrm>
              <a:off x="598170" y="3986212"/>
              <a:ext cx="4261247" cy="840105"/>
            </a:xfrm>
            <a:prstGeom prst="rect">
              <a:avLst/>
            </a:prstGeom>
            <a:noFill/>
            <a:ln>
              <a:noFill/>
            </a:ln>
          </p:spPr>
          <p:txBody>
            <a:bodyPr wrap="square" lIns="0" tIns="0" rIns="0" bIns="0" anchor="t" anchorCtr="0">
              <a:spAutoFit/>
            </a:bodyPr>
            <a:lstStyle/>
            <a:p>
              <a:pPr algn="l">
                <a:lnSpc>
                  <a:spcPts val="3150"/>
                </a:lnSpc>
              </a:pPr>
              <a:r>
                <a:rPr lang="en" sz="2250" dirty="0">
                  <a:solidFill>
                    <a:srgbClr val="FFFFFF"/>
                  </a:solidFill>
                  <a:latin typeface="+mn-lt"/>
                  <a:ea typeface="+mn-ea"/>
                  <a:cs typeface="+mn-cs"/>
                </a:rPr>
                <a:t>One alert. Every phone.</a:t>
              </a:r>
              <a:br/>
              <a:r>
                <a:rPr lang="en" sz="2250" dirty="0">
                  <a:solidFill>
                    <a:srgbClr val="FFFFFF"/>
                  </a:solidFill>
                  <a:latin typeface="+mn-lt"/>
                  <a:ea typeface="+mn-ea"/>
                  <a:cs typeface="+mn-cs"/>
                </a:rPr>
                <a:t>Under four seconds.</a:t>
              </a:r>
            </a:p>
          </p:txBody>
        </p:sp>
        <p:sp>
          <p:nvSpPr>
            <p:cNvPr id="13" name="TextBox 13"/>
            <p:cNvSpPr txBox="1"/>
            <p:nvPr/>
          </p:nvSpPr>
          <p:spPr>
            <a:xfrm>
              <a:off x="602742" y="5150168"/>
              <a:ext cx="5544846" cy="264033"/>
            </a:xfrm>
            <a:prstGeom prst="rect">
              <a:avLst/>
            </a:prstGeom>
            <a:noFill/>
            <a:ln>
              <a:noFill/>
            </a:ln>
          </p:spPr>
          <p:txBody>
            <a:bodyPr wrap="square" lIns="0" tIns="0" rIns="0" bIns="0" anchor="t" anchorCtr="0">
              <a:spAutoFit/>
            </a:bodyPr>
            <a:lstStyle/>
            <a:p>
              <a:pPr algn="l"/>
              <a:r>
                <a:rPr lang="en" sz="1350" dirty="0">
                  <a:solidFill>
                    <a:srgbClr val="C9D2E3"/>
                  </a:solidFill>
                  <a:latin typeface="+mn-lt"/>
                  <a:ea typeface="+mn-ea"/>
                  <a:cs typeface="+mn-cs"/>
                </a:rPr>
                <a:t>A national emergency cell-broadcast alert system</a:t>
              </a:r>
            </a:p>
          </p:txBody>
        </p:sp>
      </p:grpSp>
      <p:grpSp>
        <p:nvGrpSpPr>
          <p:cNvPr id="17" name="logo"/>
          <p:cNvGrpSpPr/>
          <p:nvPr/>
        </p:nvGrpSpPr>
        <p:grpSpPr>
          <a:xfrm>
            <a:off x="11125200" y="190500"/>
            <a:ext cx="762000" cy="762000"/>
            <a:chOff x="11125200" y="190500"/>
            <a:chExt cx="762000" cy="762000"/>
          </a:xfrm>
        </p:grpSpPr>
        <p:sp>
          <p:nvSpPr>
            <p:cNvPr id="15" name="Rectangle 15"/>
            <p:cNvSpPr/>
            <p:nvPr/>
          </p:nvSpPr>
          <p:spPr>
            <a:xfrm>
              <a:off x="11125200" y="190500"/>
              <a:ext cx="762000" cy="762000"/>
            </a:xfrm>
            <a:prstGeom prst="roundRect">
              <a:avLst>
                <a:gd name="adj" fmla="val 20000"/>
              </a:avLst>
            </a:prstGeom>
            <a:solidFill>
              <a:srgbClr val="FFFFFF"/>
            </a:solidFill>
            <a:ln>
              <a:noFill/>
            </a:ln>
          </p:spPr>
        </p:sp>
        <p:pic>
          <p:nvPicPr>
            <p:cNvPr id="16" name="Image 16"/>
            <p:cNvPicPr>
              <a:picLocks noChangeAspect="1"/>
            </p:cNvPicPr>
            <p:nvPr/>
          </p:nvPicPr>
          <p:blipFill>
            <a:blip r:embed="rId4"/>
            <a:stretch>
              <a:fillRect/>
            </a:stretch>
          </p:blipFill>
          <p:spPr>
            <a:xfrm>
              <a:off x="11201400" y="266700"/>
              <a:ext cx="609600" cy="609600"/>
            </a:xfrm>
            <a:prstGeom prst="rect">
              <a:avLst/>
            </a:prstGeom>
          </p:spPr>
        </p:pic>
      </p:grpSp>
      <p:grpSp>
        <p:nvGrpSpPr>
          <p:cNvPr id="21" name="footer"/>
          <p:cNvGrpSpPr/>
          <p:nvPr/>
        </p:nvGrpSpPr>
        <p:grpSpPr>
          <a:xfrm>
            <a:off x="604838" y="6551295"/>
            <a:ext cx="10982325" cy="176212"/>
            <a:chOff x="604838" y="6551295"/>
            <a:chExt cx="10982325" cy="176212"/>
          </a:xfrm>
        </p:grpSpPr>
        <p:sp>
          <p:nvSpPr>
            <p:cNvPr id="18" name="TextBox 18"/>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A8B4CC"/>
                  </a:solidFill>
                  <a:latin typeface="+mn-lt"/>
                  <a:ea typeface="+mn-ea"/>
                  <a:cs typeface="+mn-cs"/>
                </a:rPr>
                <a:t>F2G Solutions Inc</a:t>
              </a:r>
            </a:p>
          </p:txBody>
        </p:sp>
        <p:sp>
          <p:nvSpPr>
            <p:cNvPr id="19" name="TextBox 19"/>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A8B4CC"/>
                  </a:solidFill>
                  <a:latin typeface="+mn-lt"/>
                  <a:ea typeface="+mn-ea"/>
                  <a:cs typeface="+mn-cs"/>
                </a:rPr>
                <a:t>KFOKAM48 Telecommunication Academy</a:t>
              </a:r>
            </a:p>
          </p:txBody>
        </p:sp>
        <p:sp>
          <p:nvSpPr>
            <p:cNvPr id="20"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FFFFFF"/>
                  </a:solidFill>
                  <a:latin typeface="+mn-lt"/>
                  <a:ea typeface="+mn-ea"/>
                  <a:cs typeface="+mn-cs"/>
                </a:rPr>
                <a:t>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8759277" cy="917734"/>
            <a:chOff x="594360" y="640556"/>
            <a:chExt cx="8759277" cy="917734"/>
          </a:xfrm>
        </p:grpSpPr>
        <p:sp>
          <p:nvSpPr>
            <p:cNvPr id="3" name="TextBox 3"/>
            <p:cNvSpPr txBox="1"/>
            <p:nvPr/>
          </p:nvSpPr>
          <p:spPr>
            <a:xfrm>
              <a:off x="603885" y="640556"/>
              <a:ext cx="1013076"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CONTEXT</a:t>
              </a:r>
            </a:p>
          </p:txBody>
        </p:sp>
        <p:sp>
          <p:nvSpPr>
            <p:cNvPr id="4" name="TextBox 4"/>
            <p:cNvSpPr txBox="1"/>
            <p:nvPr/>
          </p:nvSpPr>
          <p:spPr>
            <a:xfrm>
              <a:off x="594360" y="971550"/>
              <a:ext cx="10949096"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Cameroon’s emergencies keep coming back</a:t>
              </a:r>
            </a:p>
          </p:txBody>
        </p:sp>
      </p:grpSp>
      <p:grpSp>
        <p:nvGrpSpPr>
          <p:cNvPr id="16" name="photo-children"/>
          <p:cNvGrpSpPr/>
          <p:nvPr/>
        </p:nvGrpSpPr>
        <p:grpSpPr>
          <a:xfrm>
            <a:off x="0" y="1752600"/>
            <a:ext cx="3810000" cy="4572000"/>
            <a:chOff x="0" y="1752600"/>
            <a:chExt cx="3810000" cy="4572000"/>
          </a:xfrm>
        </p:grpSpPr>
        <p:pic>
          <p:nvPicPr>
            <p:cNvPr id="6" name="Image 6"/>
            <p:cNvPicPr>
              <a:picLocks noChangeAspect="1"/>
            </p:cNvPicPr>
            <p:nvPr/>
          </p:nvPicPr>
          <p:blipFill>
            <a:blip r:embed="rId3"/>
            <a:srcRect l="11213" t="0" r="11213" b="0"/>
            <a:stretch>
              <a:fillRect/>
            </a:stretch>
          </p:blipFill>
          <p:spPr>
            <a:xfrm>
              <a:off x="0" y="1752600"/>
              <a:ext cx="3810000" cy="4572000"/>
            </a:xfrm>
            <a:prstGeom prst="rect">
              <a:avLst/>
            </a:prstGeom>
          </p:spPr>
        </p:pic>
        <p:sp>
          <p:nvSpPr>
            <p:cNvPr id="7" name="Rectangle 7"/>
            <p:cNvSpPr/>
            <p:nvPr/>
          </p:nvSpPr>
          <p:spPr>
            <a:xfrm>
              <a:off x="0" y="4038600"/>
              <a:ext cx="3810000" cy="2286000"/>
            </a:xfrm>
            <a:prstGeom prst="rect">
              <a:avLst/>
            </a:prstGeom>
            <a:gradFill>
              <a:gsLst>
                <a:gs pos="0">
                  <a:srgbClr val="132644">
                    <a:alpha val="0"/>
                  </a:srgbClr>
                </a:gs>
                <a:gs pos="100000">
                  <a:srgbClr val="132644">
                    <a:alpha val="92000"/>
                  </a:srgbClr>
                </a:gs>
              </a:gsLst>
              <a:lin ang="5400000" scaled="1"/>
            </a:gradFill>
            <a:ln>
              <a:noFill/>
            </a:ln>
          </p:spPr>
        </p:sp>
        <p:grpSp>
          <p:nvGrpSpPr>
            <p:cNvPr id="13" name="Group 13"/>
            <p:cNvGrpSpPr/>
            <p:nvPr/>
          </p:nvGrpSpPr>
          <p:grpSpPr>
            <a:xfrm>
              <a:off x="347662" y="5186362"/>
              <a:ext cx="257175" cy="257175"/>
              <a:chOff x="347662" y="5186362"/>
              <a:chExt cx="257175" cy="257175"/>
            </a:xfrm>
          </p:grpSpPr>
          <p:sp>
            <p:nvSpPr>
              <p:cNvPr id="8" name="Freeform 8"/>
              <p:cNvSpPr/>
              <p:nvPr/>
            </p:nvSpPr>
            <p:spPr>
              <a:xfrm>
                <a:off x="347662" y="518636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28575">
                <a:solidFill>
                  <a:srgbClr val="F5B888"/>
                </a:solidFill>
              </a:ln>
            </p:spPr>
          </p:sp>
          <p:sp>
            <p:nvSpPr>
              <p:cNvPr id="9" name="Freeform 9"/>
              <p:cNvSpPr/>
              <p:nvPr/>
            </p:nvSpPr>
            <p:spPr>
              <a:xfrm>
                <a:off x="433388" y="5286375"/>
                <a:ext cx="9525" cy="9525"/>
              </a:xfrm>
              <a:custGeom>
                <a:avLst/>
                <a:gdLst/>
                <a:ahLst/>
                <a:cxnLst/>
                <a:rect l="l" t="t" r="r" b="b"/>
                <a:pathLst>
                  <a:path w="9525" h="9525">
                    <a:moveTo>
                      <a:pt x="0" y="0"/>
                    </a:moveTo>
                    <a:lnTo>
                      <a:pt x="143" y="0"/>
                    </a:lnTo>
                  </a:path>
                </a:pathLst>
              </a:custGeom>
              <a:noFill/>
              <a:ln w="28575">
                <a:solidFill>
                  <a:srgbClr val="F5B888"/>
                </a:solidFill>
              </a:ln>
            </p:spPr>
          </p:sp>
          <p:sp>
            <p:nvSpPr>
              <p:cNvPr id="10" name="Freeform 10"/>
              <p:cNvSpPr/>
              <p:nvPr/>
            </p:nvSpPr>
            <p:spPr>
              <a:xfrm>
                <a:off x="519112" y="5286375"/>
                <a:ext cx="9525" cy="9525"/>
              </a:xfrm>
              <a:custGeom>
                <a:avLst/>
                <a:gdLst/>
                <a:ahLst/>
                <a:cxnLst/>
                <a:rect l="l" t="t" r="r" b="b"/>
                <a:pathLst>
                  <a:path w="9525" h="9525">
                    <a:moveTo>
                      <a:pt x="0" y="0"/>
                    </a:moveTo>
                    <a:lnTo>
                      <a:pt x="143" y="0"/>
                    </a:lnTo>
                  </a:path>
                </a:pathLst>
              </a:custGeom>
              <a:noFill/>
              <a:ln w="28575">
                <a:solidFill>
                  <a:srgbClr val="F5B888"/>
                </a:solidFill>
              </a:ln>
            </p:spPr>
          </p:sp>
          <p:sp>
            <p:nvSpPr>
              <p:cNvPr id="11" name="Freeform 11"/>
              <p:cNvSpPr/>
              <p:nvPr/>
            </p:nvSpPr>
            <p:spPr>
              <a:xfrm>
                <a:off x="440531" y="5357812"/>
                <a:ext cx="71438" cy="15009"/>
              </a:xfrm>
              <a:custGeom>
                <a:avLst/>
                <a:gdLst/>
                <a:ahLst/>
                <a:cxnLst/>
                <a:rect l="l" t="t" r="r" b="b"/>
                <a:pathLst>
                  <a:path w="71438" h="15009">
                    <a:moveTo>
                      <a:pt x="0" y="0"/>
                    </a:moveTo>
                    <a:cubicBezTo>
                      <a:pt x="9406" y="9600"/>
                      <a:pt x="22279" y="15009"/>
                      <a:pt x="35719" y="15009"/>
                    </a:cubicBezTo>
                    <a:cubicBezTo>
                      <a:pt x="49158" y="15009"/>
                      <a:pt x="62032" y="9600"/>
                      <a:pt x="71438" y="0"/>
                    </a:cubicBezTo>
                  </a:path>
                </a:pathLst>
              </a:custGeom>
              <a:noFill/>
              <a:ln w="28575">
                <a:solidFill>
                  <a:srgbClr val="F5B888"/>
                </a:solidFill>
              </a:ln>
            </p:spPr>
          </p:sp>
          <p:sp>
            <p:nvSpPr>
              <p:cNvPr id="12" name="Freeform 12"/>
              <p:cNvSpPr/>
              <p:nvPr/>
            </p:nvSpPr>
            <p:spPr>
              <a:xfrm>
                <a:off x="447675" y="5186362"/>
                <a:ext cx="28575" cy="57150"/>
              </a:xfrm>
              <a:custGeom>
                <a:avLst/>
                <a:gdLst/>
                <a:ahLst/>
                <a:cxnLst/>
                <a:rect l="l" t="t" r="r" b="b"/>
                <a:pathLst>
                  <a:path w="28575" h="57150">
                    <a:moveTo>
                      <a:pt x="28575" y="0"/>
                    </a:moveTo>
                    <a:cubicBezTo>
                      <a:pt x="12793" y="0"/>
                      <a:pt x="0" y="12793"/>
                      <a:pt x="0" y="28575"/>
                    </a:cubicBezTo>
                    <a:cubicBezTo>
                      <a:pt x="0" y="44357"/>
                      <a:pt x="12793" y="57150"/>
                      <a:pt x="28575" y="57150"/>
                    </a:cubicBezTo>
                  </a:path>
                </a:pathLst>
              </a:custGeom>
              <a:noFill/>
              <a:ln w="28575">
                <a:solidFill>
                  <a:srgbClr val="F5B888"/>
                </a:solidFill>
              </a:ln>
            </p:spPr>
          </p:sp>
        </p:grpSp>
        <p:sp>
          <p:nvSpPr>
            <p:cNvPr id="14" name="TextBox 14"/>
            <p:cNvSpPr txBox="1"/>
            <p:nvPr/>
          </p:nvSpPr>
          <p:spPr>
            <a:xfrm>
              <a:off x="295656" y="5654040"/>
              <a:ext cx="2496968" cy="352044"/>
            </a:xfrm>
            <a:prstGeom prst="rect">
              <a:avLst/>
            </a:prstGeom>
            <a:noFill/>
            <a:ln>
              <a:noFill/>
            </a:ln>
          </p:spPr>
          <p:txBody>
            <a:bodyPr wrap="square" lIns="0" tIns="0" rIns="0" bIns="0" anchor="t" anchorCtr="0">
              <a:spAutoFit/>
            </a:bodyPr>
            <a:lstStyle/>
            <a:p>
              <a:pPr algn="l"/>
              <a:r>
                <a:rPr lang="en" sz="1800" b="1" dirty="0">
                  <a:solidFill>
                    <a:srgbClr val="FFFFFF"/>
                  </a:solidFill>
                  <a:latin typeface="+mn-lt"/>
                  <a:ea typeface="+mn-ea"/>
                  <a:cs typeface="+mn-cs"/>
                </a:rPr>
                <a:t>Missing children</a:t>
              </a:r>
            </a:p>
          </p:txBody>
        </p:sp>
        <p:sp>
          <p:nvSpPr>
            <p:cNvPr id="15" name="TextBox 15"/>
            <p:cNvSpPr txBox="1"/>
            <p:nvPr/>
          </p:nvSpPr>
          <p:spPr>
            <a:xfrm>
              <a:off x="298704" y="5985510"/>
              <a:ext cx="2021003" cy="234696"/>
            </a:xfrm>
            <a:prstGeom prst="rect">
              <a:avLst/>
            </a:prstGeom>
            <a:noFill/>
            <a:ln>
              <a:noFill/>
            </a:ln>
          </p:spPr>
          <p:txBody>
            <a:bodyPr wrap="square" lIns="0" tIns="0" rIns="0" bIns="0" anchor="t" anchorCtr="0">
              <a:spAutoFit/>
            </a:bodyPr>
            <a:lstStyle/>
            <a:p>
              <a:pPr algn="l"/>
              <a:r>
                <a:rPr lang="en" sz="1200" dirty="0">
                  <a:solidFill>
                    <a:srgbClr val="F5D6BC"/>
                  </a:solidFill>
                  <a:latin typeface="+mn-lt"/>
                  <a:ea typeface="+mn-ea"/>
                  <a:cs typeface="+mn-cs"/>
                </a:rPr>
                <a:t>Every minute counts</a:t>
              </a:r>
            </a:p>
          </p:txBody>
        </p:sp>
      </p:grpSp>
      <p:grpSp>
        <p:nvGrpSpPr>
          <p:cNvPr id="22" name="photo-security"/>
          <p:cNvGrpSpPr/>
          <p:nvPr/>
        </p:nvGrpSpPr>
        <p:grpSpPr>
          <a:xfrm>
            <a:off x="3867150" y="1752600"/>
            <a:ext cx="2743200" cy="4572000"/>
            <a:chOff x="3867150" y="1752600"/>
            <a:chExt cx="2743200" cy="4572000"/>
          </a:xfrm>
        </p:grpSpPr>
        <p:pic>
          <p:nvPicPr>
            <p:cNvPr id="17" name="Image 17"/>
            <p:cNvPicPr>
              <a:picLocks noChangeAspect="1"/>
            </p:cNvPicPr>
            <p:nvPr/>
          </p:nvPicPr>
          <p:blipFill>
            <a:blip r:embed="rId4"/>
            <a:srcRect l="14415" t="0" r="14415" b="0"/>
            <a:stretch>
              <a:fillRect/>
            </a:stretch>
          </p:blipFill>
          <p:spPr>
            <a:xfrm>
              <a:off x="3867150" y="1752600"/>
              <a:ext cx="2743200" cy="4572000"/>
            </a:xfrm>
            <a:prstGeom prst="rect">
              <a:avLst/>
            </a:prstGeom>
          </p:spPr>
        </p:pic>
        <p:sp>
          <p:nvSpPr>
            <p:cNvPr id="18" name="Rectangle 18"/>
            <p:cNvSpPr/>
            <p:nvPr/>
          </p:nvSpPr>
          <p:spPr>
            <a:xfrm>
              <a:off x="3867150" y="4038600"/>
              <a:ext cx="2743200" cy="2286000"/>
            </a:xfrm>
            <a:prstGeom prst="rect">
              <a:avLst/>
            </a:prstGeom>
            <a:gradFill>
              <a:gsLst>
                <a:gs pos="0">
                  <a:srgbClr val="132644">
                    <a:alpha val="0"/>
                  </a:srgbClr>
                </a:gs>
                <a:gs pos="100000">
                  <a:srgbClr val="132644">
                    <a:alpha val="92000"/>
                  </a:srgbClr>
                </a:gs>
              </a:gsLst>
              <a:lin ang="5400000" scaled="1"/>
            </a:gradFill>
            <a:ln>
              <a:noFill/>
            </a:ln>
          </p:spPr>
        </p:sp>
        <p:sp>
          <p:nvSpPr>
            <p:cNvPr id="19" name="Freeform 19"/>
            <p:cNvSpPr/>
            <p:nvPr/>
          </p:nvSpPr>
          <p:spPr>
            <a:xfrm>
              <a:off x="4170763" y="5186362"/>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28575">
              <a:solidFill>
                <a:srgbClr val="F5B888"/>
              </a:solidFill>
            </a:ln>
          </p:spPr>
        </p:sp>
        <p:sp>
          <p:nvSpPr>
            <p:cNvPr id="20" name="TextBox 20"/>
            <p:cNvSpPr txBox="1"/>
            <p:nvPr/>
          </p:nvSpPr>
          <p:spPr>
            <a:xfrm>
              <a:off x="4124706" y="5654040"/>
              <a:ext cx="1352063" cy="352044"/>
            </a:xfrm>
            <a:prstGeom prst="rect">
              <a:avLst/>
            </a:prstGeom>
            <a:noFill/>
            <a:ln>
              <a:noFill/>
            </a:ln>
          </p:spPr>
          <p:txBody>
            <a:bodyPr wrap="square" lIns="0" tIns="0" rIns="0" bIns="0" anchor="t" anchorCtr="0">
              <a:spAutoFit/>
            </a:bodyPr>
            <a:lstStyle/>
            <a:p>
              <a:pPr algn="l"/>
              <a:r>
                <a:rPr lang="en" sz="1800" b="1" dirty="0">
                  <a:solidFill>
                    <a:srgbClr val="FFFFFF"/>
                  </a:solidFill>
                  <a:latin typeface="+mn-lt"/>
                  <a:ea typeface="+mn-ea"/>
                  <a:cs typeface="+mn-cs"/>
                </a:rPr>
                <a:t>Security</a:t>
              </a:r>
            </a:p>
          </p:txBody>
        </p:sp>
        <p:sp>
          <p:nvSpPr>
            <p:cNvPr id="21" name="TextBox 21"/>
            <p:cNvSpPr txBox="1"/>
            <p:nvPr/>
          </p:nvSpPr>
          <p:spPr>
            <a:xfrm>
              <a:off x="4127754" y="5985510"/>
              <a:ext cx="2060543" cy="234696"/>
            </a:xfrm>
            <a:prstGeom prst="rect">
              <a:avLst/>
            </a:prstGeom>
            <a:noFill/>
            <a:ln>
              <a:noFill/>
            </a:ln>
          </p:spPr>
          <p:txBody>
            <a:bodyPr wrap="square" lIns="0" tIns="0" rIns="0" bIns="0" anchor="t" anchorCtr="0">
              <a:spAutoFit/>
            </a:bodyPr>
            <a:lstStyle/>
            <a:p>
              <a:pPr algn="l"/>
              <a:r>
                <a:rPr lang="en" sz="1200" dirty="0">
                  <a:solidFill>
                    <a:srgbClr val="F5D6BC"/>
                  </a:solidFill>
                  <a:latin typeface="+mn-lt"/>
                  <a:ea typeface="+mn-ea"/>
                  <a:cs typeface="+mn-cs"/>
                </a:rPr>
                <a:t>Far-North · NW / SW</a:t>
              </a:r>
            </a:p>
          </p:txBody>
        </p:sp>
      </p:grpSp>
      <p:grpSp>
        <p:nvGrpSpPr>
          <p:cNvPr id="33" name="photo-volcano"/>
          <p:cNvGrpSpPr/>
          <p:nvPr/>
        </p:nvGrpSpPr>
        <p:grpSpPr>
          <a:xfrm>
            <a:off x="6667500" y="1752600"/>
            <a:ext cx="2743200" cy="4572000"/>
            <a:chOff x="6667500" y="1752600"/>
            <a:chExt cx="2743200" cy="4572000"/>
          </a:xfrm>
        </p:grpSpPr>
        <p:pic>
          <p:nvPicPr>
            <p:cNvPr id="23" name="Image 23"/>
            <p:cNvPicPr>
              <a:picLocks noChangeAspect="1"/>
            </p:cNvPicPr>
            <p:nvPr/>
          </p:nvPicPr>
          <p:blipFill>
            <a:blip r:embed="rId5"/>
            <a:srcRect l="14444" t="0" r="14445" b="0"/>
            <a:stretch>
              <a:fillRect/>
            </a:stretch>
          </p:blipFill>
          <p:spPr>
            <a:xfrm>
              <a:off x="6667500" y="1752600"/>
              <a:ext cx="2743200" cy="4572000"/>
            </a:xfrm>
            <a:prstGeom prst="rect">
              <a:avLst/>
            </a:prstGeom>
          </p:spPr>
        </p:pic>
        <p:sp>
          <p:nvSpPr>
            <p:cNvPr id="24" name="Rectangle 24"/>
            <p:cNvSpPr/>
            <p:nvPr/>
          </p:nvSpPr>
          <p:spPr>
            <a:xfrm>
              <a:off x="6667500" y="4038600"/>
              <a:ext cx="2743200" cy="2286000"/>
            </a:xfrm>
            <a:prstGeom prst="rect">
              <a:avLst/>
            </a:prstGeom>
            <a:gradFill>
              <a:gsLst>
                <a:gs pos="0">
                  <a:srgbClr val="132644">
                    <a:alpha val="0"/>
                  </a:srgbClr>
                </a:gs>
                <a:gs pos="100000">
                  <a:srgbClr val="132644">
                    <a:alpha val="92000"/>
                  </a:srgbClr>
                </a:gs>
              </a:gsLst>
              <a:lin ang="5400000" scaled="1"/>
            </a:gradFill>
            <a:ln>
              <a:noFill/>
            </a:ln>
          </p:spPr>
        </p:sp>
        <p:grpSp>
          <p:nvGrpSpPr>
            <p:cNvPr id="30" name="Group 30"/>
            <p:cNvGrpSpPr/>
            <p:nvPr/>
          </p:nvGrpSpPr>
          <p:grpSpPr>
            <a:xfrm>
              <a:off x="6991350" y="5200650"/>
              <a:ext cx="228600" cy="228600"/>
              <a:chOff x="6991350" y="5200650"/>
              <a:chExt cx="228600" cy="228600"/>
            </a:xfrm>
          </p:grpSpPr>
          <p:sp>
            <p:nvSpPr>
              <p:cNvPr id="25" name="Freeform 25"/>
              <p:cNvSpPr/>
              <p:nvPr/>
            </p:nvSpPr>
            <p:spPr>
              <a:xfrm>
                <a:off x="7005638" y="5214938"/>
                <a:ext cx="57150" cy="42862"/>
              </a:xfrm>
              <a:custGeom>
                <a:avLst/>
                <a:gdLst/>
                <a:ahLst/>
                <a:cxnLst/>
                <a:rect l="l" t="t" r="r" b="b"/>
                <a:pathLst>
                  <a:path w="57150" h="42862">
                    <a:moveTo>
                      <a:pt x="57150" y="42862"/>
                    </a:moveTo>
                    <a:lnTo>
                      <a:pt x="57150" y="28575"/>
                    </a:lnTo>
                    <a:cubicBezTo>
                      <a:pt x="57150" y="12793"/>
                      <a:pt x="44357" y="0"/>
                      <a:pt x="28575" y="0"/>
                    </a:cubicBezTo>
                    <a:cubicBezTo>
                      <a:pt x="12793" y="0"/>
                      <a:pt x="0" y="12793"/>
                      <a:pt x="0" y="28575"/>
                    </a:cubicBezTo>
                  </a:path>
                </a:pathLst>
              </a:custGeom>
              <a:noFill/>
              <a:ln w="28575">
                <a:solidFill>
                  <a:srgbClr val="F5B888"/>
                </a:solidFill>
              </a:ln>
            </p:spPr>
          </p:sp>
          <p:sp>
            <p:nvSpPr>
              <p:cNvPr id="26" name="Freeform 26"/>
              <p:cNvSpPr/>
              <p:nvPr/>
            </p:nvSpPr>
            <p:spPr>
              <a:xfrm>
                <a:off x="7148512" y="5214938"/>
                <a:ext cx="57150" cy="42862"/>
              </a:xfrm>
              <a:custGeom>
                <a:avLst/>
                <a:gdLst/>
                <a:ahLst/>
                <a:cxnLst/>
                <a:rect l="l" t="t" r="r" b="b"/>
                <a:pathLst>
                  <a:path w="57150" h="42862">
                    <a:moveTo>
                      <a:pt x="0" y="42862"/>
                    </a:moveTo>
                    <a:lnTo>
                      <a:pt x="0" y="28575"/>
                    </a:lnTo>
                    <a:cubicBezTo>
                      <a:pt x="0" y="12793"/>
                      <a:pt x="12793" y="0"/>
                      <a:pt x="28575" y="0"/>
                    </a:cubicBezTo>
                    <a:cubicBezTo>
                      <a:pt x="44357" y="0"/>
                      <a:pt x="57150" y="12793"/>
                      <a:pt x="57150" y="28575"/>
                    </a:cubicBezTo>
                  </a:path>
                </a:pathLst>
              </a:custGeom>
              <a:noFill/>
              <a:ln w="28575">
                <a:solidFill>
                  <a:srgbClr val="F5B888"/>
                </a:solidFill>
              </a:ln>
            </p:spPr>
          </p:sp>
          <p:sp>
            <p:nvSpPr>
              <p:cNvPr id="27" name="Freeform 27"/>
              <p:cNvSpPr/>
              <p:nvPr/>
            </p:nvSpPr>
            <p:spPr>
              <a:xfrm>
                <a:off x="6991350" y="5300661"/>
                <a:ext cx="228600" cy="128589"/>
              </a:xfrm>
              <a:custGeom>
                <a:avLst/>
                <a:gdLst/>
                <a:ahLst/>
                <a:cxnLst/>
                <a:rect l="l" t="t" r="r" b="b"/>
                <a:pathLst>
                  <a:path w="228600" h="128589">
                    <a:moveTo>
                      <a:pt x="0" y="128589"/>
                    </a:moveTo>
                    <a:lnTo>
                      <a:pt x="49606" y="16975"/>
                    </a:lnTo>
                    <a:cubicBezTo>
                      <a:pt x="54192" y="6652"/>
                      <a:pt x="64428" y="0"/>
                      <a:pt x="75724" y="1"/>
                    </a:cubicBezTo>
                    <a:lnTo>
                      <a:pt x="152876" y="1"/>
                    </a:lnTo>
                    <a:cubicBezTo>
                      <a:pt x="164172" y="0"/>
                      <a:pt x="174408" y="6652"/>
                      <a:pt x="178994" y="16975"/>
                    </a:cubicBezTo>
                    <a:lnTo>
                      <a:pt x="228600" y="128589"/>
                    </a:lnTo>
                  </a:path>
                </a:pathLst>
              </a:custGeom>
              <a:noFill/>
              <a:ln w="28575">
                <a:solidFill>
                  <a:srgbClr val="F5B888"/>
                </a:solidFill>
              </a:ln>
            </p:spPr>
          </p:sp>
          <p:sp>
            <p:nvSpPr>
              <p:cNvPr id="28" name="Freeform 28"/>
              <p:cNvSpPr/>
              <p:nvPr/>
            </p:nvSpPr>
            <p:spPr>
              <a:xfrm>
                <a:off x="7022668" y="5357684"/>
                <a:ext cx="165921" cy="14516"/>
              </a:xfrm>
              <a:custGeom>
                <a:avLst/>
                <a:gdLst/>
                <a:ahLst/>
                <a:cxnLst/>
                <a:rect l="l" t="t" r="r" b="b"/>
                <a:pathLst>
                  <a:path w="165921" h="14516">
                    <a:moveTo>
                      <a:pt x="0" y="1043"/>
                    </a:moveTo>
                    <a:cubicBezTo>
                      <a:pt x="2221" y="485"/>
                      <a:pt x="4497" y="178"/>
                      <a:pt x="6787" y="129"/>
                    </a:cubicBezTo>
                    <a:cubicBezTo>
                      <a:pt x="14316" y="0"/>
                      <a:pt x="21446" y="2672"/>
                      <a:pt x="25832" y="7272"/>
                    </a:cubicBezTo>
                    <a:cubicBezTo>
                      <a:pt x="30218" y="11844"/>
                      <a:pt x="37348" y="14516"/>
                      <a:pt x="44877" y="14416"/>
                    </a:cubicBezTo>
                    <a:cubicBezTo>
                      <a:pt x="52407" y="14516"/>
                      <a:pt x="59536" y="11844"/>
                      <a:pt x="63937" y="7272"/>
                    </a:cubicBezTo>
                    <a:cubicBezTo>
                      <a:pt x="68323" y="2672"/>
                      <a:pt x="75452" y="0"/>
                      <a:pt x="82982" y="129"/>
                    </a:cubicBezTo>
                    <a:cubicBezTo>
                      <a:pt x="90511" y="0"/>
                      <a:pt x="97641" y="2672"/>
                      <a:pt x="102027" y="7272"/>
                    </a:cubicBezTo>
                    <a:cubicBezTo>
                      <a:pt x="106428" y="11844"/>
                      <a:pt x="113557" y="14516"/>
                      <a:pt x="121087" y="14416"/>
                    </a:cubicBezTo>
                    <a:cubicBezTo>
                      <a:pt x="128616" y="14516"/>
                      <a:pt x="135746" y="11844"/>
                      <a:pt x="140132" y="7272"/>
                    </a:cubicBezTo>
                    <a:cubicBezTo>
                      <a:pt x="144518" y="2672"/>
                      <a:pt x="151648" y="0"/>
                      <a:pt x="159177" y="129"/>
                    </a:cubicBezTo>
                    <a:cubicBezTo>
                      <a:pt x="161477" y="171"/>
                      <a:pt x="163749" y="486"/>
                      <a:pt x="165921" y="1043"/>
                    </a:cubicBezTo>
                  </a:path>
                </a:pathLst>
              </a:custGeom>
              <a:noFill/>
              <a:ln w="28575">
                <a:solidFill>
                  <a:srgbClr val="F5B888"/>
                </a:solidFill>
              </a:ln>
            </p:spPr>
          </p:sp>
          <p:sp>
            <p:nvSpPr>
              <p:cNvPr id="29" name="Freeform 29"/>
              <p:cNvSpPr/>
              <p:nvPr/>
            </p:nvSpPr>
            <p:spPr>
              <a:xfrm>
                <a:off x="7105650" y="5200650"/>
                <a:ext cx="9525" cy="57150"/>
              </a:xfrm>
              <a:custGeom>
                <a:avLst/>
                <a:gdLst/>
                <a:ahLst/>
                <a:cxnLst/>
                <a:rect l="l" t="t" r="r" b="b"/>
                <a:pathLst>
                  <a:path w="9525" h="57150">
                    <a:moveTo>
                      <a:pt x="0" y="57150"/>
                    </a:moveTo>
                    <a:lnTo>
                      <a:pt x="0" y="0"/>
                    </a:lnTo>
                  </a:path>
                </a:pathLst>
              </a:custGeom>
              <a:noFill/>
              <a:ln w="28575">
                <a:solidFill>
                  <a:srgbClr val="F5B888"/>
                </a:solidFill>
              </a:ln>
            </p:spPr>
          </p:sp>
        </p:grpSp>
        <p:sp>
          <p:nvSpPr>
            <p:cNvPr id="31" name="TextBox 31"/>
            <p:cNvSpPr txBox="1"/>
            <p:nvPr/>
          </p:nvSpPr>
          <p:spPr>
            <a:xfrm>
              <a:off x="6925056" y="5654040"/>
              <a:ext cx="2832925" cy="352044"/>
            </a:xfrm>
            <a:prstGeom prst="rect">
              <a:avLst/>
            </a:prstGeom>
            <a:noFill/>
            <a:ln>
              <a:noFill/>
            </a:ln>
          </p:spPr>
          <p:txBody>
            <a:bodyPr wrap="square" lIns="0" tIns="0" rIns="0" bIns="0" anchor="t" anchorCtr="0">
              <a:spAutoFit/>
            </a:bodyPr>
            <a:lstStyle/>
            <a:p>
              <a:pPr algn="l"/>
              <a:r>
                <a:rPr lang="en" sz="1800" b="1" dirty="0">
                  <a:solidFill>
                    <a:srgbClr val="FFFFFF"/>
                  </a:solidFill>
                  <a:latin typeface="+mn-lt"/>
                  <a:ea typeface="+mn-ea"/>
                  <a:cs typeface="+mn-cs"/>
                </a:rPr>
                <a:t>Volcano &amp; weather</a:t>
              </a:r>
            </a:p>
          </p:txBody>
        </p:sp>
        <p:sp>
          <p:nvSpPr>
            <p:cNvPr id="32" name="TextBox 32"/>
            <p:cNvSpPr txBox="1"/>
            <p:nvPr/>
          </p:nvSpPr>
          <p:spPr>
            <a:xfrm>
              <a:off x="6928104" y="5985510"/>
              <a:ext cx="2130171" cy="234696"/>
            </a:xfrm>
            <a:prstGeom prst="rect">
              <a:avLst/>
            </a:prstGeom>
            <a:noFill/>
            <a:ln>
              <a:noFill/>
            </a:ln>
          </p:spPr>
          <p:txBody>
            <a:bodyPr wrap="square" lIns="0" tIns="0" rIns="0" bIns="0" anchor="t" anchorCtr="0">
              <a:spAutoFit/>
            </a:bodyPr>
            <a:lstStyle/>
            <a:p>
              <a:pPr algn="l"/>
              <a:r>
                <a:rPr lang="en" sz="1200" dirty="0">
                  <a:solidFill>
                    <a:srgbClr val="F5D6BC"/>
                  </a:solidFill>
                  <a:latin typeface="+mn-lt"/>
                  <a:ea typeface="+mn-ea"/>
                  <a:cs typeface="+mn-cs"/>
                </a:rPr>
                <a:t>Mt Cameroon · floods</a:t>
              </a:r>
            </a:p>
          </p:txBody>
        </p:sp>
      </p:grpSp>
      <p:grpSp>
        <p:nvGrpSpPr>
          <p:cNvPr id="43" name="photo-health"/>
          <p:cNvGrpSpPr/>
          <p:nvPr/>
        </p:nvGrpSpPr>
        <p:grpSpPr>
          <a:xfrm>
            <a:off x="9467850" y="1752600"/>
            <a:ext cx="2724150" cy="4572000"/>
            <a:chOff x="9467850" y="1752600"/>
            <a:chExt cx="2724150" cy="4572000"/>
          </a:xfrm>
        </p:grpSpPr>
        <p:pic>
          <p:nvPicPr>
            <p:cNvPr id="34" name="Image 34"/>
            <p:cNvPicPr>
              <a:picLocks noChangeAspect="1"/>
            </p:cNvPicPr>
            <p:nvPr/>
          </p:nvPicPr>
          <p:blipFill>
            <a:blip r:embed="rId6"/>
            <a:srcRect l="14662" t="0" r="14663" b="0"/>
            <a:stretch>
              <a:fillRect/>
            </a:stretch>
          </p:blipFill>
          <p:spPr>
            <a:xfrm>
              <a:off x="9467850" y="1752600"/>
              <a:ext cx="2724150" cy="4572000"/>
            </a:xfrm>
            <a:prstGeom prst="rect">
              <a:avLst/>
            </a:prstGeom>
          </p:spPr>
        </p:pic>
        <p:sp>
          <p:nvSpPr>
            <p:cNvPr id="35" name="Rectangle 35"/>
            <p:cNvSpPr/>
            <p:nvPr/>
          </p:nvSpPr>
          <p:spPr>
            <a:xfrm>
              <a:off x="9467850" y="4038600"/>
              <a:ext cx="2724150" cy="2286000"/>
            </a:xfrm>
            <a:prstGeom prst="rect">
              <a:avLst/>
            </a:prstGeom>
            <a:gradFill>
              <a:gsLst>
                <a:gs pos="0">
                  <a:srgbClr val="132644">
                    <a:alpha val="0"/>
                  </a:srgbClr>
                </a:gs>
                <a:gs pos="100000">
                  <a:srgbClr val="132644">
                    <a:alpha val="92000"/>
                  </a:srgbClr>
                </a:gs>
              </a:gsLst>
              <a:lin ang="5400000" scaled="1"/>
            </a:gradFill>
            <a:ln>
              <a:noFill/>
            </a:ln>
          </p:spPr>
        </p:sp>
        <p:grpSp>
          <p:nvGrpSpPr>
            <p:cNvPr id="40" name="Group 40"/>
            <p:cNvGrpSpPr/>
            <p:nvPr/>
          </p:nvGrpSpPr>
          <p:grpSpPr>
            <a:xfrm>
              <a:off x="9791700" y="5200650"/>
              <a:ext cx="228600" cy="228600"/>
              <a:chOff x="9791700" y="5200650"/>
              <a:chExt cx="228600" cy="228600"/>
            </a:xfrm>
          </p:grpSpPr>
          <p:sp>
            <p:nvSpPr>
              <p:cNvPr id="36" name="Freeform 36"/>
              <p:cNvSpPr/>
              <p:nvPr/>
            </p:nvSpPr>
            <p:spPr>
              <a:xfrm>
                <a:off x="9848850" y="5200650"/>
                <a:ext cx="114300" cy="57150"/>
              </a:xfrm>
              <a:custGeom>
                <a:avLst/>
                <a:gdLst/>
                <a:ahLst/>
                <a:cxnLst/>
                <a:rect l="l" t="t" r="r" b="b"/>
                <a:pathLst>
                  <a:path w="114300" h="57150">
                    <a:moveTo>
                      <a:pt x="0" y="57150"/>
                    </a:moveTo>
                    <a:lnTo>
                      <a:pt x="0" y="28575"/>
                    </a:lnTo>
                    <a:cubicBezTo>
                      <a:pt x="0" y="12793"/>
                      <a:pt x="12793" y="0"/>
                      <a:pt x="28575" y="0"/>
                    </a:cubicBezTo>
                    <a:lnTo>
                      <a:pt x="85725" y="0"/>
                    </a:lnTo>
                    <a:cubicBezTo>
                      <a:pt x="101507" y="0"/>
                      <a:pt x="114300" y="12793"/>
                      <a:pt x="114300" y="28575"/>
                    </a:cubicBezTo>
                    <a:lnTo>
                      <a:pt x="114300" y="57150"/>
                    </a:lnTo>
                  </a:path>
                </a:pathLst>
              </a:custGeom>
              <a:noFill/>
              <a:ln w="28575">
                <a:solidFill>
                  <a:srgbClr val="F5B888"/>
                </a:solidFill>
              </a:ln>
            </p:spPr>
          </p:sp>
          <p:sp>
            <p:nvSpPr>
              <p:cNvPr id="37" name="Freeform 37"/>
              <p:cNvSpPr/>
              <p:nvPr/>
            </p:nvSpPr>
            <p:spPr>
              <a:xfrm>
                <a:off x="9791700" y="5257800"/>
                <a:ext cx="228600" cy="171450"/>
              </a:xfrm>
              <a:custGeom>
                <a:avLst/>
                <a:gdLst/>
                <a:ahLst/>
                <a:cxnLst/>
                <a:rect l="l" t="t" r="r" b="b"/>
                <a:pathLst>
                  <a:path w="228600" h="171450">
                    <a:moveTo>
                      <a:pt x="0" y="28575"/>
                    </a:moveTo>
                    <a:cubicBezTo>
                      <a:pt x="0" y="12793"/>
                      <a:pt x="12793" y="0"/>
                      <a:pt x="28575" y="0"/>
                    </a:cubicBezTo>
                    <a:lnTo>
                      <a:pt x="200025" y="0"/>
                    </a:lnTo>
                    <a:cubicBezTo>
                      <a:pt x="215807" y="0"/>
                      <a:pt x="228600" y="12793"/>
                      <a:pt x="228600" y="28575"/>
                    </a:cubicBezTo>
                    <a:lnTo>
                      <a:pt x="228600" y="142875"/>
                    </a:lnTo>
                    <a:cubicBezTo>
                      <a:pt x="228600" y="158657"/>
                      <a:pt x="215807" y="171450"/>
                      <a:pt x="200025" y="171450"/>
                    </a:cubicBezTo>
                    <a:lnTo>
                      <a:pt x="28575" y="171450"/>
                    </a:lnTo>
                    <a:cubicBezTo>
                      <a:pt x="12793" y="171450"/>
                      <a:pt x="0" y="158657"/>
                      <a:pt x="0" y="142875"/>
                    </a:cubicBezTo>
                    <a:lnTo>
                      <a:pt x="0" y="28575"/>
                    </a:lnTo>
                  </a:path>
                </a:pathLst>
              </a:custGeom>
              <a:noFill/>
              <a:ln w="28575">
                <a:solidFill>
                  <a:srgbClr val="F5B888"/>
                </a:solidFill>
              </a:ln>
            </p:spPr>
          </p:sp>
          <p:sp>
            <p:nvSpPr>
              <p:cNvPr id="38" name="Freeform 38"/>
              <p:cNvSpPr/>
              <p:nvPr/>
            </p:nvSpPr>
            <p:spPr>
              <a:xfrm>
                <a:off x="9877425" y="5343525"/>
                <a:ext cx="57150" cy="9525"/>
              </a:xfrm>
              <a:custGeom>
                <a:avLst/>
                <a:gdLst/>
                <a:ahLst/>
                <a:cxnLst/>
                <a:rect l="l" t="t" r="r" b="b"/>
                <a:pathLst>
                  <a:path w="57150" h="9525">
                    <a:moveTo>
                      <a:pt x="0" y="0"/>
                    </a:moveTo>
                    <a:lnTo>
                      <a:pt x="57150" y="0"/>
                    </a:lnTo>
                  </a:path>
                </a:pathLst>
              </a:custGeom>
              <a:noFill/>
              <a:ln w="28575">
                <a:solidFill>
                  <a:srgbClr val="F5B888"/>
                </a:solidFill>
              </a:ln>
            </p:spPr>
          </p:sp>
          <p:sp>
            <p:nvSpPr>
              <p:cNvPr id="39" name="Freeform 39"/>
              <p:cNvSpPr/>
              <p:nvPr/>
            </p:nvSpPr>
            <p:spPr>
              <a:xfrm>
                <a:off x="9906000" y="5314950"/>
                <a:ext cx="9525" cy="57150"/>
              </a:xfrm>
              <a:custGeom>
                <a:avLst/>
                <a:gdLst/>
                <a:ahLst/>
                <a:cxnLst/>
                <a:rect l="l" t="t" r="r" b="b"/>
                <a:pathLst>
                  <a:path w="9525" h="57150">
                    <a:moveTo>
                      <a:pt x="0" y="0"/>
                    </a:moveTo>
                    <a:lnTo>
                      <a:pt x="0" y="57150"/>
                    </a:lnTo>
                  </a:path>
                </a:pathLst>
              </a:custGeom>
              <a:noFill/>
              <a:ln w="28575">
                <a:solidFill>
                  <a:srgbClr val="F5B888"/>
                </a:solidFill>
              </a:ln>
            </p:spPr>
          </p:sp>
        </p:grpSp>
        <p:sp>
          <p:nvSpPr>
            <p:cNvPr id="41" name="TextBox 41"/>
            <p:cNvSpPr txBox="1"/>
            <p:nvPr/>
          </p:nvSpPr>
          <p:spPr>
            <a:xfrm>
              <a:off x="9725406" y="5654040"/>
              <a:ext cx="1988030" cy="352044"/>
            </a:xfrm>
            <a:prstGeom prst="rect">
              <a:avLst/>
            </a:prstGeom>
            <a:noFill/>
            <a:ln>
              <a:noFill/>
            </a:ln>
          </p:spPr>
          <p:txBody>
            <a:bodyPr wrap="square" lIns="0" tIns="0" rIns="0" bIns="0" anchor="t" anchorCtr="0">
              <a:spAutoFit/>
            </a:bodyPr>
            <a:lstStyle/>
            <a:p>
              <a:pPr algn="l"/>
              <a:r>
                <a:rPr lang="en" sz="1800" b="1" dirty="0">
                  <a:solidFill>
                    <a:srgbClr val="FFFFFF"/>
                  </a:solidFill>
                  <a:latin typeface="+mn-lt"/>
                  <a:ea typeface="+mn-ea"/>
                  <a:cs typeface="+mn-cs"/>
                </a:rPr>
                <a:t>Public health</a:t>
              </a:r>
            </a:p>
          </p:txBody>
        </p:sp>
        <p:sp>
          <p:nvSpPr>
            <p:cNvPr id="42" name="TextBox 42"/>
            <p:cNvSpPr txBox="1"/>
            <p:nvPr/>
          </p:nvSpPr>
          <p:spPr>
            <a:xfrm>
              <a:off x="9728454" y="5985510"/>
              <a:ext cx="1980482" cy="234696"/>
            </a:xfrm>
            <a:prstGeom prst="rect">
              <a:avLst/>
            </a:prstGeom>
            <a:noFill/>
            <a:ln>
              <a:noFill/>
            </a:ln>
          </p:spPr>
          <p:txBody>
            <a:bodyPr wrap="square" lIns="0" tIns="0" rIns="0" bIns="0" anchor="t" anchorCtr="0">
              <a:spAutoFit/>
            </a:bodyPr>
            <a:lstStyle/>
            <a:p>
              <a:pPr algn="l"/>
              <a:r>
                <a:rPr lang="en" sz="1200" dirty="0">
                  <a:solidFill>
                    <a:srgbClr val="F5D6BC"/>
                  </a:solidFill>
                  <a:latin typeface="+mn-lt"/>
                  <a:ea typeface="+mn-ea"/>
                  <a:cs typeface="+mn-cs"/>
                </a:rPr>
                <a:t>Cholera · meningitis</a:t>
              </a:r>
            </a:p>
          </p:txBody>
        </p:sp>
      </p:grpSp>
      <p:grpSp>
        <p:nvGrpSpPr>
          <p:cNvPr id="47" name="footer"/>
          <p:cNvGrpSpPr/>
          <p:nvPr/>
        </p:nvGrpSpPr>
        <p:grpSpPr>
          <a:xfrm>
            <a:off x="604838" y="6551295"/>
            <a:ext cx="10982325" cy="176212"/>
            <a:chOff x="604838" y="6551295"/>
            <a:chExt cx="10982325" cy="176212"/>
          </a:xfrm>
        </p:grpSpPr>
        <p:sp>
          <p:nvSpPr>
            <p:cNvPr id="44" name="TextBox 44"/>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45" name="TextBox 45"/>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46"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3864"/>
        </a:solidFill>
        <a:effectLst/>
      </p:bgPr>
    </p:bg>
    <p:spTree>
      <p:nvGrpSpPr>
        <p:cNvPr id="1" name=""/>
        <p:cNvGrpSpPr/>
        <p:nvPr/>
      </p:nvGrpSpPr>
      <p:grpSpPr>
        <a:xfrm>
          <a:off x="0" y="0"/>
          <a:ext cx="0" cy="0"/>
          <a:chOff x="0" y="0"/>
          <a:chExt cx="0" cy="0"/>
        </a:xfrm>
      </p:grpSpPr>
      <p:sp>
        <p:nvSpPr>
          <p:cNvPr id="2" name="ripple-1"/>
          <p:cNvSpPr/>
          <p:nvPr/>
        </p:nvSpPr>
        <p:spPr>
          <a:xfrm>
            <a:off x="10096500" y="4572000"/>
            <a:ext cx="2286000" cy="2286000"/>
          </a:xfrm>
          <a:prstGeom prst="ellipse">
            <a:avLst/>
          </a:prstGeom>
          <a:noFill/>
          <a:ln w="19050">
            <a:solidFill>
              <a:srgbClr val="EC8236">
                <a:alpha val="40000"/>
              </a:srgbClr>
            </a:solidFill>
          </a:ln>
        </p:spPr>
      </p:sp>
      <p:sp>
        <p:nvSpPr>
          <p:cNvPr id="3" name="ripple-2"/>
          <p:cNvSpPr/>
          <p:nvPr/>
        </p:nvSpPr>
        <p:spPr>
          <a:xfrm>
            <a:off x="9334500" y="3810000"/>
            <a:ext cx="3810000" cy="3810000"/>
          </a:xfrm>
          <a:prstGeom prst="ellipse">
            <a:avLst/>
          </a:prstGeom>
          <a:noFill/>
          <a:ln w="19050">
            <a:solidFill>
              <a:srgbClr val="EC8236">
                <a:alpha val="24000"/>
              </a:srgbClr>
            </a:solidFill>
          </a:ln>
        </p:spPr>
      </p:sp>
      <p:sp>
        <p:nvSpPr>
          <p:cNvPr id="4" name="ripple-3"/>
          <p:cNvSpPr/>
          <p:nvPr/>
        </p:nvSpPr>
        <p:spPr>
          <a:xfrm>
            <a:off x="8572500" y="3048000"/>
            <a:ext cx="5334000" cy="5334000"/>
          </a:xfrm>
          <a:prstGeom prst="ellipse">
            <a:avLst/>
          </a:prstGeom>
          <a:noFill/>
          <a:ln w="19050">
            <a:solidFill>
              <a:srgbClr val="EC8236">
                <a:alpha val="12000"/>
              </a:srgbClr>
            </a:solidFill>
          </a:ln>
        </p:spPr>
      </p:sp>
      <p:grpSp>
        <p:nvGrpSpPr>
          <p:cNvPr id="7" name="logo"/>
          <p:cNvGrpSpPr/>
          <p:nvPr/>
        </p:nvGrpSpPr>
        <p:grpSpPr>
          <a:xfrm>
            <a:off x="11125200" y="190500"/>
            <a:ext cx="762000" cy="762000"/>
            <a:chOff x="11125200" y="190500"/>
            <a:chExt cx="762000" cy="762000"/>
          </a:xfrm>
        </p:grpSpPr>
        <p:sp>
          <p:nvSpPr>
            <p:cNvPr id="5" name="Rectangle 5"/>
            <p:cNvSpPr/>
            <p:nvPr/>
          </p:nvSpPr>
          <p:spPr>
            <a:xfrm>
              <a:off x="11125200" y="190500"/>
              <a:ext cx="762000" cy="762000"/>
            </a:xfrm>
            <a:prstGeom prst="roundRect">
              <a:avLst>
                <a:gd name="adj" fmla="val 20000"/>
              </a:avLst>
            </a:prstGeom>
            <a:solidFill>
              <a:srgbClr val="FFFFFF"/>
            </a:solidFill>
            <a:ln>
              <a:noFill/>
            </a:ln>
          </p:spPr>
        </p:sp>
        <p:pic>
          <p:nvPicPr>
            <p:cNvPr id="6" name="Image 6"/>
            <p:cNvPicPr>
              <a:picLocks noChangeAspect="1"/>
            </p:cNvPicPr>
            <p:nvPr/>
          </p:nvPicPr>
          <p:blipFill>
            <a:blip r:embed="rId2"/>
            <a:stretch>
              <a:fillRect/>
            </a:stretch>
          </p:blipFill>
          <p:spPr>
            <a:xfrm>
              <a:off x="11201400" y="266700"/>
              <a:ext cx="609600" cy="609600"/>
            </a:xfrm>
            <a:prstGeom prst="rect">
              <a:avLst/>
            </a:prstGeom>
          </p:spPr>
        </p:pic>
      </p:grpSp>
      <p:grpSp>
        <p:nvGrpSpPr>
          <p:cNvPr id="11" name="statement"/>
          <p:cNvGrpSpPr/>
          <p:nvPr/>
        </p:nvGrpSpPr>
        <p:grpSpPr>
          <a:xfrm>
            <a:off x="895350" y="1478756"/>
            <a:ext cx="8539163" cy="4418933"/>
            <a:chOff x="895350" y="1478756"/>
            <a:chExt cx="8539163" cy="4418933"/>
          </a:xfrm>
        </p:grpSpPr>
        <p:sp>
          <p:nvSpPr>
            <p:cNvPr id="8" name="TextBox 8"/>
            <p:cNvSpPr txBox="1"/>
            <p:nvPr/>
          </p:nvSpPr>
          <p:spPr>
            <a:xfrm>
              <a:off x="908685" y="1478756"/>
              <a:ext cx="1509798" cy="220028"/>
            </a:xfrm>
            <a:prstGeom prst="rect">
              <a:avLst/>
            </a:prstGeom>
            <a:noFill/>
            <a:ln>
              <a:noFill/>
            </a:ln>
          </p:spPr>
          <p:txBody>
            <a:bodyPr wrap="square" lIns="0" tIns="0" rIns="0" bIns="0" anchor="t" anchorCtr="0">
              <a:spAutoFit/>
            </a:bodyPr>
            <a:lstStyle/>
            <a:p>
              <a:pPr algn="l"/>
              <a:r>
                <a:rPr lang="en" sz="1120" b="1" spc="112" dirty="0">
                  <a:solidFill>
                    <a:srgbClr val="F5B888"/>
                  </a:solidFill>
                  <a:latin typeface="+mn-lt"/>
                  <a:ea typeface="+mn-ea"/>
                  <a:cs typeface="+mn-cs"/>
                </a:rPr>
                <a:t>THE PROBLEM</a:t>
              </a:r>
            </a:p>
          </p:txBody>
        </p:sp>
        <p:sp>
          <p:nvSpPr>
            <p:cNvPr id="9" name="TextBox 9"/>
            <p:cNvSpPr txBox="1"/>
            <p:nvPr/>
          </p:nvSpPr>
          <p:spPr>
            <a:xfrm>
              <a:off x="895350" y="2002155"/>
              <a:ext cx="10673953" cy="3276600"/>
            </a:xfrm>
            <a:prstGeom prst="rect">
              <a:avLst/>
            </a:prstGeom>
            <a:noFill/>
            <a:ln>
              <a:noFill/>
            </a:ln>
          </p:spPr>
          <p:txBody>
            <a:bodyPr wrap="square" lIns="0" tIns="0" rIns="0" bIns="0" anchor="t" anchorCtr="0">
              <a:spAutoFit/>
            </a:bodyPr>
            <a:lstStyle/>
            <a:p>
              <a:pPr algn="l">
                <a:lnSpc>
                  <a:spcPts val="6000"/>
                </a:lnSpc>
              </a:pPr>
              <a:r>
                <a:rPr lang="en" sz="5100" b="1" dirty="0">
                  <a:solidFill>
                    <a:srgbClr val="FFFFFF"/>
                  </a:solidFill>
                  <a:latin typeface="Baloo 2"/>
                  <a:ea typeface="Baloo 2"/>
                  <a:cs typeface="Baloo 2"/>
                </a:rPr>
                <a:t>When disaster strikes,</a:t>
              </a:r>
              <a:br/>
              <a:r>
                <a:rPr lang="en" sz="5100" b="1" dirty="0">
                  <a:solidFill>
                    <a:srgbClr val="FFFFFF"/>
                  </a:solidFill>
                  <a:latin typeface="Baloo 2"/>
                  <a:ea typeface="Baloo 2"/>
                  <a:cs typeface="Baloo 2"/>
                </a:rPr>
                <a:t>Cameroon cannot reach</a:t>
              </a:r>
              <a:br/>
              <a:r>
                <a:rPr lang="en" sz="5100" b="1" dirty="0">
                  <a:solidFill>
                    <a:srgbClr val="FFFFFF"/>
                  </a:solidFill>
                  <a:latin typeface="Baloo 2"/>
                  <a:ea typeface="Baloo 2"/>
                  <a:cs typeface="Baloo 2"/>
                </a:rPr>
                <a:t>every phone in the danger</a:t>
              </a:r>
              <a:br/>
              <a:r>
                <a:rPr lang="en" sz="5100" b="1" dirty="0">
                  <a:solidFill>
                    <a:srgbClr val="FFFFFF"/>
                  </a:solidFill>
                  <a:latin typeface="Baloo 2"/>
                  <a:ea typeface="Baloo 2"/>
                  <a:cs typeface="Baloo 2"/>
                </a:rPr>
                <a:t xml:space="preserve">zone </a:t>
              </a:r>
              <a:r>
                <a:rPr lang="en" sz="5100" b="1" dirty="0">
                  <a:solidFill>
                    <a:srgbClr val="EC8236"/>
                  </a:solidFill>
                  <a:latin typeface="Baloo 2"/>
                  <a:ea typeface="Baloo 2"/>
                  <a:cs typeface="Baloo 2"/>
                </a:rPr>
                <a:t>within seconds.</a:t>
              </a:r>
            </a:p>
          </p:txBody>
        </p:sp>
        <p:sp>
          <p:nvSpPr>
            <p:cNvPr id="10" name="TextBox 10"/>
            <p:cNvSpPr txBox="1"/>
            <p:nvPr/>
          </p:nvSpPr>
          <p:spPr>
            <a:xfrm>
              <a:off x="906018" y="5574982"/>
              <a:ext cx="7709677" cy="322707"/>
            </a:xfrm>
            <a:prstGeom prst="rect">
              <a:avLst/>
            </a:prstGeom>
            <a:noFill/>
            <a:ln>
              <a:noFill/>
            </a:ln>
          </p:spPr>
          <p:txBody>
            <a:bodyPr wrap="square" lIns="0" tIns="0" rIns="0" bIns="0" anchor="t" anchorCtr="0">
              <a:spAutoFit/>
            </a:bodyPr>
            <a:lstStyle/>
            <a:p>
              <a:pPr algn="l"/>
              <a:r>
                <a:rPr lang="en" sz="1650" dirty="0">
                  <a:solidFill>
                    <a:srgbClr val="C9D2E3"/>
                  </a:solidFill>
                  <a:latin typeface="+mn-lt"/>
                  <a:ea typeface="+mn-ea"/>
                  <a:cs typeface="+mn-cs"/>
                </a:rPr>
                <a:t>Mass SMS, radio and social media take minutes to hours.</a:t>
              </a:r>
            </a:p>
          </p:txBody>
        </p:sp>
      </p:grpSp>
      <p:grpSp>
        <p:nvGrpSpPr>
          <p:cNvPr id="15" name="footer"/>
          <p:cNvGrpSpPr/>
          <p:nvPr/>
        </p:nvGrpSpPr>
        <p:grpSpPr>
          <a:xfrm>
            <a:off x="604838" y="6551295"/>
            <a:ext cx="10982325" cy="176212"/>
            <a:chOff x="604838" y="6551295"/>
            <a:chExt cx="10982325" cy="176212"/>
          </a:xfrm>
        </p:grpSpPr>
        <p:sp>
          <p:nvSpPr>
            <p:cNvPr id="12" name="TextBox 12"/>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A8B4CC"/>
                  </a:solidFill>
                  <a:latin typeface="+mn-lt"/>
                  <a:ea typeface="+mn-ea"/>
                  <a:cs typeface="+mn-cs"/>
                </a:rPr>
                <a:t>F2G Solutions Inc</a:t>
              </a:r>
            </a:p>
          </p:txBody>
        </p:sp>
        <p:sp>
          <p:nvSpPr>
            <p:cNvPr id="13" name="TextBox 13"/>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A8B4CC"/>
                  </a:solidFill>
                  <a:latin typeface="+mn-lt"/>
                  <a:ea typeface="+mn-ea"/>
                  <a:cs typeface="+mn-cs"/>
                </a:rPr>
                <a:t>KFOKAM48 Telecommunication Academy</a:t>
              </a:r>
            </a:p>
          </p:txBody>
        </p:sp>
        <p:sp>
          <p:nvSpPr>
            <p:cNvPr id="14"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FFFFFF"/>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field-orange"/>
          <p:cNvSpPr/>
          <p:nvPr/>
        </p:nvSpPr>
        <p:spPr>
          <a:xfrm>
            <a:off x="0" y="0"/>
            <a:ext cx="4953000" cy="6858000"/>
          </a:xfrm>
          <a:prstGeom prst="rect">
            <a:avLst/>
          </a:prstGeom>
          <a:solidFill>
            <a:srgbClr val="EC8236"/>
          </a:solidFill>
          <a:ln>
            <a:noFill/>
          </a:ln>
        </p:spPr>
      </p:sp>
      <p:sp>
        <p:nvSpPr>
          <p:cNvPr id="3" name="ripple-1"/>
          <p:cNvSpPr/>
          <p:nvPr/>
        </p:nvSpPr>
        <p:spPr>
          <a:xfrm>
            <a:off x="666750" y="1619250"/>
            <a:ext cx="3619500" cy="3619500"/>
          </a:xfrm>
          <a:prstGeom prst="ellipse">
            <a:avLst/>
          </a:prstGeom>
          <a:noFill/>
          <a:ln w="19050">
            <a:solidFill>
              <a:srgbClr val="FFFFFF">
                <a:alpha val="45000"/>
              </a:srgbClr>
            </a:solidFill>
          </a:ln>
        </p:spPr>
      </p:sp>
      <p:sp>
        <p:nvSpPr>
          <p:cNvPr id="4" name="ripple-2"/>
          <p:cNvSpPr/>
          <p:nvPr/>
        </p:nvSpPr>
        <p:spPr>
          <a:xfrm>
            <a:off x="152400" y="1104900"/>
            <a:ext cx="4648200" cy="4648200"/>
          </a:xfrm>
          <a:prstGeom prst="ellipse">
            <a:avLst/>
          </a:prstGeom>
          <a:noFill/>
          <a:ln w="19050">
            <a:solidFill>
              <a:srgbClr val="FFFFFF">
                <a:alpha val="25000"/>
              </a:srgbClr>
            </a:solidFill>
          </a:ln>
        </p:spPr>
      </p:sp>
      <p:pic>
        <p:nvPicPr>
          <p:cNvPr id="5" name="logo"/>
          <p:cNvPicPr>
            <a:picLocks noChangeAspect="1"/>
          </p:cNvPicPr>
          <p:nvPr/>
        </p:nvPicPr>
        <p:blipFill>
          <a:blip r:embed="rId2"/>
          <a:stretch>
            <a:fillRect/>
          </a:stretch>
        </p:blipFill>
        <p:spPr>
          <a:xfrm>
            <a:off x="11201400" y="228600"/>
            <a:ext cx="609600" cy="609600"/>
          </a:xfrm>
          <a:prstGeom prst="rect">
            <a:avLst/>
          </a:prstGeom>
        </p:spPr>
      </p:pic>
      <p:grpSp>
        <p:nvGrpSpPr>
          <p:cNvPr id="7" name="phone-visual"/>
          <p:cNvGrpSpPr/>
          <p:nvPr/>
        </p:nvGrpSpPr>
        <p:grpSpPr>
          <a:xfrm>
            <a:off x="1171575" y="762000"/>
            <a:ext cx="2609850" cy="5353050"/>
            <a:chOff x="1171575" y="762000"/>
            <a:chExt cx="2609850" cy="5353050"/>
          </a:xfrm>
        </p:grpSpPr>
        <p:pic>
          <p:nvPicPr>
            <p:cNvPr id="6" name="Image 6"/>
            <p:cNvPicPr>
              <a:picLocks noChangeAspect="1"/>
            </p:cNvPicPr>
            <p:nvPr/>
          </p:nvPicPr>
          <p:blipFill>
            <a:blip r:embed="rId3"/>
            <a:stretch>
              <a:fillRect/>
            </a:stretch>
          </p:blipFill>
          <p:spPr>
            <a:xfrm>
              <a:off x="1171575" y="762000"/>
              <a:ext cx="2609850" cy="5353050"/>
            </a:xfrm>
            <a:prstGeom prst="rect">
              <a:avLst/>
            </a:prstGeom>
            <a:effectLst>
              <a:outerShdw blurRad="266700" dist="95250" dir="5400000" algn="ctr" rotWithShape="0">
                <a:srgbClr val="6E2E12">
                  <a:alpha val="22500"/>
                </a:srgbClr>
              </a:outerShdw>
            </a:effectLst>
          </p:spPr>
        </p:pic>
      </p:grpSp>
      <p:grpSp>
        <p:nvGrpSpPr>
          <p:cNvPr id="11" name="header"/>
          <p:cNvGrpSpPr/>
          <p:nvPr/>
        </p:nvGrpSpPr>
        <p:grpSpPr>
          <a:xfrm>
            <a:off x="5698236" y="1307306"/>
            <a:ext cx="5072158" cy="1967389"/>
            <a:chOff x="5698236" y="1307306"/>
            <a:chExt cx="5072158" cy="1967389"/>
          </a:xfrm>
        </p:grpSpPr>
        <p:sp>
          <p:nvSpPr>
            <p:cNvPr id="8" name="TextBox 8"/>
            <p:cNvSpPr txBox="1"/>
            <p:nvPr/>
          </p:nvSpPr>
          <p:spPr>
            <a:xfrm>
              <a:off x="5709285" y="1307306"/>
              <a:ext cx="3448886"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THE SOLUTION · F2G CMAS HUB</a:t>
              </a:r>
            </a:p>
          </p:txBody>
        </p:sp>
        <p:sp>
          <p:nvSpPr>
            <p:cNvPr id="9" name="TextBox 9"/>
            <p:cNvSpPr txBox="1"/>
            <p:nvPr/>
          </p:nvSpPr>
          <p:spPr>
            <a:xfrm>
              <a:off x="5698236" y="1682115"/>
              <a:ext cx="6340197" cy="1159764"/>
            </a:xfrm>
            <a:prstGeom prst="rect">
              <a:avLst/>
            </a:prstGeom>
            <a:noFill/>
            <a:ln>
              <a:noFill/>
            </a:ln>
          </p:spPr>
          <p:txBody>
            <a:bodyPr wrap="square" lIns="0" tIns="0" rIns="0" bIns="0" anchor="t" anchorCtr="0">
              <a:spAutoFit/>
            </a:bodyPr>
            <a:lstStyle/>
            <a:p>
              <a:pPr algn="l">
                <a:lnSpc>
                  <a:spcPts val="4050"/>
                </a:lnSpc>
              </a:pPr>
              <a:r>
                <a:rPr lang="en" sz="3300" b="1" dirty="0">
                  <a:solidFill>
                    <a:srgbClr val="1F3864"/>
                  </a:solidFill>
                  <a:latin typeface="Baloo 2"/>
                  <a:ea typeface="Baloo 2"/>
                  <a:cs typeface="Baloo 2"/>
                </a:rPr>
                <a:t>CM-Alert warns a whole</a:t>
              </a:r>
              <a:br/>
              <a:r>
                <a:rPr lang="en" sz="3300" b="1" dirty="0">
                  <a:solidFill>
                    <a:srgbClr val="1F3864"/>
                  </a:solidFill>
                  <a:latin typeface="Baloo 2"/>
                  <a:ea typeface="Baloo 2"/>
                  <a:cs typeface="Baloo 2"/>
                </a:rPr>
                <a:t>area in under 4 seconds</a:t>
              </a:r>
            </a:p>
          </p:txBody>
        </p:sp>
        <p:sp>
          <p:nvSpPr>
            <p:cNvPr id="10" name="TextBox 10"/>
            <p:cNvSpPr txBox="1"/>
            <p:nvPr/>
          </p:nvSpPr>
          <p:spPr>
            <a:xfrm>
              <a:off x="5707380" y="2981325"/>
              <a:ext cx="6092073" cy="293370"/>
            </a:xfrm>
            <a:prstGeom prst="rect">
              <a:avLst/>
            </a:prstGeom>
            <a:noFill/>
            <a:ln>
              <a:noFill/>
            </a:ln>
          </p:spPr>
          <p:txBody>
            <a:bodyPr wrap="square" lIns="0" tIns="0" rIns="0" bIns="0" anchor="t" anchorCtr="0">
              <a:spAutoFit/>
            </a:bodyPr>
            <a:lstStyle/>
            <a:p>
              <a:pPr algn="l"/>
              <a:r>
                <a:rPr lang="en" sz="1500" dirty="0">
                  <a:solidFill>
                    <a:srgbClr val="5B6477"/>
                  </a:solidFill>
                  <a:latin typeface="+mn-lt"/>
                  <a:ea typeface="+mn-ea"/>
                  <a:cs typeface="+mn-cs"/>
                </a:rPr>
                <a:t>One platform. Every operator. Any target area.</a:t>
              </a:r>
            </a:p>
          </p:txBody>
        </p:sp>
      </p:grpSp>
      <p:grpSp>
        <p:nvGrpSpPr>
          <p:cNvPr id="16" name="quality-fast"/>
          <p:cNvGrpSpPr/>
          <p:nvPr/>
        </p:nvGrpSpPr>
        <p:grpSpPr>
          <a:xfrm>
            <a:off x="5715000" y="3806190"/>
            <a:ext cx="4509959" cy="598361"/>
            <a:chOff x="5715000" y="3806190"/>
            <a:chExt cx="4509959" cy="598361"/>
          </a:xfrm>
        </p:grpSpPr>
        <p:sp>
          <p:nvSpPr>
            <p:cNvPr id="12" name="Ellipse 12"/>
            <p:cNvSpPr/>
            <p:nvPr/>
          </p:nvSpPr>
          <p:spPr>
            <a:xfrm>
              <a:off x="5715000" y="3810000"/>
              <a:ext cx="533400" cy="533400"/>
            </a:xfrm>
            <a:prstGeom prst="ellipse">
              <a:avLst/>
            </a:prstGeom>
            <a:solidFill>
              <a:srgbClr val="FBE3D0"/>
            </a:solidFill>
            <a:ln>
              <a:noFill/>
            </a:ln>
          </p:spPr>
        </p:sp>
        <p:sp>
          <p:nvSpPr>
            <p:cNvPr id="13" name="Freeform 13"/>
            <p:cNvSpPr/>
            <p:nvPr/>
          </p:nvSpPr>
          <p:spPr>
            <a:xfrm>
              <a:off x="5881688" y="3948112"/>
              <a:ext cx="200025" cy="257175"/>
            </a:xfrm>
            <a:custGeom>
              <a:avLst/>
              <a:gdLst/>
              <a:ahLst/>
              <a:cxnLst/>
              <a:rect l="l" t="t" r="r" b="b"/>
              <a:pathLst>
                <a:path w="200025" h="257175">
                  <a:moveTo>
                    <a:pt x="114300" y="0"/>
                  </a:moveTo>
                  <a:lnTo>
                    <a:pt x="114300" y="100012"/>
                  </a:lnTo>
                  <a:lnTo>
                    <a:pt x="200025" y="100012"/>
                  </a:lnTo>
                  <a:lnTo>
                    <a:pt x="85725" y="257175"/>
                  </a:lnTo>
                  <a:lnTo>
                    <a:pt x="85725" y="157162"/>
                  </a:lnTo>
                  <a:lnTo>
                    <a:pt x="0" y="157162"/>
                  </a:lnTo>
                  <a:lnTo>
                    <a:pt x="114300" y="0"/>
                  </a:lnTo>
                </a:path>
              </a:pathLst>
            </a:custGeom>
            <a:noFill/>
            <a:ln w="28575">
              <a:solidFill>
                <a:srgbClr val="CC6508"/>
              </a:solidFill>
            </a:ln>
          </p:spPr>
        </p:sp>
        <p:sp>
          <p:nvSpPr>
            <p:cNvPr id="14" name="TextBox 14"/>
            <p:cNvSpPr txBox="1"/>
            <p:nvPr/>
          </p:nvSpPr>
          <p:spPr>
            <a:xfrm>
              <a:off x="6467856" y="3806190"/>
              <a:ext cx="814559"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Fast</a:t>
              </a:r>
            </a:p>
          </p:txBody>
        </p:sp>
        <p:sp>
          <p:nvSpPr>
            <p:cNvPr id="15" name="TextBox 15"/>
            <p:cNvSpPr txBox="1"/>
            <p:nvPr/>
          </p:nvSpPr>
          <p:spPr>
            <a:xfrm>
              <a:off x="6470142" y="4140518"/>
              <a:ext cx="4693521"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Under 4 seconds to every handset in range</a:t>
              </a:r>
            </a:p>
          </p:txBody>
        </p:sp>
      </p:grpSp>
      <p:grpSp>
        <p:nvGrpSpPr>
          <p:cNvPr id="28" name="quality-no-numbers"/>
          <p:cNvGrpSpPr/>
          <p:nvPr/>
        </p:nvGrpSpPr>
        <p:grpSpPr>
          <a:xfrm>
            <a:off x="5715000" y="4682490"/>
            <a:ext cx="3218931" cy="598361"/>
            <a:chOff x="5715000" y="4682490"/>
            <a:chExt cx="3218931" cy="598361"/>
          </a:xfrm>
        </p:grpSpPr>
        <p:sp>
          <p:nvSpPr>
            <p:cNvPr id="17" name="Ellipse 17"/>
            <p:cNvSpPr/>
            <p:nvPr/>
          </p:nvSpPr>
          <p:spPr>
            <a:xfrm>
              <a:off x="5715000" y="4686300"/>
              <a:ext cx="533400" cy="533400"/>
            </a:xfrm>
            <a:prstGeom prst="ellipse">
              <a:avLst/>
            </a:prstGeom>
            <a:solidFill>
              <a:srgbClr val="FBE3D0"/>
            </a:solidFill>
            <a:ln>
              <a:noFill/>
            </a:ln>
          </p:spPr>
        </p:sp>
        <p:grpSp>
          <p:nvGrpSpPr>
            <p:cNvPr id="25" name="Group 25"/>
            <p:cNvGrpSpPr/>
            <p:nvPr/>
          </p:nvGrpSpPr>
          <p:grpSpPr>
            <a:xfrm>
              <a:off x="5853112" y="4824412"/>
              <a:ext cx="257175" cy="257175"/>
              <a:chOff x="5853112" y="4824412"/>
              <a:chExt cx="257175" cy="257175"/>
            </a:xfrm>
          </p:grpSpPr>
          <p:sp>
            <p:nvSpPr>
              <p:cNvPr id="18" name="Freeform 18"/>
              <p:cNvSpPr/>
              <p:nvPr/>
            </p:nvSpPr>
            <p:spPr>
              <a:xfrm>
                <a:off x="5895975" y="4838700"/>
                <a:ext cx="200025" cy="228600"/>
              </a:xfrm>
              <a:custGeom>
                <a:avLst/>
                <a:gdLst/>
                <a:ahLst/>
                <a:cxnLst/>
                <a:rect l="l" t="t" r="r" b="b"/>
                <a:pathLst>
                  <a:path w="200025" h="228600">
                    <a:moveTo>
                      <a:pt x="28575" y="0"/>
                    </a:moveTo>
                    <a:lnTo>
                      <a:pt x="171450" y="0"/>
                    </a:lnTo>
                    <a:cubicBezTo>
                      <a:pt x="187232" y="0"/>
                      <a:pt x="200025" y="12793"/>
                      <a:pt x="200025" y="28575"/>
                    </a:cubicBezTo>
                    <a:lnTo>
                      <a:pt x="200025" y="171450"/>
                    </a:lnTo>
                    <a:moveTo>
                      <a:pt x="191881" y="220013"/>
                    </a:moveTo>
                    <a:cubicBezTo>
                      <a:pt x="186695" y="225300"/>
                      <a:pt x="179451" y="228600"/>
                      <a:pt x="171450" y="228600"/>
                    </a:cubicBezTo>
                    <a:lnTo>
                      <a:pt x="28575" y="228600"/>
                    </a:lnTo>
                    <a:cubicBezTo>
                      <a:pt x="12793" y="228600"/>
                      <a:pt x="0" y="215807"/>
                      <a:pt x="0" y="200025"/>
                    </a:cubicBezTo>
                    <a:lnTo>
                      <a:pt x="0" y="28575"/>
                    </a:lnTo>
                  </a:path>
                </a:pathLst>
              </a:custGeom>
              <a:noFill/>
              <a:ln w="28575">
                <a:solidFill>
                  <a:srgbClr val="CC6508"/>
                </a:solidFill>
              </a:ln>
            </p:spPr>
          </p:sp>
          <p:sp>
            <p:nvSpPr>
              <p:cNvPr id="19" name="Freeform 19"/>
              <p:cNvSpPr/>
              <p:nvPr/>
            </p:nvSpPr>
            <p:spPr>
              <a:xfrm>
                <a:off x="5953125" y="5010150"/>
                <a:ext cx="85725" cy="9525"/>
              </a:xfrm>
              <a:custGeom>
                <a:avLst/>
                <a:gdLst/>
                <a:ahLst/>
                <a:cxnLst/>
                <a:rect l="l" t="t" r="r" b="b"/>
                <a:pathLst>
                  <a:path w="85725" h="9525">
                    <a:moveTo>
                      <a:pt x="0" y="0"/>
                    </a:moveTo>
                    <a:lnTo>
                      <a:pt x="85725" y="0"/>
                    </a:lnTo>
                  </a:path>
                </a:pathLst>
              </a:custGeom>
              <a:noFill/>
              <a:ln w="28575">
                <a:solidFill>
                  <a:srgbClr val="CC6508"/>
                </a:solidFill>
              </a:ln>
            </p:spPr>
          </p:sp>
          <p:sp>
            <p:nvSpPr>
              <p:cNvPr id="20" name="Freeform 20"/>
              <p:cNvSpPr/>
              <p:nvPr/>
            </p:nvSpPr>
            <p:spPr>
              <a:xfrm>
                <a:off x="5967412" y="4910138"/>
                <a:ext cx="57150" cy="57150"/>
              </a:xfrm>
              <a:custGeom>
                <a:avLst/>
                <a:gdLst/>
                <a:ahLst/>
                <a:cxnLst/>
                <a:rect l="l" t="t" r="r" b="b"/>
                <a:pathLst>
                  <a:path w="57150" h="57150">
                    <a:moveTo>
                      <a:pt x="0" y="28575"/>
                    </a:moveTo>
                    <a:cubicBezTo>
                      <a:pt x="0" y="44357"/>
                      <a:pt x="12793" y="57150"/>
                      <a:pt x="28575" y="57150"/>
                    </a:cubicBezTo>
                    <a:moveTo>
                      <a:pt x="57150" y="28575"/>
                    </a:moveTo>
                    <a:cubicBezTo>
                      <a:pt x="57150" y="12793"/>
                      <a:pt x="44357" y="0"/>
                      <a:pt x="28575" y="0"/>
                    </a:cubicBezTo>
                  </a:path>
                </a:pathLst>
              </a:custGeom>
              <a:noFill/>
              <a:ln w="28575">
                <a:solidFill>
                  <a:srgbClr val="CC6508"/>
                </a:solidFill>
              </a:ln>
            </p:spPr>
          </p:sp>
          <p:sp>
            <p:nvSpPr>
              <p:cNvPr id="21" name="Freeform 21"/>
              <p:cNvSpPr/>
              <p:nvPr/>
            </p:nvSpPr>
            <p:spPr>
              <a:xfrm>
                <a:off x="5867400" y="4895850"/>
                <a:ext cx="42862" cy="9525"/>
              </a:xfrm>
              <a:custGeom>
                <a:avLst/>
                <a:gdLst/>
                <a:ahLst/>
                <a:cxnLst/>
                <a:rect l="l" t="t" r="r" b="b"/>
                <a:pathLst>
                  <a:path w="42862" h="9525">
                    <a:moveTo>
                      <a:pt x="0" y="0"/>
                    </a:moveTo>
                    <a:lnTo>
                      <a:pt x="42862" y="0"/>
                    </a:lnTo>
                  </a:path>
                </a:pathLst>
              </a:custGeom>
              <a:noFill/>
              <a:ln w="28575">
                <a:solidFill>
                  <a:srgbClr val="CC6508"/>
                </a:solidFill>
              </a:ln>
            </p:spPr>
          </p:sp>
          <p:sp>
            <p:nvSpPr>
              <p:cNvPr id="22" name="Freeform 22"/>
              <p:cNvSpPr/>
              <p:nvPr/>
            </p:nvSpPr>
            <p:spPr>
              <a:xfrm>
                <a:off x="5867400" y="4953000"/>
                <a:ext cx="42862" cy="9525"/>
              </a:xfrm>
              <a:custGeom>
                <a:avLst/>
                <a:gdLst/>
                <a:ahLst/>
                <a:cxnLst/>
                <a:rect l="l" t="t" r="r" b="b"/>
                <a:pathLst>
                  <a:path w="42862" h="9525">
                    <a:moveTo>
                      <a:pt x="0" y="0"/>
                    </a:moveTo>
                    <a:lnTo>
                      <a:pt x="42862" y="0"/>
                    </a:lnTo>
                  </a:path>
                </a:pathLst>
              </a:custGeom>
              <a:noFill/>
              <a:ln w="28575">
                <a:solidFill>
                  <a:srgbClr val="CC6508"/>
                </a:solidFill>
              </a:ln>
            </p:spPr>
          </p:sp>
          <p:sp>
            <p:nvSpPr>
              <p:cNvPr id="23" name="Freeform 23"/>
              <p:cNvSpPr/>
              <p:nvPr/>
            </p:nvSpPr>
            <p:spPr>
              <a:xfrm>
                <a:off x="5867400" y="5010150"/>
                <a:ext cx="42862" cy="9525"/>
              </a:xfrm>
              <a:custGeom>
                <a:avLst/>
                <a:gdLst/>
                <a:ahLst/>
                <a:cxnLst/>
                <a:rect l="l" t="t" r="r" b="b"/>
                <a:pathLst>
                  <a:path w="42862" h="9525">
                    <a:moveTo>
                      <a:pt x="0" y="0"/>
                    </a:moveTo>
                    <a:lnTo>
                      <a:pt x="42862" y="0"/>
                    </a:lnTo>
                  </a:path>
                </a:pathLst>
              </a:custGeom>
              <a:noFill/>
              <a:ln w="28575">
                <a:solidFill>
                  <a:srgbClr val="CC6508"/>
                </a:solidFill>
              </a:ln>
            </p:spPr>
          </p:sp>
          <p:sp>
            <p:nvSpPr>
              <p:cNvPr id="24" name="Freeform 24"/>
              <p:cNvSpPr/>
              <p:nvPr/>
            </p:nvSpPr>
            <p:spPr>
              <a:xfrm>
                <a:off x="5853112" y="4824412"/>
                <a:ext cx="257175" cy="257175"/>
              </a:xfrm>
              <a:custGeom>
                <a:avLst/>
                <a:gdLst/>
                <a:ahLst/>
                <a:cxnLst/>
                <a:rect l="l" t="t" r="r" b="b"/>
                <a:pathLst>
                  <a:path w="257175" h="257175">
                    <a:moveTo>
                      <a:pt x="0" y="0"/>
                    </a:moveTo>
                    <a:lnTo>
                      <a:pt x="257175" y="257175"/>
                    </a:lnTo>
                  </a:path>
                </a:pathLst>
              </a:custGeom>
              <a:noFill/>
              <a:ln w="28575">
                <a:solidFill>
                  <a:srgbClr val="CC6508"/>
                </a:solidFill>
              </a:ln>
            </p:spPr>
          </p:sp>
        </p:grpSp>
        <p:sp>
          <p:nvSpPr>
            <p:cNvPr id="26" name="TextBox 26"/>
            <p:cNvSpPr txBox="1"/>
            <p:nvPr/>
          </p:nvSpPr>
          <p:spPr>
            <a:xfrm>
              <a:off x="6467856" y="4682490"/>
              <a:ext cx="2911981"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No numbers needed</a:t>
              </a:r>
            </a:p>
          </p:txBody>
        </p:sp>
        <p:sp>
          <p:nvSpPr>
            <p:cNvPr id="27" name="TextBox 27"/>
            <p:cNvSpPr txBox="1"/>
            <p:nvPr/>
          </p:nvSpPr>
          <p:spPr>
            <a:xfrm>
              <a:off x="6470142" y="5016818"/>
              <a:ext cx="3079736"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Targets cells, not SIM lists</a:t>
              </a:r>
            </a:p>
          </p:txBody>
        </p:sp>
      </p:grpSp>
      <p:grpSp>
        <p:nvGrpSpPr>
          <p:cNvPr id="37" name="quality-unmissable"/>
          <p:cNvGrpSpPr/>
          <p:nvPr/>
        </p:nvGrpSpPr>
        <p:grpSpPr>
          <a:xfrm>
            <a:off x="5715000" y="5558790"/>
            <a:ext cx="4309706" cy="598361"/>
            <a:chOff x="5715000" y="5558790"/>
            <a:chExt cx="4309706" cy="598361"/>
          </a:xfrm>
        </p:grpSpPr>
        <p:sp>
          <p:nvSpPr>
            <p:cNvPr id="29" name="Ellipse 29"/>
            <p:cNvSpPr/>
            <p:nvPr/>
          </p:nvSpPr>
          <p:spPr>
            <a:xfrm>
              <a:off x="5715000" y="5562600"/>
              <a:ext cx="533400" cy="533400"/>
            </a:xfrm>
            <a:prstGeom prst="ellipse">
              <a:avLst/>
            </a:prstGeom>
            <a:solidFill>
              <a:srgbClr val="FBE3D0"/>
            </a:solidFill>
            <a:ln>
              <a:noFill/>
            </a:ln>
          </p:spPr>
        </p:sp>
        <p:grpSp>
          <p:nvGrpSpPr>
            <p:cNvPr id="34" name="Group 34"/>
            <p:cNvGrpSpPr/>
            <p:nvPr/>
          </p:nvGrpSpPr>
          <p:grpSpPr>
            <a:xfrm>
              <a:off x="5853112" y="5700712"/>
              <a:ext cx="257175" cy="257176"/>
              <a:chOff x="5853112" y="5700712"/>
              <a:chExt cx="257175" cy="257176"/>
            </a:xfrm>
          </p:grpSpPr>
          <p:sp>
            <p:nvSpPr>
              <p:cNvPr id="30" name="Freeform 30"/>
              <p:cNvSpPr/>
              <p:nvPr/>
            </p:nvSpPr>
            <p:spPr>
              <a:xfrm>
                <a:off x="5867400" y="5700712"/>
                <a:ext cx="228600" cy="200025"/>
              </a:xfrm>
              <a:custGeom>
                <a:avLst/>
                <a:gdLst/>
                <a:ahLst/>
                <a:cxnLst/>
                <a:rect l="l" t="t" r="r" b="b"/>
                <a:pathLst>
                  <a:path w="228600" h="200025">
                    <a:moveTo>
                      <a:pt x="85725" y="28575"/>
                    </a:moveTo>
                    <a:cubicBezTo>
                      <a:pt x="85725" y="12793"/>
                      <a:pt x="98518" y="0"/>
                      <a:pt x="114300" y="0"/>
                    </a:cubicBezTo>
                    <a:cubicBezTo>
                      <a:pt x="130082" y="0"/>
                      <a:pt x="142875" y="12793"/>
                      <a:pt x="142875" y="28575"/>
                    </a:cubicBezTo>
                    <a:cubicBezTo>
                      <a:pt x="176310" y="44385"/>
                      <a:pt x="198291" y="77356"/>
                      <a:pt x="200025" y="114300"/>
                    </a:cubicBezTo>
                    <a:lnTo>
                      <a:pt x="200025" y="157162"/>
                    </a:lnTo>
                    <a:cubicBezTo>
                      <a:pt x="202205" y="175176"/>
                      <a:pt x="212811" y="191084"/>
                      <a:pt x="228600" y="200025"/>
                    </a:cubicBezTo>
                    <a:lnTo>
                      <a:pt x="0" y="200025"/>
                    </a:lnTo>
                    <a:cubicBezTo>
                      <a:pt x="15789" y="191084"/>
                      <a:pt x="26395" y="175176"/>
                      <a:pt x="28575" y="157162"/>
                    </a:cubicBezTo>
                    <a:lnTo>
                      <a:pt x="28575" y="114300"/>
                    </a:lnTo>
                    <a:cubicBezTo>
                      <a:pt x="30309" y="77356"/>
                      <a:pt x="52290" y="44385"/>
                      <a:pt x="85725" y="28575"/>
                    </a:cubicBezTo>
                  </a:path>
                </a:pathLst>
              </a:custGeom>
              <a:noFill/>
              <a:ln w="28575">
                <a:solidFill>
                  <a:srgbClr val="CC6508"/>
                </a:solidFill>
              </a:ln>
            </p:spPr>
          </p:sp>
          <p:sp>
            <p:nvSpPr>
              <p:cNvPr id="31" name="Freeform 31"/>
              <p:cNvSpPr/>
              <p:nvPr/>
            </p:nvSpPr>
            <p:spPr>
              <a:xfrm>
                <a:off x="5938838" y="5900738"/>
                <a:ext cx="85725" cy="57150"/>
              </a:xfrm>
              <a:custGeom>
                <a:avLst/>
                <a:gdLst/>
                <a:ahLst/>
                <a:cxnLst/>
                <a:rect l="l" t="t" r="r" b="b"/>
                <a:pathLst>
                  <a:path w="85725" h="57150">
                    <a:moveTo>
                      <a:pt x="0" y="0"/>
                    </a:moveTo>
                    <a:lnTo>
                      <a:pt x="0" y="14288"/>
                    </a:lnTo>
                    <a:cubicBezTo>
                      <a:pt x="0" y="37960"/>
                      <a:pt x="19190" y="57150"/>
                      <a:pt x="42862" y="57150"/>
                    </a:cubicBezTo>
                    <a:cubicBezTo>
                      <a:pt x="66535" y="57150"/>
                      <a:pt x="85725" y="37960"/>
                      <a:pt x="85725" y="14288"/>
                    </a:cubicBezTo>
                    <a:lnTo>
                      <a:pt x="85725" y="0"/>
                    </a:lnTo>
                  </a:path>
                </a:pathLst>
              </a:custGeom>
              <a:noFill/>
              <a:ln w="28575">
                <a:solidFill>
                  <a:srgbClr val="CC6508"/>
                </a:solidFill>
              </a:ln>
            </p:spPr>
          </p:sp>
          <p:sp>
            <p:nvSpPr>
              <p:cNvPr id="32" name="Freeform 32"/>
              <p:cNvSpPr/>
              <p:nvPr/>
            </p:nvSpPr>
            <p:spPr>
              <a:xfrm>
                <a:off x="6070368" y="5700712"/>
                <a:ext cx="39919" cy="53250"/>
              </a:xfrm>
              <a:custGeom>
                <a:avLst/>
                <a:gdLst/>
                <a:ahLst/>
                <a:cxnLst/>
                <a:rect l="l" t="t" r="r" b="b"/>
                <a:pathLst>
                  <a:path w="39919" h="53250">
                    <a:moveTo>
                      <a:pt x="39919" y="53250"/>
                    </a:moveTo>
                    <a:cubicBezTo>
                      <a:pt x="30548" y="32865"/>
                      <a:pt x="16939" y="14712"/>
                      <a:pt x="0" y="0"/>
                    </a:cubicBezTo>
                  </a:path>
                </a:pathLst>
              </a:custGeom>
              <a:noFill/>
              <a:ln w="28575">
                <a:solidFill>
                  <a:srgbClr val="CC6508"/>
                </a:solidFill>
              </a:ln>
            </p:spPr>
          </p:sp>
          <p:sp>
            <p:nvSpPr>
              <p:cNvPr id="33" name="Freeform 33"/>
              <p:cNvSpPr/>
              <p:nvPr/>
            </p:nvSpPr>
            <p:spPr>
              <a:xfrm>
                <a:off x="5853112" y="5700712"/>
                <a:ext cx="39891" cy="53250"/>
              </a:xfrm>
              <a:custGeom>
                <a:avLst/>
                <a:gdLst/>
                <a:ahLst/>
                <a:cxnLst/>
                <a:rect l="l" t="t" r="r" b="b"/>
                <a:pathLst>
                  <a:path w="39891" h="53250">
                    <a:moveTo>
                      <a:pt x="0" y="53250"/>
                    </a:moveTo>
                    <a:cubicBezTo>
                      <a:pt x="9363" y="32868"/>
                      <a:pt x="22962" y="14715"/>
                      <a:pt x="39891" y="0"/>
                    </a:cubicBezTo>
                  </a:path>
                </a:pathLst>
              </a:custGeom>
              <a:noFill/>
              <a:ln w="28575">
                <a:solidFill>
                  <a:srgbClr val="CC6508"/>
                </a:solidFill>
              </a:ln>
            </p:spPr>
          </p:sp>
        </p:grpSp>
        <p:sp>
          <p:nvSpPr>
            <p:cNvPr id="35" name="TextBox 35"/>
            <p:cNvSpPr txBox="1"/>
            <p:nvPr/>
          </p:nvSpPr>
          <p:spPr>
            <a:xfrm>
              <a:off x="6467856" y="5558790"/>
              <a:ext cx="1686027"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Unmissable</a:t>
              </a:r>
            </a:p>
          </p:txBody>
        </p:sp>
        <p:sp>
          <p:nvSpPr>
            <p:cNvPr id="36" name="TextBox 36"/>
            <p:cNvSpPr txBox="1"/>
            <p:nvPr/>
          </p:nvSpPr>
          <p:spPr>
            <a:xfrm>
              <a:off x="6470142" y="5893118"/>
              <a:ext cx="4443205"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Full-screen popup with a loud alert tone</a:t>
              </a:r>
            </a:p>
          </p:txBody>
        </p:sp>
      </p:grpSp>
      <p:grpSp>
        <p:nvGrpSpPr>
          <p:cNvPr id="41" name="footer"/>
          <p:cNvGrpSpPr/>
          <p:nvPr/>
        </p:nvGrpSpPr>
        <p:grpSpPr>
          <a:xfrm>
            <a:off x="604838" y="6551295"/>
            <a:ext cx="10982325" cy="176212"/>
            <a:chOff x="604838" y="6551295"/>
            <a:chExt cx="10982325" cy="176212"/>
          </a:xfrm>
        </p:grpSpPr>
        <p:sp>
          <p:nvSpPr>
            <p:cNvPr id="38" name="TextBox 38"/>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172A4C"/>
                  </a:solidFill>
                  <a:latin typeface="+mn-lt"/>
                  <a:ea typeface="+mn-ea"/>
                  <a:cs typeface="+mn-cs"/>
                </a:rPr>
                <a:t>F2G Solutions Inc</a:t>
              </a:r>
            </a:p>
          </p:txBody>
        </p:sp>
        <p:sp>
          <p:nvSpPr>
            <p:cNvPr id="39" name="TextBox 39"/>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40"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5344781" cy="917734"/>
            <a:chOff x="594360" y="640556"/>
            <a:chExt cx="5344781" cy="917734"/>
          </a:xfrm>
        </p:grpSpPr>
        <p:sp>
          <p:nvSpPr>
            <p:cNvPr id="3" name="TextBox 3"/>
            <p:cNvSpPr txBox="1"/>
            <p:nvPr/>
          </p:nvSpPr>
          <p:spPr>
            <a:xfrm>
              <a:off x="603885" y="640556"/>
              <a:ext cx="1292242"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PROTOTYPE</a:t>
              </a:r>
            </a:p>
          </p:txBody>
        </p:sp>
        <p:sp>
          <p:nvSpPr>
            <p:cNvPr id="4" name="TextBox 4"/>
            <p:cNvSpPr txBox="1"/>
            <p:nvPr/>
          </p:nvSpPr>
          <p:spPr>
            <a:xfrm>
              <a:off x="594360" y="971550"/>
              <a:ext cx="6680976"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Already working in our lab</a:t>
              </a:r>
            </a:p>
          </p:txBody>
        </p:sp>
      </p:grpSp>
      <p:grpSp>
        <p:nvGrpSpPr>
          <p:cNvPr id="31" name="lab-rig"/>
          <p:cNvGrpSpPr/>
          <p:nvPr/>
        </p:nvGrpSpPr>
        <p:grpSpPr>
          <a:xfrm>
            <a:off x="609600" y="1752600"/>
            <a:ext cx="5715000" cy="2819400"/>
            <a:chOff x="609600" y="1752600"/>
            <a:chExt cx="5715000" cy="2819400"/>
          </a:xfrm>
        </p:grpSpPr>
        <p:sp>
          <p:nvSpPr>
            <p:cNvPr id="6" name="Rectangle 6"/>
            <p:cNvSpPr/>
            <p:nvPr/>
          </p:nvSpPr>
          <p:spPr>
            <a:xfrm>
              <a:off x="609600" y="1752600"/>
              <a:ext cx="5715000" cy="2819400"/>
            </a:xfrm>
            <a:prstGeom prst="roundRect">
              <a:avLst>
                <a:gd name="adj" fmla="val 8108"/>
              </a:avLst>
            </a:prstGeom>
            <a:noFill/>
            <a:ln w="19050">
              <a:solidFill>
                <a:srgbClr val="CC6508"/>
              </a:solidFill>
              <a:prstDash val="lgDash"/>
            </a:ln>
          </p:spPr>
        </p:sp>
        <p:sp>
          <p:nvSpPr>
            <p:cNvPr id="7" name="TextBox 7"/>
            <p:cNvSpPr txBox="1"/>
            <p:nvPr/>
          </p:nvSpPr>
          <p:spPr>
            <a:xfrm>
              <a:off x="871347" y="1952149"/>
              <a:ext cx="1807540" cy="190690"/>
            </a:xfrm>
            <a:prstGeom prst="rect">
              <a:avLst/>
            </a:prstGeom>
            <a:noFill/>
            <a:ln>
              <a:noFill/>
            </a:ln>
          </p:spPr>
          <p:txBody>
            <a:bodyPr wrap="square" lIns="0" tIns="0" rIns="0" bIns="0" anchor="t" anchorCtr="0">
              <a:spAutoFit/>
            </a:bodyPr>
            <a:lstStyle/>
            <a:p>
              <a:pPr algn="l"/>
              <a:r>
                <a:rPr lang="en" sz="980" b="1" spc="90" dirty="0">
                  <a:solidFill>
                    <a:srgbClr val="A94E00"/>
                  </a:solidFill>
                  <a:latin typeface="+mn-lt"/>
                  <a:ea typeface="+mn-ea"/>
                  <a:cs typeface="+mn-cs"/>
                </a:rPr>
                <a:t>F2G PORTABLE LAB</a:t>
              </a:r>
            </a:p>
          </p:txBody>
        </p:sp>
        <p:sp>
          <p:nvSpPr>
            <p:cNvPr id="8" name="Ellipse 8"/>
            <p:cNvSpPr/>
            <p:nvPr/>
          </p:nvSpPr>
          <p:spPr>
            <a:xfrm>
              <a:off x="1314450" y="2552700"/>
              <a:ext cx="1181100" cy="1181100"/>
            </a:xfrm>
            <a:prstGeom prst="ellipse">
              <a:avLst/>
            </a:prstGeom>
            <a:solidFill>
              <a:srgbClr val="1F3864"/>
            </a:solidFill>
            <a:ln>
              <a:noFill/>
            </a:ln>
          </p:spPr>
        </p:sp>
        <p:grpSp>
          <p:nvGrpSpPr>
            <p:cNvPr id="13" name="Group 13"/>
            <p:cNvGrpSpPr/>
            <p:nvPr/>
          </p:nvGrpSpPr>
          <p:grpSpPr>
            <a:xfrm>
              <a:off x="1704975" y="2965450"/>
              <a:ext cx="400049" cy="355600"/>
              <a:chOff x="1704975" y="2965450"/>
              <a:chExt cx="400049" cy="355600"/>
            </a:xfrm>
          </p:grpSpPr>
          <p:sp>
            <p:nvSpPr>
              <p:cNvPr id="9" name="Freeform 9"/>
              <p:cNvSpPr/>
              <p:nvPr/>
            </p:nvSpPr>
            <p:spPr>
              <a:xfrm>
                <a:off x="1704975" y="2965450"/>
                <a:ext cx="400049" cy="177800"/>
              </a:xfrm>
              <a:custGeom>
                <a:avLst/>
                <a:gdLst/>
                <a:ahLst/>
                <a:cxnLst/>
                <a:rect l="l" t="t" r="r" b="b"/>
                <a:pathLst>
                  <a:path w="400049" h="177800">
                    <a:moveTo>
                      <a:pt x="0" y="66675"/>
                    </a:moveTo>
                    <a:cubicBezTo>
                      <a:pt x="0" y="29851"/>
                      <a:pt x="29851" y="0"/>
                      <a:pt x="66675" y="0"/>
                    </a:cubicBezTo>
                    <a:lnTo>
                      <a:pt x="333375" y="0"/>
                    </a:lnTo>
                    <a:cubicBezTo>
                      <a:pt x="370198" y="0"/>
                      <a:pt x="400049" y="29851"/>
                      <a:pt x="400049" y="66675"/>
                    </a:cubicBezTo>
                    <a:lnTo>
                      <a:pt x="400049" y="111125"/>
                    </a:lnTo>
                    <a:cubicBezTo>
                      <a:pt x="400049" y="147948"/>
                      <a:pt x="370198" y="177800"/>
                      <a:pt x="333375" y="177800"/>
                    </a:cubicBezTo>
                    <a:lnTo>
                      <a:pt x="66675" y="177800"/>
                    </a:lnTo>
                    <a:cubicBezTo>
                      <a:pt x="29851" y="177800"/>
                      <a:pt x="0" y="147948"/>
                      <a:pt x="0" y="111125"/>
                    </a:cubicBezTo>
                    <a:lnTo>
                      <a:pt x="0" y="66675"/>
                    </a:lnTo>
                  </a:path>
                </a:pathLst>
              </a:custGeom>
              <a:noFill/>
              <a:ln w="44450">
                <a:solidFill>
                  <a:srgbClr val="FFFFFF"/>
                </a:solidFill>
              </a:ln>
            </p:spPr>
          </p:sp>
          <p:sp>
            <p:nvSpPr>
              <p:cNvPr id="10" name="Freeform 10"/>
              <p:cNvSpPr/>
              <p:nvPr/>
            </p:nvSpPr>
            <p:spPr>
              <a:xfrm>
                <a:off x="1704975" y="3143250"/>
                <a:ext cx="400049" cy="177800"/>
              </a:xfrm>
              <a:custGeom>
                <a:avLst/>
                <a:gdLst/>
                <a:ahLst/>
                <a:cxnLst/>
                <a:rect l="l" t="t" r="r" b="b"/>
                <a:pathLst>
                  <a:path w="400049" h="177800">
                    <a:moveTo>
                      <a:pt x="0" y="66675"/>
                    </a:moveTo>
                    <a:cubicBezTo>
                      <a:pt x="0" y="29851"/>
                      <a:pt x="29851" y="0"/>
                      <a:pt x="66675" y="0"/>
                    </a:cubicBezTo>
                    <a:lnTo>
                      <a:pt x="333375" y="0"/>
                    </a:lnTo>
                    <a:cubicBezTo>
                      <a:pt x="370198" y="0"/>
                      <a:pt x="400049" y="29851"/>
                      <a:pt x="400049" y="66675"/>
                    </a:cubicBezTo>
                    <a:lnTo>
                      <a:pt x="400049" y="111125"/>
                    </a:lnTo>
                    <a:cubicBezTo>
                      <a:pt x="400049" y="147948"/>
                      <a:pt x="370198" y="177800"/>
                      <a:pt x="333375" y="177800"/>
                    </a:cubicBezTo>
                    <a:lnTo>
                      <a:pt x="66675" y="177800"/>
                    </a:lnTo>
                    <a:cubicBezTo>
                      <a:pt x="29851" y="177800"/>
                      <a:pt x="0" y="147948"/>
                      <a:pt x="0" y="111125"/>
                    </a:cubicBezTo>
                    <a:lnTo>
                      <a:pt x="0" y="66675"/>
                    </a:lnTo>
                  </a:path>
                </a:pathLst>
              </a:custGeom>
              <a:noFill/>
              <a:ln w="44450">
                <a:solidFill>
                  <a:srgbClr val="FFFFFF"/>
                </a:solidFill>
              </a:ln>
            </p:spPr>
          </p:sp>
          <p:sp>
            <p:nvSpPr>
              <p:cNvPr id="11" name="Freeform 11"/>
              <p:cNvSpPr/>
              <p:nvPr/>
            </p:nvSpPr>
            <p:spPr>
              <a:xfrm>
                <a:off x="1793875" y="3054350"/>
                <a:ext cx="9525" cy="9525"/>
              </a:xfrm>
              <a:custGeom>
                <a:avLst/>
                <a:gdLst/>
                <a:ahLst/>
                <a:cxnLst/>
                <a:rect l="l" t="t" r="r" b="b"/>
                <a:pathLst>
                  <a:path w="9525" h="9525">
                    <a:moveTo>
                      <a:pt x="0" y="0"/>
                    </a:moveTo>
                    <a:lnTo>
                      <a:pt x="0" y="222"/>
                    </a:lnTo>
                  </a:path>
                </a:pathLst>
              </a:custGeom>
              <a:noFill/>
              <a:ln w="44450">
                <a:solidFill>
                  <a:srgbClr val="FFFFFF"/>
                </a:solidFill>
              </a:ln>
            </p:spPr>
          </p:sp>
          <p:sp>
            <p:nvSpPr>
              <p:cNvPr id="12" name="Freeform 12"/>
              <p:cNvSpPr/>
              <p:nvPr/>
            </p:nvSpPr>
            <p:spPr>
              <a:xfrm>
                <a:off x="1793875" y="3232149"/>
                <a:ext cx="9525" cy="9525"/>
              </a:xfrm>
              <a:custGeom>
                <a:avLst/>
                <a:gdLst/>
                <a:ahLst/>
                <a:cxnLst/>
                <a:rect l="l" t="t" r="r" b="b"/>
                <a:pathLst>
                  <a:path w="9525" h="9525">
                    <a:moveTo>
                      <a:pt x="0" y="0"/>
                    </a:moveTo>
                    <a:lnTo>
                      <a:pt x="0" y="222"/>
                    </a:lnTo>
                  </a:path>
                </a:pathLst>
              </a:custGeom>
              <a:noFill/>
              <a:ln w="44450">
                <a:solidFill>
                  <a:srgbClr val="FFFFFF"/>
                </a:solidFill>
              </a:ln>
            </p:spPr>
          </p:sp>
        </p:grpSp>
        <p:sp>
          <p:nvSpPr>
            <p:cNvPr id="14" name="TextBox 14"/>
            <p:cNvSpPr txBox="1"/>
            <p:nvPr/>
          </p:nvSpPr>
          <p:spPr>
            <a:xfrm>
              <a:off x="820284" y="3895725"/>
              <a:ext cx="2169432"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Open5GS 4G core</a:t>
              </a:r>
            </a:p>
          </p:txBody>
        </p:sp>
        <p:sp>
          <p:nvSpPr>
            <p:cNvPr id="15" name="TextBox 15"/>
            <p:cNvSpPr txBox="1"/>
            <p:nvPr/>
          </p:nvSpPr>
          <p:spPr>
            <a:xfrm>
              <a:off x="1515542" y="4175760"/>
              <a:ext cx="778916" cy="234696"/>
            </a:xfrm>
            <a:prstGeom prst="rect">
              <a:avLst/>
            </a:prstGeom>
            <a:noFill/>
            <a:ln>
              <a:noFill/>
            </a:ln>
          </p:spPr>
          <p:txBody>
            <a:bodyPr wrap="square" lIns="0" tIns="0" rIns="0" bIns="0" anchor="t" anchorCtr="0">
              <a:spAutoFit/>
            </a:bodyPr>
            <a:lstStyle/>
            <a:p>
              <a:pPr algn="ctr"/>
              <a:r>
                <a:rPr lang="en" sz="1200" dirty="0">
                  <a:solidFill>
                    <a:srgbClr val="5B6477"/>
                  </a:solidFill>
                  <a:latin typeface="+mn-lt"/>
                  <a:ea typeface="+mn-ea"/>
                  <a:cs typeface="+mn-cs"/>
                </a:rPr>
                <a:t>Docker</a:t>
              </a:r>
            </a:p>
          </p:txBody>
        </p:sp>
        <p:sp>
          <p:nvSpPr>
            <p:cNvPr id="16" name="Line 16"/>
            <p:cNvSpPr/>
            <p:nvPr/>
          </p:nvSpPr>
          <p:spPr>
            <a:xfrm>
              <a:off x="2552700" y="3143250"/>
              <a:ext cx="1695450" cy="1"/>
            </a:xfrm>
            <a:prstGeom prst="line">
              <a:avLst/>
            </a:prstGeom>
            <a:noFill/>
            <a:ln w="28575">
              <a:solidFill>
                <a:srgbClr val="1F3864"/>
              </a:solidFill>
              <a:tailEnd type="triangle" w="lg" len="lg"/>
            </a:ln>
          </p:spPr>
        </p:sp>
        <p:sp>
          <p:nvSpPr>
            <p:cNvPr id="17" name="TextBox 17"/>
            <p:cNvSpPr txBox="1"/>
            <p:nvPr/>
          </p:nvSpPr>
          <p:spPr>
            <a:xfrm>
              <a:off x="3194540" y="2896552"/>
              <a:ext cx="411770" cy="205359"/>
            </a:xfrm>
            <a:prstGeom prst="rect">
              <a:avLst/>
            </a:prstGeom>
            <a:noFill/>
            <a:ln>
              <a:noFill/>
            </a:ln>
          </p:spPr>
          <p:txBody>
            <a:bodyPr wrap="square" lIns="0" tIns="0" rIns="0" bIns="0" anchor="t" anchorCtr="0">
              <a:spAutoFit/>
            </a:bodyPr>
            <a:lstStyle/>
            <a:p>
              <a:pPr algn="ctr"/>
              <a:r>
                <a:rPr lang="en" sz="1050" b="1" dirty="0">
                  <a:solidFill>
                    <a:srgbClr val="5B6477"/>
                  </a:solidFill>
                  <a:latin typeface="+mn-lt"/>
                  <a:ea typeface="+mn-ea"/>
                  <a:cs typeface="+mn-cs"/>
                </a:rPr>
                <a:t>S1</a:t>
              </a:r>
            </a:p>
          </p:txBody>
        </p:sp>
        <p:sp>
          <p:nvSpPr>
            <p:cNvPr id="18" name="Ellipse 18"/>
            <p:cNvSpPr/>
            <p:nvPr/>
          </p:nvSpPr>
          <p:spPr>
            <a:xfrm>
              <a:off x="4362450" y="2552700"/>
              <a:ext cx="1181100" cy="1181100"/>
            </a:xfrm>
            <a:prstGeom prst="ellipse">
              <a:avLst/>
            </a:prstGeom>
            <a:solidFill>
              <a:srgbClr val="1F3864"/>
            </a:solidFill>
            <a:ln>
              <a:noFill/>
            </a:ln>
          </p:spPr>
        </p:sp>
        <p:grpSp>
          <p:nvGrpSpPr>
            <p:cNvPr id="25" name="Group 25"/>
            <p:cNvGrpSpPr/>
            <p:nvPr/>
          </p:nvGrpSpPr>
          <p:grpSpPr>
            <a:xfrm>
              <a:off x="4775200" y="2965450"/>
              <a:ext cx="365124" cy="377824"/>
              <a:chOff x="4775200" y="2965450"/>
              <a:chExt cx="365124" cy="377824"/>
            </a:xfrm>
          </p:grpSpPr>
          <p:sp>
            <p:nvSpPr>
              <p:cNvPr id="19" name="Freeform 19"/>
              <p:cNvSpPr/>
              <p:nvPr/>
            </p:nvSpPr>
            <p:spPr>
              <a:xfrm>
                <a:off x="5130799" y="2965450"/>
                <a:ext cx="9525" cy="177800"/>
              </a:xfrm>
              <a:custGeom>
                <a:avLst/>
                <a:gdLst/>
                <a:ahLst/>
                <a:cxnLst/>
                <a:rect l="l" t="t" r="r" b="b"/>
                <a:pathLst>
                  <a:path w="9525" h="177800">
                    <a:moveTo>
                      <a:pt x="0" y="0"/>
                    </a:moveTo>
                    <a:lnTo>
                      <a:pt x="0" y="177800"/>
                    </a:lnTo>
                  </a:path>
                </a:pathLst>
              </a:custGeom>
              <a:noFill/>
              <a:ln w="44450">
                <a:solidFill>
                  <a:srgbClr val="FFFFFF"/>
                </a:solidFill>
              </a:ln>
            </p:spPr>
          </p:sp>
          <p:sp>
            <p:nvSpPr>
              <p:cNvPr id="20" name="Freeform 20"/>
              <p:cNvSpPr/>
              <p:nvPr/>
            </p:nvSpPr>
            <p:spPr>
              <a:xfrm>
                <a:off x="5041899" y="2976562"/>
                <a:ext cx="9525" cy="155575"/>
              </a:xfrm>
              <a:custGeom>
                <a:avLst/>
                <a:gdLst/>
                <a:ahLst/>
                <a:cxnLst/>
                <a:rect l="l" t="t" r="r" b="b"/>
                <a:pathLst>
                  <a:path w="9525" h="155575">
                    <a:moveTo>
                      <a:pt x="0" y="0"/>
                    </a:moveTo>
                    <a:lnTo>
                      <a:pt x="0" y="155575"/>
                    </a:lnTo>
                  </a:path>
                </a:pathLst>
              </a:custGeom>
              <a:noFill/>
              <a:ln w="44450">
                <a:solidFill>
                  <a:srgbClr val="FFFFFF"/>
                </a:solidFill>
              </a:ln>
            </p:spPr>
          </p:sp>
          <p:sp>
            <p:nvSpPr>
              <p:cNvPr id="21" name="Freeform 21"/>
              <p:cNvSpPr/>
              <p:nvPr/>
            </p:nvSpPr>
            <p:spPr>
              <a:xfrm>
                <a:off x="4953000" y="2987675"/>
                <a:ext cx="9525" cy="355599"/>
              </a:xfrm>
              <a:custGeom>
                <a:avLst/>
                <a:gdLst/>
                <a:ahLst/>
                <a:cxnLst/>
                <a:rect l="l" t="t" r="r" b="b"/>
                <a:pathLst>
                  <a:path w="9525" h="355599">
                    <a:moveTo>
                      <a:pt x="0" y="0"/>
                    </a:moveTo>
                    <a:lnTo>
                      <a:pt x="0" y="355599"/>
                    </a:lnTo>
                  </a:path>
                </a:pathLst>
              </a:custGeom>
              <a:noFill/>
              <a:ln w="44450">
                <a:solidFill>
                  <a:srgbClr val="FFFFFF"/>
                </a:solidFill>
              </a:ln>
            </p:spPr>
          </p:sp>
          <p:sp>
            <p:nvSpPr>
              <p:cNvPr id="22" name="Freeform 22"/>
              <p:cNvSpPr/>
              <p:nvPr/>
            </p:nvSpPr>
            <p:spPr>
              <a:xfrm>
                <a:off x="4864100" y="2998787"/>
                <a:ext cx="9525" cy="111125"/>
              </a:xfrm>
              <a:custGeom>
                <a:avLst/>
                <a:gdLst/>
                <a:ahLst/>
                <a:cxnLst/>
                <a:rect l="l" t="t" r="r" b="b"/>
                <a:pathLst>
                  <a:path w="9525" h="111125">
                    <a:moveTo>
                      <a:pt x="0" y="0"/>
                    </a:moveTo>
                    <a:lnTo>
                      <a:pt x="0" y="111125"/>
                    </a:lnTo>
                  </a:path>
                </a:pathLst>
              </a:custGeom>
              <a:noFill/>
              <a:ln w="44450">
                <a:solidFill>
                  <a:srgbClr val="FFFFFF"/>
                </a:solidFill>
              </a:ln>
            </p:spPr>
          </p:sp>
          <p:sp>
            <p:nvSpPr>
              <p:cNvPr id="23" name="Freeform 23"/>
              <p:cNvSpPr/>
              <p:nvPr/>
            </p:nvSpPr>
            <p:spPr>
              <a:xfrm>
                <a:off x="4775200" y="3009900"/>
                <a:ext cx="9525" cy="88900"/>
              </a:xfrm>
              <a:custGeom>
                <a:avLst/>
                <a:gdLst/>
                <a:ahLst/>
                <a:cxnLst/>
                <a:rect l="l" t="t" r="r" b="b"/>
                <a:pathLst>
                  <a:path w="9525" h="88900">
                    <a:moveTo>
                      <a:pt x="0" y="0"/>
                    </a:moveTo>
                    <a:lnTo>
                      <a:pt x="0" y="88900"/>
                    </a:lnTo>
                  </a:path>
                </a:pathLst>
              </a:custGeom>
              <a:noFill/>
              <a:ln w="44450">
                <a:solidFill>
                  <a:srgbClr val="FFFFFF"/>
                </a:solidFill>
              </a:ln>
            </p:spPr>
          </p:sp>
          <p:sp>
            <p:nvSpPr>
              <p:cNvPr id="24" name="Freeform 24"/>
              <p:cNvSpPr/>
              <p:nvPr/>
            </p:nvSpPr>
            <p:spPr>
              <a:xfrm>
                <a:off x="4775200" y="3054350"/>
                <a:ext cx="355599" cy="9525"/>
              </a:xfrm>
              <a:custGeom>
                <a:avLst/>
                <a:gdLst/>
                <a:ahLst/>
                <a:cxnLst/>
                <a:rect l="l" t="t" r="r" b="b"/>
                <a:pathLst>
                  <a:path w="355599" h="9525">
                    <a:moveTo>
                      <a:pt x="355599" y="0"/>
                    </a:moveTo>
                    <a:lnTo>
                      <a:pt x="0" y="0"/>
                    </a:lnTo>
                  </a:path>
                </a:pathLst>
              </a:custGeom>
              <a:noFill/>
              <a:ln w="44450">
                <a:solidFill>
                  <a:srgbClr val="FFFFFF"/>
                </a:solidFill>
              </a:ln>
            </p:spPr>
          </p:sp>
        </p:grpSp>
        <p:sp>
          <p:nvSpPr>
            <p:cNvPr id="26" name="TextBox 26"/>
            <p:cNvSpPr txBox="1"/>
            <p:nvPr/>
          </p:nvSpPr>
          <p:spPr>
            <a:xfrm>
              <a:off x="4007546" y="3895725"/>
              <a:ext cx="1890908"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srsRAN eNodeB</a:t>
              </a:r>
            </a:p>
          </p:txBody>
        </p:sp>
        <p:sp>
          <p:nvSpPr>
            <p:cNvPr id="27" name="TextBox 27"/>
            <p:cNvSpPr txBox="1"/>
            <p:nvPr/>
          </p:nvSpPr>
          <p:spPr>
            <a:xfrm>
              <a:off x="3943827" y="4175760"/>
              <a:ext cx="2018347" cy="234696"/>
            </a:xfrm>
            <a:prstGeom prst="rect">
              <a:avLst/>
            </a:prstGeom>
            <a:noFill/>
            <a:ln>
              <a:noFill/>
            </a:ln>
          </p:spPr>
          <p:txBody>
            <a:bodyPr wrap="square" lIns="0" tIns="0" rIns="0" bIns="0" anchor="t" anchorCtr="0">
              <a:spAutoFit/>
            </a:bodyPr>
            <a:lstStyle/>
            <a:p>
              <a:pPr algn="ctr"/>
              <a:r>
                <a:rPr lang="en" sz="1200" dirty="0">
                  <a:solidFill>
                    <a:srgbClr val="5B6477"/>
                  </a:solidFill>
                  <a:latin typeface="+mn-lt"/>
                  <a:ea typeface="+mn-ea"/>
                  <a:cs typeface="+mn-cs"/>
                </a:rPr>
                <a:t>bladeRF xA4 · Band 3</a:t>
              </a:r>
            </a:p>
          </p:txBody>
        </p:sp>
        <p:sp>
          <p:nvSpPr>
            <p:cNvPr id="28" name="Freeform 28"/>
            <p:cNvSpPr/>
            <p:nvPr/>
          </p:nvSpPr>
          <p:spPr>
            <a:xfrm>
              <a:off x="4191000" y="2381250"/>
              <a:ext cx="1524000" cy="1524000"/>
            </a:xfrm>
            <a:prstGeom prst="arc">
              <a:avLst>
                <a:gd name="adj1" fmla="val 19500000"/>
                <a:gd name="adj2" fmla="val 2100000"/>
              </a:avLst>
            </a:prstGeom>
            <a:noFill/>
            <a:ln w="38100">
              <a:solidFill>
                <a:srgbClr val="EC8236"/>
              </a:solidFill>
            </a:ln>
          </p:spPr>
        </p:sp>
        <p:sp>
          <p:nvSpPr>
            <p:cNvPr id="29" name="Freeform 29"/>
            <p:cNvSpPr/>
            <p:nvPr/>
          </p:nvSpPr>
          <p:spPr>
            <a:xfrm>
              <a:off x="3952875" y="2143125"/>
              <a:ext cx="2000250" cy="2000250"/>
            </a:xfrm>
            <a:prstGeom prst="arc">
              <a:avLst>
                <a:gd name="adj1" fmla="val 19500000"/>
                <a:gd name="adj2" fmla="val 2100000"/>
              </a:avLst>
            </a:prstGeom>
            <a:noFill/>
            <a:ln w="38100">
              <a:solidFill>
                <a:srgbClr val="EC8236"/>
              </a:solidFill>
            </a:ln>
          </p:spPr>
        </p:sp>
        <p:sp>
          <p:nvSpPr>
            <p:cNvPr id="30" name="Freeform 30"/>
            <p:cNvSpPr/>
            <p:nvPr/>
          </p:nvSpPr>
          <p:spPr>
            <a:xfrm>
              <a:off x="3714750" y="1905000"/>
              <a:ext cx="2476500" cy="2476500"/>
            </a:xfrm>
            <a:prstGeom prst="arc">
              <a:avLst>
                <a:gd name="adj1" fmla="val 19500000"/>
                <a:gd name="adj2" fmla="val 2100000"/>
              </a:avLst>
            </a:prstGeom>
            <a:noFill/>
            <a:ln w="38100">
              <a:solidFill>
                <a:srgbClr val="EC8236"/>
              </a:solidFill>
            </a:ln>
          </p:spPr>
        </p:sp>
      </p:grpSp>
      <p:grpSp>
        <p:nvGrpSpPr>
          <p:cNvPr id="41" name="handset"/>
          <p:cNvGrpSpPr/>
          <p:nvPr/>
        </p:nvGrpSpPr>
        <p:grpSpPr>
          <a:xfrm>
            <a:off x="6667500" y="2343150"/>
            <a:ext cx="3971125" cy="2257806"/>
            <a:chOff x="6667500" y="2343150"/>
            <a:chExt cx="3971125" cy="2257806"/>
          </a:xfrm>
        </p:grpSpPr>
        <p:sp>
          <p:nvSpPr>
            <p:cNvPr id="32" name="Line 32"/>
            <p:cNvSpPr/>
            <p:nvPr/>
          </p:nvSpPr>
          <p:spPr>
            <a:xfrm>
              <a:off x="6667500" y="3143250"/>
              <a:ext cx="1943100" cy="1"/>
            </a:xfrm>
            <a:prstGeom prst="line">
              <a:avLst/>
            </a:prstGeom>
            <a:noFill/>
            <a:ln w="28575">
              <a:solidFill>
                <a:srgbClr val="CC6508"/>
              </a:solidFill>
              <a:prstDash val="lgDash"/>
              <a:tailEnd type="triangle" w="lg" len="lg"/>
            </a:ln>
          </p:spPr>
        </p:sp>
        <p:sp>
          <p:nvSpPr>
            <p:cNvPr id="33" name="TextBox 33"/>
            <p:cNvSpPr txBox="1"/>
            <p:nvPr/>
          </p:nvSpPr>
          <p:spPr>
            <a:xfrm>
              <a:off x="7085292" y="2839402"/>
              <a:ext cx="1107517" cy="205359"/>
            </a:xfrm>
            <a:prstGeom prst="rect">
              <a:avLst/>
            </a:prstGeom>
            <a:noFill/>
            <a:ln>
              <a:noFill/>
            </a:ln>
          </p:spPr>
          <p:txBody>
            <a:bodyPr wrap="square" lIns="0" tIns="0" rIns="0" bIns="0" anchor="t" anchorCtr="0">
              <a:spAutoFit/>
            </a:bodyPr>
            <a:lstStyle/>
            <a:p>
              <a:pPr algn="ctr"/>
              <a:r>
                <a:rPr lang="en" sz="1050" b="1" dirty="0">
                  <a:solidFill>
                    <a:srgbClr val="A94E00"/>
                  </a:solidFill>
                  <a:latin typeface="+mn-lt"/>
                  <a:ea typeface="+mn-ea"/>
                  <a:cs typeface="+mn-cs"/>
                </a:rPr>
                <a:t>over the air</a:t>
              </a:r>
            </a:p>
          </p:txBody>
        </p:sp>
        <p:sp>
          <p:nvSpPr>
            <p:cNvPr id="34" name="Ellipse 34"/>
            <p:cNvSpPr/>
            <p:nvPr/>
          </p:nvSpPr>
          <p:spPr>
            <a:xfrm>
              <a:off x="8724900" y="2343150"/>
              <a:ext cx="1600200" cy="1600200"/>
            </a:xfrm>
            <a:prstGeom prst="ellipse">
              <a:avLst/>
            </a:prstGeom>
            <a:solidFill>
              <a:srgbClr val="EC8236"/>
            </a:solidFill>
            <a:ln>
              <a:noFill/>
            </a:ln>
          </p:spPr>
        </p:sp>
        <p:grpSp>
          <p:nvGrpSpPr>
            <p:cNvPr id="38" name="Group 38"/>
            <p:cNvGrpSpPr/>
            <p:nvPr/>
          </p:nvGrpSpPr>
          <p:grpSpPr>
            <a:xfrm>
              <a:off x="9324975" y="2886075"/>
              <a:ext cx="457200" cy="514350"/>
              <a:chOff x="9324975" y="2886075"/>
              <a:chExt cx="457200" cy="514350"/>
            </a:xfrm>
          </p:grpSpPr>
          <p:sp>
            <p:nvSpPr>
              <p:cNvPr id="35" name="Freeform 35"/>
              <p:cNvSpPr/>
              <p:nvPr/>
            </p:nvSpPr>
            <p:spPr>
              <a:xfrm>
                <a:off x="9496425" y="2886075"/>
                <a:ext cx="285750" cy="285750"/>
              </a:xfrm>
              <a:custGeom>
                <a:avLst/>
                <a:gdLst/>
                <a:ahLst/>
                <a:cxnLst/>
                <a:rect l="l" t="t" r="r" b="b"/>
                <a:pathLst>
                  <a:path w="285750" h="285750">
                    <a:moveTo>
                      <a:pt x="0" y="0"/>
                    </a:moveTo>
                    <a:lnTo>
                      <a:pt x="285750" y="0"/>
                    </a:lnTo>
                    <a:lnTo>
                      <a:pt x="285750" y="228600"/>
                    </a:lnTo>
                    <a:lnTo>
                      <a:pt x="200025" y="228600"/>
                    </a:lnTo>
                    <a:lnTo>
                      <a:pt x="85725" y="285750"/>
                    </a:lnTo>
                    <a:lnTo>
                      <a:pt x="85725" y="228600"/>
                    </a:lnTo>
                    <a:lnTo>
                      <a:pt x="0" y="228600"/>
                    </a:lnTo>
                    <a:lnTo>
                      <a:pt x="0" y="0"/>
                    </a:lnTo>
                  </a:path>
                </a:pathLst>
              </a:custGeom>
              <a:noFill/>
              <a:ln w="57150">
                <a:solidFill>
                  <a:srgbClr val="1F3864"/>
                </a:solidFill>
              </a:ln>
            </p:spPr>
          </p:sp>
          <p:sp>
            <p:nvSpPr>
              <p:cNvPr id="36" name="Freeform 36"/>
              <p:cNvSpPr/>
              <p:nvPr/>
            </p:nvSpPr>
            <p:spPr>
              <a:xfrm>
                <a:off x="9324975" y="2943225"/>
                <a:ext cx="285750" cy="457200"/>
              </a:xfrm>
              <a:custGeom>
                <a:avLst/>
                <a:gdLst/>
                <a:ahLst/>
                <a:cxnLst/>
                <a:rect l="l" t="t" r="r" b="b"/>
                <a:pathLst>
                  <a:path w="285750" h="457200">
                    <a:moveTo>
                      <a:pt x="285750" y="314325"/>
                    </a:moveTo>
                    <a:lnTo>
                      <a:pt x="285750" y="428625"/>
                    </a:lnTo>
                    <a:cubicBezTo>
                      <a:pt x="285750" y="444407"/>
                      <a:pt x="272957" y="457200"/>
                      <a:pt x="257175" y="457200"/>
                    </a:cubicBezTo>
                    <a:lnTo>
                      <a:pt x="28575" y="457200"/>
                    </a:lnTo>
                    <a:cubicBezTo>
                      <a:pt x="12793" y="457200"/>
                      <a:pt x="0" y="444407"/>
                      <a:pt x="0" y="428625"/>
                    </a:cubicBezTo>
                    <a:lnTo>
                      <a:pt x="0" y="28575"/>
                    </a:lnTo>
                    <a:cubicBezTo>
                      <a:pt x="0" y="12793"/>
                      <a:pt x="12793" y="0"/>
                      <a:pt x="28575" y="0"/>
                    </a:cubicBezTo>
                    <a:lnTo>
                      <a:pt x="85725" y="0"/>
                    </a:lnTo>
                  </a:path>
                </a:pathLst>
              </a:custGeom>
              <a:noFill/>
              <a:ln w="57150">
                <a:solidFill>
                  <a:srgbClr val="1F3864"/>
                </a:solidFill>
              </a:ln>
            </p:spPr>
          </p:sp>
          <p:sp>
            <p:nvSpPr>
              <p:cNvPr id="37" name="Freeform 37"/>
              <p:cNvSpPr/>
              <p:nvPr/>
            </p:nvSpPr>
            <p:spPr>
              <a:xfrm>
                <a:off x="9467850" y="3314700"/>
                <a:ext cx="9525" cy="9525"/>
              </a:xfrm>
              <a:custGeom>
                <a:avLst/>
                <a:gdLst/>
                <a:ahLst/>
                <a:cxnLst/>
                <a:rect l="l" t="t" r="r" b="b"/>
                <a:pathLst>
                  <a:path w="9525" h="9525">
                    <a:moveTo>
                      <a:pt x="0" y="0"/>
                    </a:moveTo>
                    <a:lnTo>
                      <a:pt x="0" y="286"/>
                    </a:lnTo>
                  </a:path>
                </a:pathLst>
              </a:custGeom>
              <a:noFill/>
              <a:ln w="57150">
                <a:solidFill>
                  <a:srgbClr val="1F3864"/>
                </a:solidFill>
              </a:ln>
            </p:spPr>
          </p:sp>
        </p:grpSp>
        <p:sp>
          <p:nvSpPr>
            <p:cNvPr id="39" name="TextBox 39"/>
            <p:cNvSpPr txBox="1"/>
            <p:nvPr/>
          </p:nvSpPr>
          <p:spPr>
            <a:xfrm>
              <a:off x="8132969" y="4086225"/>
              <a:ext cx="2784062"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Standard smartphone</a:t>
              </a:r>
            </a:p>
          </p:txBody>
        </p:sp>
        <p:sp>
          <p:nvSpPr>
            <p:cNvPr id="40" name="TextBox 40"/>
            <p:cNvSpPr txBox="1"/>
            <p:nvPr/>
          </p:nvSpPr>
          <p:spPr>
            <a:xfrm>
              <a:off x="8285227" y="4366260"/>
              <a:ext cx="2479547" cy="234696"/>
            </a:xfrm>
            <a:prstGeom prst="rect">
              <a:avLst/>
            </a:prstGeom>
            <a:noFill/>
            <a:ln>
              <a:noFill/>
            </a:ln>
          </p:spPr>
          <p:txBody>
            <a:bodyPr wrap="square" lIns="0" tIns="0" rIns="0" bIns="0" anchor="t" anchorCtr="0">
              <a:spAutoFit/>
            </a:bodyPr>
            <a:lstStyle/>
            <a:p>
              <a:pPr algn="ctr"/>
              <a:r>
                <a:rPr lang="en" sz="1200" dirty="0">
                  <a:solidFill>
                    <a:srgbClr val="5B6477"/>
                  </a:solidFill>
                  <a:latin typeface="+mn-lt"/>
                  <a:ea typeface="+mn-ea"/>
                  <a:cs typeface="+mn-cs"/>
                </a:rPr>
                <a:t>SIB12 CMAS · SIB11 ETWS</a:t>
              </a:r>
            </a:p>
          </p:txBody>
        </p:sp>
      </p:grpSp>
      <p:grpSp>
        <p:nvGrpSpPr>
          <p:cNvPr id="45" name="proof-metric"/>
          <p:cNvGrpSpPr/>
          <p:nvPr/>
        </p:nvGrpSpPr>
        <p:grpSpPr>
          <a:xfrm>
            <a:off x="590550" y="5151120"/>
            <a:ext cx="4243037" cy="1619250"/>
            <a:chOff x="590550" y="5151120"/>
            <a:chExt cx="4243037" cy="1619250"/>
          </a:xfrm>
        </p:grpSpPr>
        <p:sp>
          <p:nvSpPr>
            <p:cNvPr id="42" name="TextBox 42"/>
            <p:cNvSpPr txBox="1"/>
            <p:nvPr/>
          </p:nvSpPr>
          <p:spPr>
            <a:xfrm>
              <a:off x="590550" y="5151120"/>
              <a:ext cx="1680228" cy="1619250"/>
            </a:xfrm>
            <a:prstGeom prst="rect">
              <a:avLst/>
            </a:prstGeom>
            <a:noFill/>
            <a:ln>
              <a:noFill/>
            </a:ln>
          </p:spPr>
          <p:txBody>
            <a:bodyPr wrap="square" lIns="0" tIns="0" rIns="0" bIns="0" anchor="t" anchorCtr="0">
              <a:spAutoFit/>
            </a:bodyPr>
            <a:lstStyle/>
            <a:p>
              <a:pPr algn="l"/>
              <a:r>
                <a:rPr lang="en" sz="8400" b="1" dirty="0">
                  <a:solidFill>
                    <a:srgbClr val="CC6508"/>
                  </a:solidFill>
                  <a:latin typeface="Baloo 2"/>
                  <a:ea typeface="Baloo 2"/>
                  <a:cs typeface="Baloo 2"/>
                </a:rPr>
                <a:t>10</a:t>
              </a:r>
            </a:p>
          </p:txBody>
        </p:sp>
        <p:sp>
          <p:nvSpPr>
            <p:cNvPr id="43" name="TextBox 43"/>
            <p:cNvSpPr txBox="1"/>
            <p:nvPr/>
          </p:nvSpPr>
          <p:spPr>
            <a:xfrm>
              <a:off x="1991106" y="5387340"/>
              <a:ext cx="3553101"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alert scenarios tested</a:t>
              </a:r>
            </a:p>
          </p:txBody>
        </p:sp>
        <p:sp>
          <p:nvSpPr>
            <p:cNvPr id="44" name="TextBox 44"/>
            <p:cNvSpPr txBox="1"/>
            <p:nvPr/>
          </p:nvSpPr>
          <p:spPr>
            <a:xfrm>
              <a:off x="1993392" y="5721668"/>
              <a:ext cx="2802896"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All captured in Wireshark</a:t>
              </a:r>
            </a:p>
          </p:txBody>
        </p:sp>
      </p:grpSp>
      <p:grpSp>
        <p:nvGrpSpPr>
          <p:cNvPr id="53" name="next-step"/>
          <p:cNvGrpSpPr/>
          <p:nvPr/>
        </p:nvGrpSpPr>
        <p:grpSpPr>
          <a:xfrm>
            <a:off x="6667500" y="4972050"/>
            <a:ext cx="4914900" cy="1219200"/>
            <a:chOff x="6667500" y="4972050"/>
            <a:chExt cx="4914900" cy="1219200"/>
          </a:xfrm>
        </p:grpSpPr>
        <p:sp>
          <p:nvSpPr>
            <p:cNvPr id="46" name="Rectangle 46"/>
            <p:cNvSpPr/>
            <p:nvPr/>
          </p:nvSpPr>
          <p:spPr>
            <a:xfrm>
              <a:off x="6667500" y="4972050"/>
              <a:ext cx="4914900" cy="1219200"/>
            </a:xfrm>
            <a:prstGeom prst="roundRect">
              <a:avLst>
                <a:gd name="adj" fmla="val 15625"/>
              </a:avLst>
            </a:prstGeom>
            <a:noFill/>
            <a:ln w="19050">
              <a:solidFill>
                <a:srgbClr val="1F3864"/>
              </a:solidFill>
              <a:prstDash val="lgDash"/>
            </a:ln>
          </p:spPr>
        </p:sp>
        <p:grpSp>
          <p:nvGrpSpPr>
            <p:cNvPr id="49" name="Group 49"/>
            <p:cNvGrpSpPr/>
            <p:nvPr/>
          </p:nvGrpSpPr>
          <p:grpSpPr>
            <a:xfrm>
              <a:off x="6985301" y="5312081"/>
              <a:ext cx="278800" cy="308941"/>
              <a:chOff x="6985301" y="5312081"/>
              <a:chExt cx="278800" cy="308941"/>
            </a:xfrm>
          </p:grpSpPr>
          <p:sp>
            <p:nvSpPr>
              <p:cNvPr id="47" name="Freeform 47"/>
              <p:cNvSpPr/>
              <p:nvPr/>
            </p:nvSpPr>
            <p:spPr>
              <a:xfrm>
                <a:off x="7077075" y="5403850"/>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31750">
                <a:solidFill>
                  <a:srgbClr val="1F3864"/>
                </a:solidFill>
              </a:ln>
            </p:spPr>
          </p:sp>
          <p:sp>
            <p:nvSpPr>
              <p:cNvPr id="48" name="Freeform 48"/>
              <p:cNvSpPr/>
              <p:nvPr/>
            </p:nvSpPr>
            <p:spPr>
              <a:xfrm>
                <a:off x="6985301" y="5312081"/>
                <a:ext cx="278800" cy="308941"/>
              </a:xfrm>
              <a:custGeom>
                <a:avLst/>
                <a:gdLst/>
                <a:ahLst/>
                <a:cxnLst/>
                <a:rect l="l" t="t" r="r" b="b"/>
                <a:pathLst>
                  <a:path w="278800" h="308941">
                    <a:moveTo>
                      <a:pt x="229205" y="229200"/>
                    </a:moveTo>
                    <a:lnTo>
                      <a:pt x="161847" y="296557"/>
                    </a:lnTo>
                    <a:cubicBezTo>
                      <a:pt x="149451" y="308941"/>
                      <a:pt x="129365" y="308941"/>
                      <a:pt x="116968" y="296557"/>
                    </a:cubicBezTo>
                    <a:lnTo>
                      <a:pt x="49595" y="229200"/>
                    </a:lnTo>
                    <a:cubicBezTo>
                      <a:pt x="0" y="179602"/>
                      <a:pt x="1" y="99191"/>
                      <a:pt x="49598" y="49596"/>
                    </a:cubicBezTo>
                    <a:cubicBezTo>
                      <a:pt x="99194" y="0"/>
                      <a:pt x="179605" y="0"/>
                      <a:pt x="229202" y="49596"/>
                    </a:cubicBezTo>
                    <a:cubicBezTo>
                      <a:pt x="278798" y="99191"/>
                      <a:pt x="278800" y="179602"/>
                      <a:pt x="229205" y="229200"/>
                    </a:cubicBezTo>
                  </a:path>
                </a:pathLst>
              </a:custGeom>
              <a:noFill/>
              <a:ln w="31750">
                <a:solidFill>
                  <a:srgbClr val="1F3864"/>
                </a:solidFill>
              </a:ln>
            </p:spPr>
          </p:sp>
        </p:grpSp>
        <p:sp>
          <p:nvSpPr>
            <p:cNvPr id="50" name="TextBox 50"/>
            <p:cNvSpPr txBox="1"/>
            <p:nvPr/>
          </p:nvSpPr>
          <p:spPr>
            <a:xfrm>
              <a:off x="7500747" y="5247799"/>
              <a:ext cx="1562842" cy="190690"/>
            </a:xfrm>
            <a:prstGeom prst="rect">
              <a:avLst/>
            </a:prstGeom>
            <a:noFill/>
            <a:ln>
              <a:noFill/>
            </a:ln>
          </p:spPr>
          <p:txBody>
            <a:bodyPr wrap="square" lIns="0" tIns="0" rIns="0" bIns="0" anchor="t" anchorCtr="0">
              <a:spAutoFit/>
            </a:bodyPr>
            <a:lstStyle/>
            <a:p>
              <a:pPr algn="l"/>
              <a:r>
                <a:rPr lang="en" sz="980" b="1" spc="90" dirty="0">
                  <a:solidFill>
                    <a:srgbClr val="A94E00"/>
                  </a:solidFill>
                  <a:latin typeface="+mn-lt"/>
                  <a:ea typeface="+mn-ea"/>
                  <a:cs typeface="+mn-cs"/>
                </a:rPr>
                <a:t>NEXT IN THE LAB</a:t>
              </a:r>
            </a:p>
          </p:txBody>
        </p:sp>
        <p:sp>
          <p:nvSpPr>
            <p:cNvPr id="51" name="TextBox 51"/>
            <p:cNvSpPr txBox="1"/>
            <p:nvPr/>
          </p:nvSpPr>
          <p:spPr>
            <a:xfrm>
              <a:off x="7497318" y="5479732"/>
              <a:ext cx="2630261"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TAC geo-targeting</a:t>
              </a:r>
            </a:p>
          </p:txBody>
        </p:sp>
        <p:sp>
          <p:nvSpPr>
            <p:cNvPr id="52" name="TextBox 52"/>
            <p:cNvSpPr txBox="1"/>
            <p:nvPr/>
          </p:nvSpPr>
          <p:spPr>
            <a:xfrm>
              <a:off x="7498842" y="5797868"/>
              <a:ext cx="3312536"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Yaoundé TAC 1 vs Douala TAC 2</a:t>
              </a:r>
            </a:p>
          </p:txBody>
        </p:sp>
      </p:grpSp>
      <p:grpSp>
        <p:nvGrpSpPr>
          <p:cNvPr id="57" name="footer"/>
          <p:cNvGrpSpPr/>
          <p:nvPr/>
        </p:nvGrpSpPr>
        <p:grpSpPr>
          <a:xfrm>
            <a:off x="604838" y="6551295"/>
            <a:ext cx="10982325" cy="176212"/>
            <a:chOff x="604838" y="6551295"/>
            <a:chExt cx="10982325" cy="176212"/>
          </a:xfrm>
        </p:grpSpPr>
        <p:sp>
          <p:nvSpPr>
            <p:cNvPr id="54" name="TextBox 54"/>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55" name="TextBox 55"/>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56"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9220865" cy="917734"/>
            <a:chOff x="594360" y="640556"/>
            <a:chExt cx="9220865" cy="917734"/>
          </a:xfrm>
        </p:grpSpPr>
        <p:sp>
          <p:nvSpPr>
            <p:cNvPr id="3" name="TextBox 3"/>
            <p:cNvSpPr txBox="1"/>
            <p:nvPr/>
          </p:nvSpPr>
          <p:spPr>
            <a:xfrm>
              <a:off x="603885" y="640556"/>
              <a:ext cx="689281"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TEAM</a:t>
              </a:r>
            </a:p>
          </p:txBody>
        </p:sp>
        <p:sp>
          <p:nvSpPr>
            <p:cNvPr id="4" name="TextBox 4"/>
            <p:cNvSpPr txBox="1"/>
            <p:nvPr/>
          </p:nvSpPr>
          <p:spPr>
            <a:xfrm>
              <a:off x="594360" y="971550"/>
              <a:ext cx="11526081"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Field RAN engineering meets KFOKAM48 / PKF</a:t>
              </a:r>
            </a:p>
          </p:txBody>
        </p:sp>
      </p:grpSp>
      <p:grpSp>
        <p:nvGrpSpPr>
          <p:cNvPr id="31" name="member-f2g"/>
          <p:cNvGrpSpPr/>
          <p:nvPr/>
        </p:nvGrpSpPr>
        <p:grpSpPr>
          <a:xfrm>
            <a:off x="609600" y="1866900"/>
            <a:ext cx="6858000" cy="4381500"/>
            <a:chOff x="609600" y="1866900"/>
            <a:chExt cx="6858000" cy="4381500"/>
          </a:xfrm>
        </p:grpSpPr>
        <p:sp>
          <p:nvSpPr>
            <p:cNvPr id="6" name="Rectangle 6"/>
            <p:cNvSpPr/>
            <p:nvPr/>
          </p:nvSpPr>
          <p:spPr>
            <a:xfrm>
              <a:off x="609600" y="1866900"/>
              <a:ext cx="6858000" cy="4381500"/>
            </a:xfrm>
            <a:prstGeom prst="roundRect">
              <a:avLst>
                <a:gd name="adj" fmla="val 5217"/>
              </a:avLst>
            </a:prstGeom>
            <a:solidFill>
              <a:srgbClr val="1F3864"/>
            </a:solidFill>
            <a:ln>
              <a:noFill/>
            </a:ln>
          </p:spPr>
        </p:sp>
        <p:sp>
          <p:nvSpPr>
            <p:cNvPr id="7" name="Ellipse 7"/>
            <p:cNvSpPr/>
            <p:nvPr/>
          </p:nvSpPr>
          <p:spPr>
            <a:xfrm>
              <a:off x="952500" y="2286000"/>
              <a:ext cx="1143000" cy="1143000"/>
            </a:xfrm>
            <a:prstGeom prst="ellipse">
              <a:avLst/>
            </a:prstGeom>
            <a:solidFill>
              <a:srgbClr val="EC8236"/>
            </a:solidFill>
            <a:ln>
              <a:noFill/>
            </a:ln>
          </p:spPr>
        </p:sp>
        <p:sp>
          <p:nvSpPr>
            <p:cNvPr id="8" name="TextBox 8"/>
            <p:cNvSpPr txBox="1"/>
            <p:nvPr/>
          </p:nvSpPr>
          <p:spPr>
            <a:xfrm>
              <a:off x="1108779" y="2656522"/>
              <a:ext cx="830443" cy="674751"/>
            </a:xfrm>
            <a:prstGeom prst="rect">
              <a:avLst/>
            </a:prstGeom>
            <a:noFill/>
            <a:ln>
              <a:noFill/>
            </a:ln>
          </p:spPr>
          <p:txBody>
            <a:bodyPr wrap="square" lIns="0" tIns="0" rIns="0" bIns="0" anchor="t" anchorCtr="0">
              <a:spAutoFit/>
            </a:bodyPr>
            <a:lstStyle/>
            <a:p>
              <a:pPr algn="ctr"/>
              <a:r>
                <a:rPr lang="en" sz="3450" b="1" dirty="0">
                  <a:solidFill>
                    <a:srgbClr val="172A4C"/>
                  </a:solidFill>
                  <a:latin typeface="Baloo 2"/>
                  <a:ea typeface="Baloo 2"/>
                  <a:cs typeface="Baloo 2"/>
                </a:rPr>
                <a:t>AD</a:t>
              </a:r>
            </a:p>
          </p:txBody>
        </p:sp>
        <p:sp>
          <p:nvSpPr>
            <p:cNvPr id="9" name="TextBox 9"/>
            <p:cNvSpPr txBox="1"/>
            <p:nvPr/>
          </p:nvSpPr>
          <p:spPr>
            <a:xfrm>
              <a:off x="2356866" y="2515552"/>
              <a:ext cx="2027253" cy="205359"/>
            </a:xfrm>
            <a:prstGeom prst="rect">
              <a:avLst/>
            </a:prstGeom>
            <a:noFill/>
            <a:ln>
              <a:noFill/>
            </a:ln>
          </p:spPr>
          <p:txBody>
            <a:bodyPr wrap="square" lIns="0" tIns="0" rIns="0" bIns="0" anchor="t" anchorCtr="0">
              <a:spAutoFit/>
            </a:bodyPr>
            <a:lstStyle/>
            <a:p>
              <a:pPr algn="l"/>
              <a:r>
                <a:rPr lang="en" sz="1050" b="1" spc="105" dirty="0">
                  <a:solidFill>
                    <a:srgbClr val="F5B888"/>
                  </a:solidFill>
                  <a:latin typeface="+mn-lt"/>
                  <a:ea typeface="+mn-ea"/>
                  <a:cs typeface="+mn-cs"/>
                </a:rPr>
                <a:t>F2G SOLUTIONS INC</a:t>
              </a:r>
            </a:p>
          </p:txBody>
        </p:sp>
        <p:sp>
          <p:nvSpPr>
            <p:cNvPr id="10" name="TextBox 10"/>
            <p:cNvSpPr txBox="1"/>
            <p:nvPr/>
          </p:nvSpPr>
          <p:spPr>
            <a:xfrm>
              <a:off x="2346960" y="2724150"/>
              <a:ext cx="3726515" cy="586740"/>
            </a:xfrm>
            <a:prstGeom prst="rect">
              <a:avLst/>
            </a:prstGeom>
            <a:noFill/>
            <a:ln>
              <a:noFill/>
            </a:ln>
          </p:spPr>
          <p:txBody>
            <a:bodyPr wrap="square" lIns="0" tIns="0" rIns="0" bIns="0" anchor="t" anchorCtr="0">
              <a:spAutoFit/>
            </a:bodyPr>
            <a:lstStyle/>
            <a:p>
              <a:pPr algn="l"/>
              <a:r>
                <a:rPr lang="en" sz="3000" b="1" dirty="0">
                  <a:solidFill>
                    <a:srgbClr val="FFFFFF"/>
                  </a:solidFill>
                  <a:latin typeface="Baloo 2"/>
                  <a:ea typeface="Baloo 2"/>
                  <a:cs typeface="Baloo 2"/>
                </a:rPr>
                <a:t>Arnaud DJOUM</a:t>
              </a:r>
            </a:p>
          </p:txBody>
        </p:sp>
        <p:sp>
          <p:nvSpPr>
            <p:cNvPr id="11" name="TextBox 11"/>
            <p:cNvSpPr txBox="1"/>
            <p:nvPr/>
          </p:nvSpPr>
          <p:spPr>
            <a:xfrm>
              <a:off x="2354580" y="3190875"/>
              <a:ext cx="2109311" cy="293370"/>
            </a:xfrm>
            <a:prstGeom prst="rect">
              <a:avLst/>
            </a:prstGeom>
            <a:noFill/>
            <a:ln>
              <a:noFill/>
            </a:ln>
          </p:spPr>
          <p:txBody>
            <a:bodyPr wrap="square" lIns="0" tIns="0" rIns="0" bIns="0" anchor="t" anchorCtr="0">
              <a:spAutoFit/>
            </a:bodyPr>
            <a:lstStyle/>
            <a:p>
              <a:pPr algn="l"/>
              <a:r>
                <a:rPr lang="en" sz="1500" dirty="0">
                  <a:solidFill>
                    <a:srgbClr val="C9D2E3"/>
                  </a:solidFill>
                  <a:latin typeface="+mn-lt"/>
                  <a:ea typeface="+mn-ea"/>
                  <a:cs typeface="+mn-cs"/>
                </a:rPr>
                <a:t>Telecom engineer</a:t>
              </a:r>
            </a:p>
          </p:txBody>
        </p:sp>
        <p:grpSp>
          <p:nvGrpSpPr>
            <p:cNvPr id="30" name="Group 30"/>
            <p:cNvGrpSpPr/>
            <p:nvPr/>
          </p:nvGrpSpPr>
          <p:grpSpPr>
            <a:xfrm>
              <a:off x="1104900" y="4127500"/>
              <a:ext cx="4851349" cy="1604645"/>
              <a:chOff x="1104900" y="4127500"/>
              <a:chExt cx="4851349" cy="1604645"/>
            </a:xfrm>
          </p:grpSpPr>
          <p:grpSp>
            <p:nvGrpSpPr>
              <p:cNvPr id="18" name="Group 18"/>
              <p:cNvGrpSpPr/>
              <p:nvPr/>
            </p:nvGrpSpPr>
            <p:grpSpPr>
              <a:xfrm>
                <a:off x="1117600" y="4127500"/>
                <a:ext cx="212724" cy="215899"/>
                <a:chOff x="1117600" y="4127500"/>
                <a:chExt cx="212724" cy="215899"/>
              </a:xfrm>
            </p:grpSpPr>
            <p:sp>
              <p:nvSpPr>
                <p:cNvPr id="12" name="Freeform 12"/>
                <p:cNvSpPr/>
                <p:nvPr/>
              </p:nvSpPr>
              <p:spPr>
                <a:xfrm>
                  <a:off x="1320799" y="4127500"/>
                  <a:ext cx="9525" cy="101600"/>
                </a:xfrm>
                <a:custGeom>
                  <a:avLst/>
                  <a:gdLst/>
                  <a:ahLst/>
                  <a:cxnLst/>
                  <a:rect l="l" t="t" r="r" b="b"/>
                  <a:pathLst>
                    <a:path w="9525" h="101600">
                      <a:moveTo>
                        <a:pt x="0" y="0"/>
                      </a:moveTo>
                      <a:lnTo>
                        <a:pt x="0" y="101600"/>
                      </a:lnTo>
                    </a:path>
                  </a:pathLst>
                </a:custGeom>
                <a:noFill/>
                <a:ln w="25400">
                  <a:solidFill>
                    <a:srgbClr val="F5B888"/>
                  </a:solidFill>
                </a:ln>
              </p:spPr>
            </p:sp>
            <p:sp>
              <p:nvSpPr>
                <p:cNvPr id="13" name="Freeform 13"/>
                <p:cNvSpPr/>
                <p:nvPr/>
              </p:nvSpPr>
              <p:spPr>
                <a:xfrm>
                  <a:off x="1269999" y="4133850"/>
                  <a:ext cx="9525" cy="88900"/>
                </a:xfrm>
                <a:custGeom>
                  <a:avLst/>
                  <a:gdLst/>
                  <a:ahLst/>
                  <a:cxnLst/>
                  <a:rect l="l" t="t" r="r" b="b"/>
                  <a:pathLst>
                    <a:path w="9525" h="88900">
                      <a:moveTo>
                        <a:pt x="0" y="0"/>
                      </a:moveTo>
                      <a:lnTo>
                        <a:pt x="0" y="88900"/>
                      </a:lnTo>
                    </a:path>
                  </a:pathLst>
                </a:custGeom>
                <a:noFill/>
                <a:ln w="25400">
                  <a:solidFill>
                    <a:srgbClr val="F5B888"/>
                  </a:solidFill>
                </a:ln>
              </p:spPr>
            </p:sp>
            <p:sp>
              <p:nvSpPr>
                <p:cNvPr id="14" name="Freeform 14"/>
                <p:cNvSpPr/>
                <p:nvPr/>
              </p:nvSpPr>
              <p:spPr>
                <a:xfrm>
                  <a:off x="1219200" y="4140200"/>
                  <a:ext cx="9525" cy="203199"/>
                </a:xfrm>
                <a:custGeom>
                  <a:avLst/>
                  <a:gdLst/>
                  <a:ahLst/>
                  <a:cxnLst/>
                  <a:rect l="l" t="t" r="r" b="b"/>
                  <a:pathLst>
                    <a:path w="9525" h="203199">
                      <a:moveTo>
                        <a:pt x="0" y="0"/>
                      </a:moveTo>
                      <a:lnTo>
                        <a:pt x="0" y="203199"/>
                      </a:lnTo>
                    </a:path>
                  </a:pathLst>
                </a:custGeom>
                <a:noFill/>
                <a:ln w="25400">
                  <a:solidFill>
                    <a:srgbClr val="F5B888"/>
                  </a:solidFill>
                </a:ln>
              </p:spPr>
            </p:sp>
            <p:sp>
              <p:nvSpPr>
                <p:cNvPr id="15" name="Freeform 15"/>
                <p:cNvSpPr/>
                <p:nvPr/>
              </p:nvSpPr>
              <p:spPr>
                <a:xfrm>
                  <a:off x="1168400" y="4146550"/>
                  <a:ext cx="9525" cy="63500"/>
                </a:xfrm>
                <a:custGeom>
                  <a:avLst/>
                  <a:gdLst/>
                  <a:ahLst/>
                  <a:cxnLst/>
                  <a:rect l="l" t="t" r="r" b="b"/>
                  <a:pathLst>
                    <a:path w="9525" h="63500">
                      <a:moveTo>
                        <a:pt x="0" y="0"/>
                      </a:moveTo>
                      <a:lnTo>
                        <a:pt x="0" y="63500"/>
                      </a:lnTo>
                    </a:path>
                  </a:pathLst>
                </a:custGeom>
                <a:noFill/>
                <a:ln w="25400">
                  <a:solidFill>
                    <a:srgbClr val="F5B888"/>
                  </a:solidFill>
                </a:ln>
              </p:spPr>
            </p:sp>
            <p:sp>
              <p:nvSpPr>
                <p:cNvPr id="16" name="Freeform 16"/>
                <p:cNvSpPr/>
                <p:nvPr/>
              </p:nvSpPr>
              <p:spPr>
                <a:xfrm>
                  <a:off x="1117600" y="4152900"/>
                  <a:ext cx="9525" cy="50800"/>
                </a:xfrm>
                <a:custGeom>
                  <a:avLst/>
                  <a:gdLst/>
                  <a:ahLst/>
                  <a:cxnLst/>
                  <a:rect l="l" t="t" r="r" b="b"/>
                  <a:pathLst>
                    <a:path w="9525" h="50800">
                      <a:moveTo>
                        <a:pt x="0" y="0"/>
                      </a:moveTo>
                      <a:lnTo>
                        <a:pt x="0" y="50800"/>
                      </a:lnTo>
                    </a:path>
                  </a:pathLst>
                </a:custGeom>
                <a:noFill/>
                <a:ln w="25400">
                  <a:solidFill>
                    <a:srgbClr val="F5B888"/>
                  </a:solidFill>
                </a:ln>
              </p:spPr>
            </p:sp>
            <p:sp>
              <p:nvSpPr>
                <p:cNvPr id="17" name="Freeform 17"/>
                <p:cNvSpPr/>
                <p:nvPr/>
              </p:nvSpPr>
              <p:spPr>
                <a:xfrm>
                  <a:off x="1117600" y="4178300"/>
                  <a:ext cx="203199" cy="9525"/>
                </a:xfrm>
                <a:custGeom>
                  <a:avLst/>
                  <a:gdLst/>
                  <a:ahLst/>
                  <a:cxnLst/>
                  <a:rect l="l" t="t" r="r" b="b"/>
                  <a:pathLst>
                    <a:path w="203199" h="9525">
                      <a:moveTo>
                        <a:pt x="203199" y="0"/>
                      </a:moveTo>
                      <a:lnTo>
                        <a:pt x="0" y="0"/>
                      </a:lnTo>
                    </a:path>
                  </a:pathLst>
                </a:custGeom>
                <a:noFill/>
                <a:ln w="25400">
                  <a:solidFill>
                    <a:srgbClr val="F5B888"/>
                  </a:solidFill>
                </a:ln>
              </p:spPr>
            </p:sp>
          </p:grpSp>
          <p:sp>
            <p:nvSpPr>
              <p:cNvPr id="19" name="TextBox 19"/>
              <p:cNvSpPr txBox="1"/>
              <p:nvPr/>
            </p:nvSpPr>
            <p:spPr>
              <a:xfrm>
                <a:off x="1554480" y="4143375"/>
                <a:ext cx="5502211" cy="293370"/>
              </a:xfrm>
              <a:prstGeom prst="rect">
                <a:avLst/>
              </a:prstGeom>
              <a:noFill/>
              <a:ln>
                <a:noFill/>
              </a:ln>
            </p:spPr>
            <p:txBody>
              <a:bodyPr wrap="square" lIns="0" tIns="0" rIns="0" bIns="0" anchor="t" anchorCtr="0">
                <a:spAutoFit/>
              </a:bodyPr>
              <a:lstStyle/>
              <a:p>
                <a:pPr algn="l"/>
                <a:r>
                  <a:rPr lang="en" sz="1500" dirty="0">
                    <a:solidFill>
                      <a:srgbClr val="FFFFFF"/>
                    </a:solidFill>
                    <a:latin typeface="+mn-lt"/>
                    <a:ea typeface="+mn-ea"/>
                    <a:cs typeface="+mn-cs"/>
                  </a:rPr>
                  <a:t>RAN I&amp;C for Nokia / Safaricom Ethiopia, 2026</a:t>
                </a:r>
              </a:p>
            </p:txBody>
          </p:sp>
          <p:grpSp>
            <p:nvGrpSpPr>
              <p:cNvPr id="24" name="Group 24"/>
              <p:cNvGrpSpPr/>
              <p:nvPr/>
            </p:nvGrpSpPr>
            <p:grpSpPr>
              <a:xfrm>
                <a:off x="1104900" y="4775200"/>
                <a:ext cx="228599" cy="203200"/>
                <a:chOff x="1104900" y="4775200"/>
                <a:chExt cx="228599" cy="203200"/>
              </a:xfrm>
            </p:grpSpPr>
            <p:sp>
              <p:nvSpPr>
                <p:cNvPr id="20" name="Freeform 20"/>
                <p:cNvSpPr/>
                <p:nvPr/>
              </p:nvSpPr>
              <p:spPr>
                <a:xfrm>
                  <a:off x="1104900" y="477520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rgbClr val="F5B888"/>
                  </a:solidFill>
                </a:ln>
              </p:spPr>
            </p:sp>
            <p:sp>
              <p:nvSpPr>
                <p:cNvPr id="21" name="Freeform 21"/>
                <p:cNvSpPr/>
                <p:nvPr/>
              </p:nvSpPr>
              <p:spPr>
                <a:xfrm>
                  <a:off x="1104900" y="487680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rgbClr val="F5B888"/>
                  </a:solidFill>
                </a:ln>
              </p:spPr>
            </p:sp>
            <p:sp>
              <p:nvSpPr>
                <p:cNvPr id="22" name="Freeform 22"/>
                <p:cNvSpPr/>
                <p:nvPr/>
              </p:nvSpPr>
              <p:spPr>
                <a:xfrm>
                  <a:off x="1155700" y="4826000"/>
                  <a:ext cx="9525" cy="9525"/>
                </a:xfrm>
                <a:custGeom>
                  <a:avLst/>
                  <a:gdLst/>
                  <a:ahLst/>
                  <a:cxnLst/>
                  <a:rect l="l" t="t" r="r" b="b"/>
                  <a:pathLst>
                    <a:path w="9525" h="9525">
                      <a:moveTo>
                        <a:pt x="0" y="0"/>
                      </a:moveTo>
                      <a:lnTo>
                        <a:pt x="0" y="127"/>
                      </a:lnTo>
                    </a:path>
                  </a:pathLst>
                </a:custGeom>
                <a:noFill/>
                <a:ln w="25400">
                  <a:solidFill>
                    <a:srgbClr val="F5B888"/>
                  </a:solidFill>
                </a:ln>
              </p:spPr>
            </p:sp>
            <p:sp>
              <p:nvSpPr>
                <p:cNvPr id="23" name="Freeform 23"/>
                <p:cNvSpPr/>
                <p:nvPr/>
              </p:nvSpPr>
              <p:spPr>
                <a:xfrm>
                  <a:off x="1155700" y="4927599"/>
                  <a:ext cx="9525" cy="9525"/>
                </a:xfrm>
                <a:custGeom>
                  <a:avLst/>
                  <a:gdLst/>
                  <a:ahLst/>
                  <a:cxnLst/>
                  <a:rect l="l" t="t" r="r" b="b"/>
                  <a:pathLst>
                    <a:path w="9525" h="9525">
                      <a:moveTo>
                        <a:pt x="0" y="0"/>
                      </a:moveTo>
                      <a:lnTo>
                        <a:pt x="0" y="127"/>
                      </a:lnTo>
                    </a:path>
                  </a:pathLst>
                </a:custGeom>
                <a:noFill/>
                <a:ln w="25400">
                  <a:solidFill>
                    <a:srgbClr val="F5B888"/>
                  </a:solidFill>
                </a:ln>
              </p:spPr>
            </p:sp>
          </p:grpSp>
          <p:sp>
            <p:nvSpPr>
              <p:cNvPr id="25" name="TextBox 25"/>
              <p:cNvSpPr txBox="1"/>
              <p:nvPr/>
            </p:nvSpPr>
            <p:spPr>
              <a:xfrm>
                <a:off x="1554480" y="4791075"/>
                <a:ext cx="2156520" cy="293370"/>
              </a:xfrm>
              <a:prstGeom prst="rect">
                <a:avLst/>
              </a:prstGeom>
              <a:noFill/>
              <a:ln>
                <a:noFill/>
              </a:ln>
            </p:spPr>
            <p:txBody>
              <a:bodyPr wrap="square" lIns="0" tIns="0" rIns="0" bIns="0" anchor="t" anchorCtr="0">
                <a:spAutoFit/>
              </a:bodyPr>
              <a:lstStyle/>
              <a:p>
                <a:pPr algn="l"/>
                <a:r>
                  <a:rPr lang="en" sz="1500" dirty="0">
                    <a:solidFill>
                      <a:srgbClr val="FFFFFF"/>
                    </a:solidFill>
                    <a:latin typeface="+mn-lt"/>
                    <a:ea typeface="+mn-ea"/>
                    <a:cs typeface="+mn-cs"/>
                  </a:rPr>
                  <a:t>Private 4G/5G lab</a:t>
                </a:r>
              </a:p>
            </p:txBody>
          </p:sp>
          <p:grpSp>
            <p:nvGrpSpPr>
              <p:cNvPr id="28" name="Group 28"/>
              <p:cNvGrpSpPr/>
              <p:nvPr/>
            </p:nvGrpSpPr>
            <p:grpSpPr>
              <a:xfrm>
                <a:off x="1104900" y="5410200"/>
                <a:ext cx="228599" cy="228599"/>
                <a:chOff x="1104900" y="5410200"/>
                <a:chExt cx="228599" cy="228599"/>
              </a:xfrm>
            </p:grpSpPr>
            <p:sp>
              <p:nvSpPr>
                <p:cNvPr id="26" name="Freeform 26"/>
                <p:cNvSpPr/>
                <p:nvPr/>
              </p:nvSpPr>
              <p:spPr>
                <a:xfrm>
                  <a:off x="1104900" y="54102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F5B888"/>
                  </a:solidFill>
                </a:ln>
              </p:spPr>
            </p:sp>
            <p:sp>
              <p:nvSpPr>
                <p:cNvPr id="27" name="Freeform 27"/>
                <p:cNvSpPr/>
                <p:nvPr/>
              </p:nvSpPr>
              <p:spPr>
                <a:xfrm>
                  <a:off x="1181100" y="5499100"/>
                  <a:ext cx="76200" cy="50800"/>
                </a:xfrm>
                <a:custGeom>
                  <a:avLst/>
                  <a:gdLst/>
                  <a:ahLst/>
                  <a:cxnLst/>
                  <a:rect l="l" t="t" r="r" b="b"/>
                  <a:pathLst>
                    <a:path w="76200" h="50800">
                      <a:moveTo>
                        <a:pt x="0" y="25400"/>
                      </a:moveTo>
                      <a:lnTo>
                        <a:pt x="25400" y="50800"/>
                      </a:lnTo>
                      <a:lnTo>
                        <a:pt x="76200" y="0"/>
                      </a:lnTo>
                    </a:path>
                  </a:pathLst>
                </a:custGeom>
                <a:noFill/>
                <a:ln w="25400">
                  <a:solidFill>
                    <a:srgbClr val="F5B888"/>
                  </a:solidFill>
                </a:ln>
              </p:spPr>
            </p:sp>
          </p:grpSp>
          <p:sp>
            <p:nvSpPr>
              <p:cNvPr id="29" name="TextBox 29"/>
              <p:cNvSpPr txBox="1"/>
              <p:nvPr/>
            </p:nvSpPr>
            <p:spPr>
              <a:xfrm>
                <a:off x="1554480" y="5438775"/>
                <a:ext cx="3127193" cy="293370"/>
              </a:xfrm>
              <a:prstGeom prst="rect">
                <a:avLst/>
              </a:prstGeom>
              <a:noFill/>
              <a:ln>
                <a:noFill/>
              </a:ln>
            </p:spPr>
            <p:txBody>
              <a:bodyPr wrap="square" lIns="0" tIns="0" rIns="0" bIns="0" anchor="t" anchorCtr="0">
                <a:spAutoFit/>
              </a:bodyPr>
              <a:lstStyle/>
              <a:p>
                <a:pPr algn="l"/>
                <a:r>
                  <a:rPr lang="en" sz="1500" dirty="0">
                    <a:solidFill>
                      <a:srgbClr val="FFFFFF"/>
                    </a:solidFill>
                    <a:latin typeface="+mn-lt"/>
                    <a:ea typeface="+mn-ea"/>
                    <a:cs typeface="+mn-cs"/>
                  </a:rPr>
                  <a:t>Built the CMAS prototype</a:t>
                </a:r>
              </a:p>
            </p:txBody>
          </p:sp>
        </p:grpSp>
      </p:grpSp>
      <p:grpSp>
        <p:nvGrpSpPr>
          <p:cNvPr id="33" name="partnership-mark"/>
          <p:cNvGrpSpPr/>
          <p:nvPr/>
        </p:nvGrpSpPr>
        <p:grpSpPr>
          <a:xfrm>
            <a:off x="7714894" y="3684270"/>
            <a:ext cx="457912" cy="1047750"/>
            <a:chOff x="7714894" y="3684270"/>
            <a:chExt cx="457912" cy="1047750"/>
          </a:xfrm>
        </p:grpSpPr>
        <p:sp>
          <p:nvSpPr>
            <p:cNvPr id="32" name="TextBox 32"/>
            <p:cNvSpPr txBox="1"/>
            <p:nvPr/>
          </p:nvSpPr>
          <p:spPr>
            <a:xfrm>
              <a:off x="7600594" y="3684270"/>
              <a:ext cx="686512" cy="1047750"/>
            </a:xfrm>
            <a:prstGeom prst="rect">
              <a:avLst/>
            </a:prstGeom>
            <a:noFill/>
            <a:ln>
              <a:noFill/>
            </a:ln>
          </p:spPr>
          <p:txBody>
            <a:bodyPr wrap="square" lIns="0" tIns="0" rIns="0" bIns="0" anchor="t" anchorCtr="0">
              <a:spAutoFit/>
            </a:bodyPr>
            <a:lstStyle/>
            <a:p>
              <a:pPr algn="ctr"/>
              <a:r>
                <a:rPr lang="en" sz="5400" b="1" dirty="0">
                  <a:solidFill>
                    <a:srgbClr val="CC6508"/>
                  </a:solidFill>
                  <a:latin typeface="Baloo 2"/>
                  <a:ea typeface="Baloo 2"/>
                  <a:cs typeface="Baloo 2"/>
                </a:rPr>
                <a:t>×</a:t>
              </a:r>
            </a:p>
          </p:txBody>
        </p:sp>
      </p:grpSp>
      <p:grpSp>
        <p:nvGrpSpPr>
          <p:cNvPr id="39" name="member-kfokam"/>
          <p:cNvGrpSpPr/>
          <p:nvPr/>
        </p:nvGrpSpPr>
        <p:grpSpPr>
          <a:xfrm>
            <a:off x="8595360" y="2571750"/>
            <a:ext cx="2536721" cy="2766251"/>
            <a:chOff x="8595360" y="2571750"/>
            <a:chExt cx="2536721" cy="2766251"/>
          </a:xfrm>
        </p:grpSpPr>
        <p:sp>
          <p:nvSpPr>
            <p:cNvPr id="34" name="Ellipse 34"/>
            <p:cNvSpPr/>
            <p:nvPr/>
          </p:nvSpPr>
          <p:spPr>
            <a:xfrm>
              <a:off x="8610600" y="2571750"/>
              <a:ext cx="1143000" cy="1143000"/>
            </a:xfrm>
            <a:prstGeom prst="ellipse">
              <a:avLst/>
            </a:prstGeom>
            <a:solidFill>
              <a:srgbClr val="FBE3D0"/>
            </a:solidFill>
            <a:ln>
              <a:noFill/>
            </a:ln>
          </p:spPr>
        </p:sp>
        <p:sp>
          <p:nvSpPr>
            <p:cNvPr id="35" name="TextBox 35"/>
            <p:cNvSpPr txBox="1"/>
            <p:nvPr/>
          </p:nvSpPr>
          <p:spPr>
            <a:xfrm>
              <a:off x="8766879" y="2942272"/>
              <a:ext cx="830443" cy="674751"/>
            </a:xfrm>
            <a:prstGeom prst="rect">
              <a:avLst/>
            </a:prstGeom>
            <a:noFill/>
            <a:ln>
              <a:noFill/>
            </a:ln>
          </p:spPr>
          <p:txBody>
            <a:bodyPr wrap="square" lIns="0" tIns="0" rIns="0" bIns="0" anchor="t" anchorCtr="0">
              <a:spAutoFit/>
            </a:bodyPr>
            <a:lstStyle/>
            <a:p>
              <a:pPr algn="ctr"/>
              <a:r>
                <a:rPr lang="en" sz="3450" b="1" dirty="0">
                  <a:solidFill>
                    <a:srgbClr val="1F3864"/>
                  </a:solidFill>
                  <a:latin typeface="Baloo 2"/>
                  <a:ea typeface="Baloo 2"/>
                  <a:cs typeface="Baloo 2"/>
                </a:rPr>
                <a:t>LG</a:t>
              </a:r>
            </a:p>
          </p:txBody>
        </p:sp>
        <p:sp>
          <p:nvSpPr>
            <p:cNvPr id="36" name="TextBox 36"/>
            <p:cNvSpPr txBox="1"/>
            <p:nvPr/>
          </p:nvSpPr>
          <p:spPr>
            <a:xfrm>
              <a:off x="8605266" y="4077652"/>
              <a:ext cx="1745818"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KFOKAM48 / PKF</a:t>
              </a:r>
            </a:p>
          </p:txBody>
        </p:sp>
        <p:sp>
          <p:nvSpPr>
            <p:cNvPr id="37" name="TextBox 37"/>
            <p:cNvSpPr txBox="1"/>
            <p:nvPr/>
          </p:nvSpPr>
          <p:spPr>
            <a:xfrm>
              <a:off x="8595360" y="4286250"/>
              <a:ext cx="3170901"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Luis Geralda</a:t>
              </a:r>
            </a:p>
          </p:txBody>
        </p:sp>
        <p:sp>
          <p:nvSpPr>
            <p:cNvPr id="38" name="TextBox 38"/>
            <p:cNvSpPr txBox="1"/>
            <p:nvPr/>
          </p:nvSpPr>
          <p:spPr>
            <a:xfrm>
              <a:off x="8603742" y="4826318"/>
              <a:ext cx="3038951" cy="511683"/>
            </a:xfrm>
            <a:prstGeom prst="rect">
              <a:avLst/>
            </a:prstGeom>
            <a:noFill/>
            <a:ln>
              <a:noFill/>
            </a:ln>
          </p:spPr>
          <p:txBody>
            <a:bodyPr wrap="square" lIns="0" tIns="0" rIns="0" bIns="0" anchor="t" anchorCtr="0">
              <a:spAutoFit/>
            </a:bodyPr>
            <a:lstStyle/>
            <a:p>
              <a:pPr algn="l">
                <a:lnSpc>
                  <a:spcPts val="1950"/>
                </a:lnSpc>
              </a:pPr>
              <a:r>
                <a:rPr lang="en" sz="1350" dirty="0">
                  <a:solidFill>
                    <a:srgbClr val="5B6477"/>
                  </a:solidFill>
                  <a:latin typeface="+mn-lt"/>
                  <a:ea typeface="+mn-ea"/>
                  <a:cs typeface="+mn-cs"/>
                </a:rPr>
                <a:t>KFOKAM48 Telecommunication</a:t>
              </a:r>
              <a:br/>
              <a:r>
                <a:rPr lang="en" sz="1350" dirty="0">
                  <a:solidFill>
                    <a:srgbClr val="5B6477"/>
                  </a:solidFill>
                  <a:latin typeface="+mn-lt"/>
                  <a:ea typeface="+mn-ea"/>
                  <a:cs typeface="+mn-cs"/>
                </a:rPr>
                <a:t>Academy</a:t>
              </a:r>
            </a:p>
          </p:txBody>
        </p:sp>
      </p:grpSp>
      <p:grpSp>
        <p:nvGrpSpPr>
          <p:cNvPr id="43" name="footer"/>
          <p:cNvGrpSpPr/>
          <p:nvPr/>
        </p:nvGrpSpPr>
        <p:grpSpPr>
          <a:xfrm>
            <a:off x="604838" y="6551295"/>
            <a:ext cx="10982325" cy="176212"/>
            <a:chOff x="604838" y="6551295"/>
            <a:chExt cx="10982325" cy="176212"/>
          </a:xfrm>
        </p:grpSpPr>
        <p:sp>
          <p:nvSpPr>
            <p:cNvPr id="40" name="TextBox 40"/>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41" name="TextBox 41"/>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42"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9391826" cy="917734"/>
            <a:chOff x="594360" y="640556"/>
            <a:chExt cx="9391826" cy="917734"/>
          </a:xfrm>
        </p:grpSpPr>
        <p:sp>
          <p:nvSpPr>
            <p:cNvPr id="3" name="TextBox 3"/>
            <p:cNvSpPr txBox="1"/>
            <p:nvPr/>
          </p:nvSpPr>
          <p:spPr>
            <a:xfrm>
              <a:off x="603885" y="640556"/>
              <a:ext cx="821507"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VISION</a:t>
              </a:r>
            </a:p>
          </p:txBody>
        </p:sp>
        <p:sp>
          <p:nvSpPr>
            <p:cNvPr id="4" name="TextBox 4"/>
            <p:cNvSpPr txBox="1"/>
            <p:nvPr/>
          </p:nvSpPr>
          <p:spPr>
            <a:xfrm>
              <a:off x="594360" y="971550"/>
              <a:ext cx="11739782"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CM-Alert: Cameroon first, then all of CEMAC</a:t>
              </a:r>
            </a:p>
          </p:txBody>
        </p:sp>
      </p:grpSp>
      <p:grpSp>
        <p:nvGrpSpPr>
          <p:cNvPr id="13" name="expansion-rings"/>
          <p:cNvGrpSpPr/>
          <p:nvPr/>
        </p:nvGrpSpPr>
        <p:grpSpPr>
          <a:xfrm>
            <a:off x="7067550" y="1752600"/>
            <a:ext cx="4495800" cy="4495800"/>
            <a:chOff x="7067550" y="1752600"/>
            <a:chExt cx="4495800" cy="4495800"/>
          </a:xfrm>
        </p:grpSpPr>
        <p:sp>
          <p:nvSpPr>
            <p:cNvPr id="6" name="Ellipse 6"/>
            <p:cNvSpPr/>
            <p:nvPr/>
          </p:nvSpPr>
          <p:spPr>
            <a:xfrm>
              <a:off x="7067550" y="1752600"/>
              <a:ext cx="4495800" cy="4495800"/>
            </a:xfrm>
            <a:prstGeom prst="ellipse">
              <a:avLst/>
            </a:prstGeom>
            <a:solidFill>
              <a:srgbClr val="FBE3D0"/>
            </a:solidFill>
            <a:ln>
              <a:noFill/>
            </a:ln>
          </p:spPr>
        </p:sp>
        <p:sp>
          <p:nvSpPr>
            <p:cNvPr id="7" name="Ellipse 7"/>
            <p:cNvSpPr/>
            <p:nvPr/>
          </p:nvSpPr>
          <p:spPr>
            <a:xfrm>
              <a:off x="7067550" y="1752600"/>
              <a:ext cx="4495800" cy="4495800"/>
            </a:xfrm>
            <a:prstGeom prst="ellipse">
              <a:avLst/>
            </a:prstGeom>
            <a:noFill/>
            <a:ln w="19050">
              <a:solidFill>
                <a:srgbClr val="CC6508"/>
              </a:solidFill>
              <a:prstDash val="lgDash"/>
            </a:ln>
          </p:spPr>
        </p:sp>
        <p:sp>
          <p:nvSpPr>
            <p:cNvPr id="8" name="TextBox 8"/>
            <p:cNvSpPr txBox="1"/>
            <p:nvPr/>
          </p:nvSpPr>
          <p:spPr>
            <a:xfrm>
              <a:off x="8681585" y="2081212"/>
              <a:ext cx="1267730" cy="440055"/>
            </a:xfrm>
            <a:prstGeom prst="rect">
              <a:avLst/>
            </a:prstGeom>
            <a:noFill/>
            <a:ln>
              <a:noFill/>
            </a:ln>
          </p:spPr>
          <p:txBody>
            <a:bodyPr wrap="square" lIns="0" tIns="0" rIns="0" bIns="0" anchor="t" anchorCtr="0">
              <a:spAutoFit/>
            </a:bodyPr>
            <a:lstStyle/>
            <a:p>
              <a:pPr algn="ctr"/>
              <a:r>
                <a:rPr lang="en" sz="2250" b="1" dirty="0">
                  <a:solidFill>
                    <a:srgbClr val="A94E00"/>
                  </a:solidFill>
                  <a:latin typeface="Baloo 2"/>
                  <a:ea typeface="Baloo 2"/>
                  <a:cs typeface="Baloo 2"/>
                </a:rPr>
                <a:t>CEMAC</a:t>
              </a:r>
            </a:p>
          </p:txBody>
        </p:sp>
        <p:sp>
          <p:nvSpPr>
            <p:cNvPr id="9" name="TextBox 9"/>
            <p:cNvSpPr txBox="1"/>
            <p:nvPr/>
          </p:nvSpPr>
          <p:spPr>
            <a:xfrm>
              <a:off x="8026724" y="2450306"/>
              <a:ext cx="2577452" cy="220028"/>
            </a:xfrm>
            <a:prstGeom prst="rect">
              <a:avLst/>
            </a:prstGeom>
            <a:noFill/>
            <a:ln>
              <a:noFill/>
            </a:ln>
          </p:spPr>
          <p:txBody>
            <a:bodyPr wrap="square" lIns="0" tIns="0" rIns="0" bIns="0" anchor="t" anchorCtr="0">
              <a:spAutoFit/>
            </a:bodyPr>
            <a:lstStyle/>
            <a:p>
              <a:pPr algn="ctr"/>
              <a:r>
                <a:rPr lang="en" sz="1120" dirty="0">
                  <a:solidFill>
                    <a:srgbClr val="6E2E12"/>
                  </a:solidFill>
                  <a:latin typeface="+mn-lt"/>
                  <a:ea typeface="+mn-ea"/>
                  <a:cs typeface="+mn-cs"/>
                </a:rPr>
                <a:t>then neighbouring countries</a:t>
              </a:r>
            </a:p>
          </p:txBody>
        </p:sp>
        <p:sp>
          <p:nvSpPr>
            <p:cNvPr id="10" name="Ellipse 10"/>
            <p:cNvSpPr/>
            <p:nvPr/>
          </p:nvSpPr>
          <p:spPr>
            <a:xfrm>
              <a:off x="8058150" y="2914650"/>
              <a:ext cx="2514600" cy="2514600"/>
            </a:xfrm>
            <a:prstGeom prst="ellipse">
              <a:avLst/>
            </a:prstGeom>
            <a:solidFill>
              <a:srgbClr val="EC8236"/>
            </a:solidFill>
            <a:ln>
              <a:noFill/>
            </a:ln>
          </p:spPr>
        </p:sp>
        <p:sp>
          <p:nvSpPr>
            <p:cNvPr id="11" name="TextBox 11"/>
            <p:cNvSpPr txBox="1"/>
            <p:nvPr/>
          </p:nvSpPr>
          <p:spPr>
            <a:xfrm>
              <a:off x="8193305" y="3861435"/>
              <a:ext cx="2244291" cy="528066"/>
            </a:xfrm>
            <a:prstGeom prst="rect">
              <a:avLst/>
            </a:prstGeom>
            <a:noFill/>
            <a:ln>
              <a:noFill/>
            </a:ln>
          </p:spPr>
          <p:txBody>
            <a:bodyPr wrap="square" lIns="0" tIns="0" rIns="0" bIns="0" anchor="t" anchorCtr="0">
              <a:spAutoFit/>
            </a:bodyPr>
            <a:lstStyle/>
            <a:p>
              <a:pPr algn="ctr"/>
              <a:r>
                <a:rPr lang="en" sz="2700" b="1" dirty="0">
                  <a:solidFill>
                    <a:srgbClr val="172A4C"/>
                  </a:solidFill>
                  <a:latin typeface="Baloo 2"/>
                  <a:ea typeface="Baloo 2"/>
                  <a:cs typeface="Baloo 2"/>
                </a:rPr>
                <a:t>Cameroon</a:t>
              </a:r>
            </a:p>
          </p:txBody>
        </p:sp>
        <p:sp>
          <p:nvSpPr>
            <p:cNvPr id="12" name="TextBox 12"/>
            <p:cNvSpPr txBox="1"/>
            <p:nvPr/>
          </p:nvSpPr>
          <p:spPr>
            <a:xfrm>
              <a:off x="8036542" y="4301014"/>
              <a:ext cx="2557817" cy="249364"/>
            </a:xfrm>
            <a:prstGeom prst="rect">
              <a:avLst/>
            </a:prstGeom>
            <a:noFill/>
            <a:ln>
              <a:noFill/>
            </a:ln>
          </p:spPr>
          <p:txBody>
            <a:bodyPr wrap="square" lIns="0" tIns="0" rIns="0" bIns="0" anchor="t" anchorCtr="0">
              <a:spAutoFit/>
            </a:bodyPr>
            <a:lstStyle/>
            <a:p>
              <a:pPr algn="ctr"/>
              <a:r>
                <a:rPr lang="en" sz="1280" dirty="0">
                  <a:solidFill>
                    <a:srgbClr val="172A4C"/>
                  </a:solidFill>
                  <a:latin typeface="+mn-lt"/>
                  <a:ea typeface="+mn-ea"/>
                  <a:cs typeface="+mn-cs"/>
                </a:rPr>
                <a:t>national warning system</a:t>
              </a:r>
            </a:p>
          </p:txBody>
        </p:sp>
      </p:grpSp>
      <p:grpSp>
        <p:nvGrpSpPr>
          <p:cNvPr id="38" name="use-cases"/>
          <p:cNvGrpSpPr/>
          <p:nvPr/>
        </p:nvGrpSpPr>
        <p:grpSpPr>
          <a:xfrm>
            <a:off x="604266" y="1963102"/>
            <a:ext cx="4126855" cy="2315337"/>
            <a:chOff x="604266" y="1963102"/>
            <a:chExt cx="4126855" cy="2315337"/>
          </a:xfrm>
        </p:grpSpPr>
        <p:sp>
          <p:nvSpPr>
            <p:cNvPr id="14" name="TextBox 14"/>
            <p:cNvSpPr txBox="1"/>
            <p:nvPr/>
          </p:nvSpPr>
          <p:spPr>
            <a:xfrm>
              <a:off x="604266" y="1963102"/>
              <a:ext cx="1095802"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USE CASES</a:t>
              </a:r>
            </a:p>
          </p:txBody>
        </p:sp>
        <p:grpSp>
          <p:nvGrpSpPr>
            <p:cNvPr id="37" name="Group 37"/>
            <p:cNvGrpSpPr/>
            <p:nvPr/>
          </p:nvGrpSpPr>
          <p:grpSpPr>
            <a:xfrm>
              <a:off x="642411" y="2343150"/>
              <a:ext cx="4088710" cy="1935289"/>
              <a:chOff x="642411" y="2343150"/>
              <a:chExt cx="4088710" cy="1935289"/>
            </a:xfrm>
          </p:grpSpPr>
          <p:grpSp>
            <p:nvGrpSpPr>
              <p:cNvPr id="20" name="Group 20"/>
              <p:cNvGrpSpPr/>
              <p:nvPr/>
            </p:nvGrpSpPr>
            <p:grpSpPr>
              <a:xfrm>
                <a:off x="647700" y="2343150"/>
                <a:ext cx="228599" cy="228599"/>
                <a:chOff x="647700" y="2343150"/>
                <a:chExt cx="228599" cy="228599"/>
              </a:xfrm>
            </p:grpSpPr>
            <p:sp>
              <p:nvSpPr>
                <p:cNvPr id="15" name="Freeform 15"/>
                <p:cNvSpPr/>
                <p:nvPr/>
              </p:nvSpPr>
              <p:spPr>
                <a:xfrm>
                  <a:off x="647700" y="234315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CC6508"/>
                  </a:solidFill>
                </a:ln>
              </p:spPr>
            </p:sp>
            <p:sp>
              <p:nvSpPr>
                <p:cNvPr id="16" name="Freeform 16"/>
                <p:cNvSpPr/>
                <p:nvPr/>
              </p:nvSpPr>
              <p:spPr>
                <a:xfrm>
                  <a:off x="723900" y="2432050"/>
                  <a:ext cx="9525" cy="9525"/>
                </a:xfrm>
                <a:custGeom>
                  <a:avLst/>
                  <a:gdLst/>
                  <a:ahLst/>
                  <a:cxnLst/>
                  <a:rect l="l" t="t" r="r" b="b"/>
                  <a:pathLst>
                    <a:path w="9525" h="9525">
                      <a:moveTo>
                        <a:pt x="0" y="0"/>
                      </a:moveTo>
                      <a:lnTo>
                        <a:pt x="127" y="0"/>
                      </a:lnTo>
                    </a:path>
                  </a:pathLst>
                </a:custGeom>
                <a:noFill/>
                <a:ln w="25400">
                  <a:solidFill>
                    <a:srgbClr val="CC6508"/>
                  </a:solidFill>
                </a:ln>
              </p:spPr>
            </p:sp>
            <p:sp>
              <p:nvSpPr>
                <p:cNvPr id="17" name="Freeform 17"/>
                <p:cNvSpPr/>
                <p:nvPr/>
              </p:nvSpPr>
              <p:spPr>
                <a:xfrm>
                  <a:off x="800100" y="2432050"/>
                  <a:ext cx="9525" cy="9525"/>
                </a:xfrm>
                <a:custGeom>
                  <a:avLst/>
                  <a:gdLst/>
                  <a:ahLst/>
                  <a:cxnLst/>
                  <a:rect l="l" t="t" r="r" b="b"/>
                  <a:pathLst>
                    <a:path w="9525" h="9525">
                      <a:moveTo>
                        <a:pt x="0" y="0"/>
                      </a:moveTo>
                      <a:lnTo>
                        <a:pt x="127" y="0"/>
                      </a:lnTo>
                    </a:path>
                  </a:pathLst>
                </a:custGeom>
                <a:noFill/>
                <a:ln w="25400">
                  <a:solidFill>
                    <a:srgbClr val="CC6508"/>
                  </a:solidFill>
                </a:ln>
              </p:spPr>
            </p:sp>
            <p:sp>
              <p:nvSpPr>
                <p:cNvPr id="18" name="Freeform 18"/>
                <p:cNvSpPr/>
                <p:nvPr/>
              </p:nvSpPr>
              <p:spPr>
                <a:xfrm>
                  <a:off x="730250" y="2495550"/>
                  <a:ext cx="63500" cy="13341"/>
                </a:xfrm>
                <a:custGeom>
                  <a:avLst/>
                  <a:gdLst/>
                  <a:ahLst/>
                  <a:cxnLst/>
                  <a:rect l="l" t="t" r="r" b="b"/>
                  <a:pathLst>
                    <a:path w="63500" h="13341">
                      <a:moveTo>
                        <a:pt x="0" y="0"/>
                      </a:moveTo>
                      <a:cubicBezTo>
                        <a:pt x="8361" y="8533"/>
                        <a:pt x="19804" y="13341"/>
                        <a:pt x="31750" y="13341"/>
                      </a:cubicBezTo>
                      <a:cubicBezTo>
                        <a:pt x="43696" y="13341"/>
                        <a:pt x="55139" y="8533"/>
                        <a:pt x="63500" y="0"/>
                      </a:cubicBezTo>
                    </a:path>
                  </a:pathLst>
                </a:custGeom>
                <a:noFill/>
                <a:ln w="25400">
                  <a:solidFill>
                    <a:srgbClr val="CC6508"/>
                  </a:solidFill>
                </a:ln>
              </p:spPr>
            </p:sp>
            <p:sp>
              <p:nvSpPr>
                <p:cNvPr id="19" name="Freeform 19"/>
                <p:cNvSpPr/>
                <p:nvPr/>
              </p:nvSpPr>
              <p:spPr>
                <a:xfrm>
                  <a:off x="736600" y="2343150"/>
                  <a:ext cx="25400" cy="50800"/>
                </a:xfrm>
                <a:custGeom>
                  <a:avLst/>
                  <a:gdLst/>
                  <a:ahLst/>
                  <a:cxnLst/>
                  <a:rect l="l" t="t" r="r" b="b"/>
                  <a:pathLst>
                    <a:path w="25400" h="50800">
                      <a:moveTo>
                        <a:pt x="25400" y="0"/>
                      </a:moveTo>
                      <a:cubicBezTo>
                        <a:pt x="11372" y="0"/>
                        <a:pt x="0" y="11372"/>
                        <a:pt x="0" y="25400"/>
                      </a:cubicBezTo>
                      <a:cubicBezTo>
                        <a:pt x="0" y="39428"/>
                        <a:pt x="11372" y="50800"/>
                        <a:pt x="25400" y="50800"/>
                      </a:cubicBezTo>
                    </a:path>
                  </a:pathLst>
                </a:custGeom>
                <a:noFill/>
                <a:ln w="25400">
                  <a:solidFill>
                    <a:srgbClr val="CC6508"/>
                  </a:solidFill>
                </a:ln>
              </p:spPr>
            </p:sp>
          </p:grpSp>
          <p:sp>
            <p:nvSpPr>
              <p:cNvPr id="21" name="TextBox 21"/>
              <p:cNvSpPr txBox="1"/>
              <p:nvPr/>
            </p:nvSpPr>
            <p:spPr>
              <a:xfrm>
                <a:off x="1058418" y="2355532"/>
                <a:ext cx="4590878" cy="322707"/>
              </a:xfrm>
              <a:prstGeom prst="rect">
                <a:avLst/>
              </a:prstGeom>
              <a:noFill/>
              <a:ln>
                <a:noFill/>
              </a:ln>
            </p:spPr>
            <p:txBody>
              <a:bodyPr wrap="square" lIns="0" tIns="0" rIns="0" bIns="0" anchor="t" anchorCtr="0">
                <a:spAutoFit/>
              </a:bodyPr>
              <a:lstStyle/>
              <a:p>
                <a:pPr algn="l"/>
                <a:r>
                  <a:rPr lang="en" sz="1650" dirty="0">
                    <a:solidFill>
                      <a:srgbClr val="1F3864"/>
                    </a:solidFill>
                    <a:latin typeface="+mn-lt"/>
                    <a:ea typeface="+mn-ea"/>
                    <a:cs typeface="+mn-cs"/>
                  </a:rPr>
                  <a:t>AMBER alerts for missing children</a:t>
                </a:r>
              </a:p>
            </p:txBody>
          </p:sp>
          <p:grpSp>
            <p:nvGrpSpPr>
              <p:cNvPr id="27" name="Group 27"/>
              <p:cNvGrpSpPr/>
              <p:nvPr/>
            </p:nvGrpSpPr>
            <p:grpSpPr>
              <a:xfrm>
                <a:off x="660400" y="2889250"/>
                <a:ext cx="203199" cy="203199"/>
                <a:chOff x="660400" y="2889250"/>
                <a:chExt cx="203199" cy="203199"/>
              </a:xfrm>
            </p:grpSpPr>
            <p:sp>
              <p:nvSpPr>
                <p:cNvPr id="22" name="Freeform 22"/>
                <p:cNvSpPr/>
                <p:nvPr/>
              </p:nvSpPr>
              <p:spPr>
                <a:xfrm>
                  <a:off x="673100" y="2901950"/>
                  <a:ext cx="50800" cy="38100"/>
                </a:xfrm>
                <a:custGeom>
                  <a:avLst/>
                  <a:gdLst/>
                  <a:ahLst/>
                  <a:cxnLst/>
                  <a:rect l="l" t="t" r="r" b="b"/>
                  <a:pathLst>
                    <a:path w="50800" h="38100">
                      <a:moveTo>
                        <a:pt x="50800" y="38100"/>
                      </a:moveTo>
                      <a:lnTo>
                        <a:pt x="50800" y="25400"/>
                      </a:lnTo>
                      <a:cubicBezTo>
                        <a:pt x="50800" y="11372"/>
                        <a:pt x="39428" y="0"/>
                        <a:pt x="25400" y="0"/>
                      </a:cubicBezTo>
                      <a:cubicBezTo>
                        <a:pt x="11372" y="0"/>
                        <a:pt x="0" y="11372"/>
                        <a:pt x="0" y="25400"/>
                      </a:cubicBezTo>
                    </a:path>
                  </a:pathLst>
                </a:custGeom>
                <a:noFill/>
                <a:ln w="25400">
                  <a:solidFill>
                    <a:srgbClr val="CC6508"/>
                  </a:solidFill>
                </a:ln>
              </p:spPr>
            </p:sp>
            <p:sp>
              <p:nvSpPr>
                <p:cNvPr id="23" name="Freeform 23"/>
                <p:cNvSpPr/>
                <p:nvPr/>
              </p:nvSpPr>
              <p:spPr>
                <a:xfrm>
                  <a:off x="800100" y="2901950"/>
                  <a:ext cx="50800" cy="38100"/>
                </a:xfrm>
                <a:custGeom>
                  <a:avLst/>
                  <a:gdLst/>
                  <a:ahLst/>
                  <a:cxnLst/>
                  <a:rect l="l" t="t" r="r" b="b"/>
                  <a:pathLst>
                    <a:path w="50800" h="38100">
                      <a:moveTo>
                        <a:pt x="0" y="38100"/>
                      </a:moveTo>
                      <a:lnTo>
                        <a:pt x="0" y="25400"/>
                      </a:lnTo>
                      <a:cubicBezTo>
                        <a:pt x="0" y="11372"/>
                        <a:pt x="11372" y="0"/>
                        <a:pt x="25400" y="0"/>
                      </a:cubicBezTo>
                      <a:cubicBezTo>
                        <a:pt x="39428" y="0"/>
                        <a:pt x="50800" y="11372"/>
                        <a:pt x="50800" y="25400"/>
                      </a:cubicBezTo>
                    </a:path>
                  </a:pathLst>
                </a:custGeom>
                <a:noFill/>
                <a:ln w="25400">
                  <a:solidFill>
                    <a:srgbClr val="CC6508"/>
                  </a:solidFill>
                </a:ln>
              </p:spPr>
            </p:sp>
            <p:sp>
              <p:nvSpPr>
                <p:cNvPr id="24" name="Freeform 24"/>
                <p:cNvSpPr/>
                <p:nvPr/>
              </p:nvSpPr>
              <p:spPr>
                <a:xfrm>
                  <a:off x="660400" y="2978148"/>
                  <a:ext cx="203199" cy="114301"/>
                </a:xfrm>
                <a:custGeom>
                  <a:avLst/>
                  <a:gdLst/>
                  <a:ahLst/>
                  <a:cxnLst/>
                  <a:rect l="l" t="t" r="r" b="b"/>
                  <a:pathLst>
                    <a:path w="203199" h="114301">
                      <a:moveTo>
                        <a:pt x="0" y="114301"/>
                      </a:moveTo>
                      <a:lnTo>
                        <a:pt x="44094" y="15089"/>
                      </a:lnTo>
                      <a:cubicBezTo>
                        <a:pt x="48171" y="5913"/>
                        <a:pt x="57269" y="0"/>
                        <a:pt x="67310" y="1"/>
                      </a:cubicBezTo>
                      <a:lnTo>
                        <a:pt x="135890" y="1"/>
                      </a:lnTo>
                      <a:cubicBezTo>
                        <a:pt x="145930" y="0"/>
                        <a:pt x="155029" y="5913"/>
                        <a:pt x="159105" y="15089"/>
                      </a:cubicBezTo>
                      <a:lnTo>
                        <a:pt x="203199" y="114301"/>
                      </a:lnTo>
                    </a:path>
                  </a:pathLst>
                </a:custGeom>
                <a:noFill/>
                <a:ln w="25400">
                  <a:solidFill>
                    <a:srgbClr val="CC6508"/>
                  </a:solidFill>
                </a:ln>
              </p:spPr>
            </p:sp>
            <p:sp>
              <p:nvSpPr>
                <p:cNvPr id="25" name="Freeform 25"/>
                <p:cNvSpPr/>
                <p:nvPr/>
              </p:nvSpPr>
              <p:spPr>
                <a:xfrm>
                  <a:off x="688238" y="3028835"/>
                  <a:ext cx="147485" cy="12903"/>
                </a:xfrm>
                <a:custGeom>
                  <a:avLst/>
                  <a:gdLst/>
                  <a:ahLst/>
                  <a:cxnLst/>
                  <a:rect l="l" t="t" r="r" b="b"/>
                  <a:pathLst>
                    <a:path w="147485" h="12903">
                      <a:moveTo>
                        <a:pt x="0" y="927"/>
                      </a:moveTo>
                      <a:cubicBezTo>
                        <a:pt x="1974" y="431"/>
                        <a:pt x="3998" y="158"/>
                        <a:pt x="6032" y="114"/>
                      </a:cubicBezTo>
                      <a:cubicBezTo>
                        <a:pt x="12725" y="0"/>
                        <a:pt x="19063" y="2375"/>
                        <a:pt x="22962" y="6464"/>
                      </a:cubicBezTo>
                      <a:cubicBezTo>
                        <a:pt x="26860" y="10528"/>
                        <a:pt x="33198" y="12903"/>
                        <a:pt x="39891" y="12814"/>
                      </a:cubicBezTo>
                      <a:cubicBezTo>
                        <a:pt x="46583" y="12903"/>
                        <a:pt x="52921" y="10528"/>
                        <a:pt x="56832" y="6464"/>
                      </a:cubicBezTo>
                      <a:cubicBezTo>
                        <a:pt x="60731" y="2375"/>
                        <a:pt x="67069" y="0"/>
                        <a:pt x="73761" y="114"/>
                      </a:cubicBezTo>
                      <a:cubicBezTo>
                        <a:pt x="80454" y="0"/>
                        <a:pt x="86792" y="2375"/>
                        <a:pt x="90690" y="6464"/>
                      </a:cubicBezTo>
                      <a:cubicBezTo>
                        <a:pt x="94602" y="10528"/>
                        <a:pt x="100939" y="12903"/>
                        <a:pt x="107632" y="12814"/>
                      </a:cubicBezTo>
                      <a:cubicBezTo>
                        <a:pt x="114325" y="12903"/>
                        <a:pt x="120662" y="10528"/>
                        <a:pt x="124561" y="6464"/>
                      </a:cubicBezTo>
                      <a:cubicBezTo>
                        <a:pt x="128460" y="2375"/>
                        <a:pt x="134797" y="0"/>
                        <a:pt x="141490" y="114"/>
                      </a:cubicBezTo>
                      <a:cubicBezTo>
                        <a:pt x="143535" y="152"/>
                        <a:pt x="145554" y="432"/>
                        <a:pt x="147485" y="927"/>
                      </a:cubicBezTo>
                    </a:path>
                  </a:pathLst>
                </a:custGeom>
                <a:noFill/>
                <a:ln w="25400">
                  <a:solidFill>
                    <a:srgbClr val="CC6508"/>
                  </a:solidFill>
                </a:ln>
              </p:spPr>
            </p:sp>
            <p:sp>
              <p:nvSpPr>
                <p:cNvPr id="26" name="Freeform 26"/>
                <p:cNvSpPr/>
                <p:nvPr/>
              </p:nvSpPr>
              <p:spPr>
                <a:xfrm>
                  <a:off x="762000" y="2889250"/>
                  <a:ext cx="9525" cy="50800"/>
                </a:xfrm>
                <a:custGeom>
                  <a:avLst/>
                  <a:gdLst/>
                  <a:ahLst/>
                  <a:cxnLst/>
                  <a:rect l="l" t="t" r="r" b="b"/>
                  <a:pathLst>
                    <a:path w="9525" h="50800">
                      <a:moveTo>
                        <a:pt x="0" y="50800"/>
                      </a:moveTo>
                      <a:lnTo>
                        <a:pt x="0" y="0"/>
                      </a:lnTo>
                    </a:path>
                  </a:pathLst>
                </a:custGeom>
                <a:noFill/>
                <a:ln w="25400">
                  <a:solidFill>
                    <a:srgbClr val="CC6508"/>
                  </a:solidFill>
                </a:ln>
              </p:spPr>
            </p:sp>
          </p:grpSp>
          <p:sp>
            <p:nvSpPr>
              <p:cNvPr id="28" name="TextBox 28"/>
              <p:cNvSpPr txBox="1"/>
              <p:nvPr/>
            </p:nvSpPr>
            <p:spPr>
              <a:xfrm>
                <a:off x="1058418" y="2888932"/>
                <a:ext cx="4323147" cy="322707"/>
              </a:xfrm>
              <a:prstGeom prst="rect">
                <a:avLst/>
              </a:prstGeom>
              <a:noFill/>
              <a:ln>
                <a:noFill/>
              </a:ln>
            </p:spPr>
            <p:txBody>
              <a:bodyPr wrap="square" lIns="0" tIns="0" rIns="0" bIns="0" anchor="t" anchorCtr="0">
                <a:spAutoFit/>
              </a:bodyPr>
              <a:lstStyle/>
              <a:p>
                <a:pPr algn="l"/>
                <a:r>
                  <a:rPr lang="en" sz="1650" dirty="0">
                    <a:solidFill>
                      <a:srgbClr val="1F3864"/>
                    </a:solidFill>
                    <a:latin typeface="+mn-lt"/>
                    <a:ea typeface="+mn-ea"/>
                    <a:cs typeface="+mn-cs"/>
                  </a:rPr>
                  <a:t>Mt Cameroon, Far-North floods</a:t>
                </a:r>
              </a:p>
            </p:txBody>
          </p:sp>
          <p:sp>
            <p:nvSpPr>
              <p:cNvPr id="29" name="Freeform 29"/>
              <p:cNvSpPr/>
              <p:nvPr/>
            </p:nvSpPr>
            <p:spPr>
              <a:xfrm>
                <a:off x="642411" y="3409950"/>
                <a:ext cx="239177" cy="228599"/>
              </a:xfrm>
              <a:custGeom>
                <a:avLst/>
                <a:gdLst/>
                <a:ahLst/>
                <a:cxnLst/>
                <a:rect l="l" t="t" r="r" b="b"/>
                <a:pathLst>
                  <a:path w="239177" h="228599">
                    <a:moveTo>
                      <a:pt x="119589" y="0"/>
                    </a:moveTo>
                    <a:cubicBezTo>
                      <a:pt x="149254" y="26245"/>
                      <a:pt x="187971" y="39910"/>
                      <a:pt x="227538" y="38100"/>
                    </a:cubicBezTo>
                    <a:cubicBezTo>
                      <a:pt x="239177" y="77692"/>
                      <a:pt x="234262" y="120312"/>
                      <a:pt x="213916" y="156216"/>
                    </a:cubicBezTo>
                    <a:cubicBezTo>
                      <a:pt x="193571" y="192120"/>
                      <a:pt x="159534" y="218238"/>
                      <a:pt x="119589" y="228599"/>
                    </a:cubicBezTo>
                    <a:cubicBezTo>
                      <a:pt x="79643" y="218238"/>
                      <a:pt x="45606" y="192120"/>
                      <a:pt x="25261" y="156216"/>
                    </a:cubicBezTo>
                    <a:cubicBezTo>
                      <a:pt x="4915" y="120312"/>
                      <a:pt x="0" y="77692"/>
                      <a:pt x="11639" y="38100"/>
                    </a:cubicBezTo>
                    <a:cubicBezTo>
                      <a:pt x="51206" y="39910"/>
                      <a:pt x="89924" y="26245"/>
                      <a:pt x="119589" y="0"/>
                    </a:cubicBezTo>
                  </a:path>
                </a:pathLst>
              </a:custGeom>
              <a:noFill/>
              <a:ln w="25400">
                <a:solidFill>
                  <a:srgbClr val="CC6508"/>
                </a:solidFill>
              </a:ln>
            </p:spPr>
          </p:sp>
          <p:sp>
            <p:nvSpPr>
              <p:cNvPr id="30" name="TextBox 30"/>
              <p:cNvSpPr txBox="1"/>
              <p:nvPr/>
            </p:nvSpPr>
            <p:spPr>
              <a:xfrm>
                <a:off x="1058418" y="3422332"/>
                <a:ext cx="2500301" cy="322707"/>
              </a:xfrm>
              <a:prstGeom prst="rect">
                <a:avLst/>
              </a:prstGeom>
              <a:noFill/>
              <a:ln>
                <a:noFill/>
              </a:ln>
            </p:spPr>
            <p:txBody>
              <a:bodyPr wrap="square" lIns="0" tIns="0" rIns="0" bIns="0" anchor="t" anchorCtr="0">
                <a:spAutoFit/>
              </a:bodyPr>
              <a:lstStyle/>
              <a:p>
                <a:pPr algn="l"/>
                <a:r>
                  <a:rPr lang="en" sz="1650" dirty="0">
                    <a:solidFill>
                      <a:srgbClr val="1F3864"/>
                    </a:solidFill>
                    <a:latin typeface="+mn-lt"/>
                    <a:ea typeface="+mn-ea"/>
                    <a:cs typeface="+mn-cs"/>
                  </a:rPr>
                  <a:t>Security incidents</a:t>
                </a:r>
              </a:p>
            </p:txBody>
          </p:sp>
          <p:grpSp>
            <p:nvGrpSpPr>
              <p:cNvPr id="35" name="Group 35"/>
              <p:cNvGrpSpPr/>
              <p:nvPr/>
            </p:nvGrpSpPr>
            <p:grpSpPr>
              <a:xfrm>
                <a:off x="660400" y="3956050"/>
                <a:ext cx="203199" cy="203200"/>
                <a:chOff x="660400" y="3956050"/>
                <a:chExt cx="203199" cy="203200"/>
              </a:xfrm>
            </p:grpSpPr>
            <p:sp>
              <p:nvSpPr>
                <p:cNvPr id="31" name="Freeform 31"/>
                <p:cNvSpPr/>
                <p:nvPr/>
              </p:nvSpPr>
              <p:spPr>
                <a:xfrm>
                  <a:off x="711200" y="3956050"/>
                  <a:ext cx="101600" cy="50800"/>
                </a:xfrm>
                <a:custGeom>
                  <a:avLst/>
                  <a:gdLst/>
                  <a:ahLst/>
                  <a:cxnLst/>
                  <a:rect l="l" t="t" r="r" b="b"/>
                  <a:pathLst>
                    <a:path w="101600" h="50800">
                      <a:moveTo>
                        <a:pt x="0" y="50800"/>
                      </a:moveTo>
                      <a:lnTo>
                        <a:pt x="0" y="25400"/>
                      </a:lnTo>
                      <a:cubicBezTo>
                        <a:pt x="0" y="11372"/>
                        <a:pt x="11372" y="0"/>
                        <a:pt x="25400" y="0"/>
                      </a:cubicBezTo>
                      <a:lnTo>
                        <a:pt x="76200" y="0"/>
                      </a:lnTo>
                      <a:cubicBezTo>
                        <a:pt x="90228" y="0"/>
                        <a:pt x="101600" y="11372"/>
                        <a:pt x="101600" y="25400"/>
                      </a:cubicBezTo>
                      <a:lnTo>
                        <a:pt x="101600" y="50800"/>
                      </a:lnTo>
                    </a:path>
                  </a:pathLst>
                </a:custGeom>
                <a:noFill/>
                <a:ln w="25400">
                  <a:solidFill>
                    <a:srgbClr val="CC6508"/>
                  </a:solidFill>
                </a:ln>
              </p:spPr>
            </p:sp>
            <p:sp>
              <p:nvSpPr>
                <p:cNvPr id="32" name="Freeform 32"/>
                <p:cNvSpPr/>
                <p:nvPr/>
              </p:nvSpPr>
              <p:spPr>
                <a:xfrm>
                  <a:off x="660400" y="4006850"/>
                  <a:ext cx="203199" cy="152400"/>
                </a:xfrm>
                <a:custGeom>
                  <a:avLst/>
                  <a:gdLst/>
                  <a:ahLst/>
                  <a:cxnLst/>
                  <a:rect l="l" t="t" r="r" b="b"/>
                  <a:pathLst>
                    <a:path w="203199" h="152400">
                      <a:moveTo>
                        <a:pt x="0" y="25400"/>
                      </a:moveTo>
                      <a:cubicBezTo>
                        <a:pt x="0" y="11372"/>
                        <a:pt x="11372" y="0"/>
                        <a:pt x="25400" y="0"/>
                      </a:cubicBezTo>
                      <a:lnTo>
                        <a:pt x="177800" y="0"/>
                      </a:lnTo>
                      <a:cubicBezTo>
                        <a:pt x="191828" y="0"/>
                        <a:pt x="203199" y="11372"/>
                        <a:pt x="203199" y="25400"/>
                      </a:cubicBezTo>
                      <a:lnTo>
                        <a:pt x="203199" y="127000"/>
                      </a:lnTo>
                      <a:cubicBezTo>
                        <a:pt x="203199" y="141028"/>
                        <a:pt x="191828" y="152400"/>
                        <a:pt x="177800" y="152400"/>
                      </a:cubicBezTo>
                      <a:lnTo>
                        <a:pt x="25400" y="152400"/>
                      </a:lnTo>
                      <a:cubicBezTo>
                        <a:pt x="11372" y="152400"/>
                        <a:pt x="0" y="141028"/>
                        <a:pt x="0" y="127000"/>
                      </a:cubicBezTo>
                      <a:lnTo>
                        <a:pt x="0" y="25400"/>
                      </a:lnTo>
                    </a:path>
                  </a:pathLst>
                </a:custGeom>
                <a:noFill/>
                <a:ln w="25400">
                  <a:solidFill>
                    <a:srgbClr val="CC6508"/>
                  </a:solidFill>
                </a:ln>
              </p:spPr>
            </p:sp>
            <p:sp>
              <p:nvSpPr>
                <p:cNvPr id="33" name="Freeform 33"/>
                <p:cNvSpPr/>
                <p:nvPr/>
              </p:nvSpPr>
              <p:spPr>
                <a:xfrm>
                  <a:off x="736600" y="4083050"/>
                  <a:ext cx="50800" cy="9525"/>
                </a:xfrm>
                <a:custGeom>
                  <a:avLst/>
                  <a:gdLst/>
                  <a:ahLst/>
                  <a:cxnLst/>
                  <a:rect l="l" t="t" r="r" b="b"/>
                  <a:pathLst>
                    <a:path w="50800" h="9525">
                      <a:moveTo>
                        <a:pt x="0" y="0"/>
                      </a:moveTo>
                      <a:lnTo>
                        <a:pt x="50800" y="0"/>
                      </a:lnTo>
                    </a:path>
                  </a:pathLst>
                </a:custGeom>
                <a:noFill/>
                <a:ln w="25400">
                  <a:solidFill>
                    <a:srgbClr val="CC6508"/>
                  </a:solidFill>
                </a:ln>
              </p:spPr>
            </p:sp>
            <p:sp>
              <p:nvSpPr>
                <p:cNvPr id="34" name="Freeform 34"/>
                <p:cNvSpPr/>
                <p:nvPr/>
              </p:nvSpPr>
              <p:spPr>
                <a:xfrm>
                  <a:off x="762000" y="4057650"/>
                  <a:ext cx="9525" cy="50800"/>
                </a:xfrm>
                <a:custGeom>
                  <a:avLst/>
                  <a:gdLst/>
                  <a:ahLst/>
                  <a:cxnLst/>
                  <a:rect l="l" t="t" r="r" b="b"/>
                  <a:pathLst>
                    <a:path w="9525" h="50800">
                      <a:moveTo>
                        <a:pt x="0" y="0"/>
                      </a:moveTo>
                      <a:lnTo>
                        <a:pt x="0" y="50800"/>
                      </a:lnTo>
                    </a:path>
                  </a:pathLst>
                </a:custGeom>
                <a:noFill/>
                <a:ln w="25400">
                  <a:solidFill>
                    <a:srgbClr val="CC6508"/>
                  </a:solidFill>
                </a:ln>
              </p:spPr>
            </p:sp>
          </p:grpSp>
          <p:sp>
            <p:nvSpPr>
              <p:cNvPr id="36" name="TextBox 36"/>
              <p:cNvSpPr txBox="1"/>
              <p:nvPr/>
            </p:nvSpPr>
            <p:spPr>
              <a:xfrm>
                <a:off x="1058418" y="3955732"/>
                <a:ext cx="2625661" cy="322707"/>
              </a:xfrm>
              <a:prstGeom prst="rect">
                <a:avLst/>
              </a:prstGeom>
              <a:noFill/>
              <a:ln>
                <a:noFill/>
              </a:ln>
            </p:spPr>
            <p:txBody>
              <a:bodyPr wrap="square" lIns="0" tIns="0" rIns="0" bIns="0" anchor="t" anchorCtr="0">
                <a:spAutoFit/>
              </a:bodyPr>
              <a:lstStyle/>
              <a:p>
                <a:pPr algn="l"/>
                <a:r>
                  <a:rPr lang="en" sz="1650" dirty="0">
                    <a:solidFill>
                      <a:srgbClr val="1F3864"/>
                    </a:solidFill>
                    <a:latin typeface="+mn-lt"/>
                    <a:ea typeface="+mn-ea"/>
                    <a:cs typeface="+mn-cs"/>
                  </a:rPr>
                  <a:t>Health emergencies</a:t>
                </a:r>
              </a:p>
            </p:txBody>
          </p:sp>
        </p:grpSp>
      </p:grpSp>
      <p:grpSp>
        <p:nvGrpSpPr>
          <p:cNvPr id="47" name="customers"/>
          <p:cNvGrpSpPr/>
          <p:nvPr/>
        </p:nvGrpSpPr>
        <p:grpSpPr>
          <a:xfrm>
            <a:off x="604266" y="4934902"/>
            <a:ext cx="6025134" cy="818198"/>
            <a:chOff x="604266" y="4934902"/>
            <a:chExt cx="6025134" cy="818198"/>
          </a:xfrm>
        </p:grpSpPr>
        <p:sp>
          <p:nvSpPr>
            <p:cNvPr id="39" name="TextBox 39"/>
            <p:cNvSpPr txBox="1"/>
            <p:nvPr/>
          </p:nvSpPr>
          <p:spPr>
            <a:xfrm>
              <a:off x="604266" y="4934902"/>
              <a:ext cx="2047788"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TARGET CUSTOMERS</a:t>
              </a:r>
            </a:p>
          </p:txBody>
        </p:sp>
        <p:grpSp>
          <p:nvGrpSpPr>
            <p:cNvPr id="46" name="Group 46"/>
            <p:cNvGrpSpPr/>
            <p:nvPr/>
          </p:nvGrpSpPr>
          <p:grpSpPr>
            <a:xfrm>
              <a:off x="609600" y="5257800"/>
              <a:ext cx="6019800" cy="495300"/>
              <a:chOff x="609600" y="5257800"/>
              <a:chExt cx="6019800" cy="495300"/>
            </a:xfrm>
          </p:grpSpPr>
          <p:sp>
            <p:nvSpPr>
              <p:cNvPr id="40" name="Rectangle 40"/>
              <p:cNvSpPr/>
              <p:nvPr/>
            </p:nvSpPr>
            <p:spPr>
              <a:xfrm>
                <a:off x="609600" y="5257800"/>
                <a:ext cx="2857500" cy="495300"/>
              </a:xfrm>
              <a:prstGeom prst="roundRect">
                <a:avLst>
                  <a:gd name="adj" fmla="val 50000"/>
                </a:avLst>
              </a:prstGeom>
              <a:solidFill>
                <a:srgbClr val="FFFFFF"/>
              </a:solidFill>
              <a:ln w="19050">
                <a:solidFill>
                  <a:srgbClr val="1F3864"/>
                </a:solidFill>
              </a:ln>
            </p:spPr>
          </p:sp>
          <p:sp>
            <p:nvSpPr>
              <p:cNvPr id="41" name="TextBox 41"/>
              <p:cNvSpPr txBox="1"/>
              <p:nvPr/>
            </p:nvSpPr>
            <p:spPr>
              <a:xfrm>
                <a:off x="577672" y="5416868"/>
                <a:ext cx="2921357" cy="264033"/>
              </a:xfrm>
              <a:prstGeom prst="rect">
                <a:avLst/>
              </a:prstGeom>
              <a:noFill/>
              <a:ln>
                <a:noFill/>
              </a:ln>
            </p:spPr>
            <p:txBody>
              <a:bodyPr wrap="square" lIns="0" tIns="0" rIns="0" bIns="0" anchor="t" anchorCtr="0">
                <a:spAutoFit/>
              </a:bodyPr>
              <a:lstStyle/>
              <a:p>
                <a:pPr algn="ctr"/>
                <a:r>
                  <a:rPr lang="en" sz="1350" b="1" dirty="0">
                    <a:solidFill>
                      <a:srgbClr val="1F3864"/>
                    </a:solidFill>
                    <a:latin typeface="+mn-lt"/>
                    <a:ea typeface="+mn-ea"/>
                    <a:cs typeface="+mn-cs"/>
                  </a:rPr>
                  <a:t>MINAT · Protection Civile</a:t>
                </a:r>
              </a:p>
            </p:txBody>
          </p:sp>
          <p:sp>
            <p:nvSpPr>
              <p:cNvPr id="42" name="Rectangle 42"/>
              <p:cNvSpPr/>
              <p:nvPr/>
            </p:nvSpPr>
            <p:spPr>
              <a:xfrm>
                <a:off x="3619500" y="5257800"/>
                <a:ext cx="1524000" cy="495300"/>
              </a:xfrm>
              <a:prstGeom prst="roundRect">
                <a:avLst>
                  <a:gd name="adj" fmla="val 50000"/>
                </a:avLst>
              </a:prstGeom>
              <a:solidFill>
                <a:srgbClr val="FFFFFF"/>
              </a:solidFill>
              <a:ln w="19050">
                <a:solidFill>
                  <a:srgbClr val="1F3864"/>
                </a:solidFill>
              </a:ln>
            </p:spPr>
          </p:sp>
          <p:sp>
            <p:nvSpPr>
              <p:cNvPr id="43" name="TextBox 43"/>
              <p:cNvSpPr txBox="1"/>
              <p:nvPr/>
            </p:nvSpPr>
            <p:spPr>
              <a:xfrm>
                <a:off x="3821807" y="5416868"/>
                <a:ext cx="1119386" cy="264033"/>
              </a:xfrm>
              <a:prstGeom prst="rect">
                <a:avLst/>
              </a:prstGeom>
              <a:noFill/>
              <a:ln>
                <a:noFill/>
              </a:ln>
            </p:spPr>
            <p:txBody>
              <a:bodyPr wrap="square" lIns="0" tIns="0" rIns="0" bIns="0" anchor="t" anchorCtr="0">
                <a:spAutoFit/>
              </a:bodyPr>
              <a:lstStyle/>
              <a:p>
                <a:pPr algn="ctr"/>
                <a:r>
                  <a:rPr lang="en" sz="1350" b="1" dirty="0">
                    <a:solidFill>
                      <a:srgbClr val="1F3864"/>
                    </a:solidFill>
                    <a:latin typeface="+mn-lt"/>
                    <a:ea typeface="+mn-ea"/>
                    <a:cs typeface="+mn-cs"/>
                  </a:rPr>
                  <a:t>MINSANTE</a:t>
                </a:r>
              </a:p>
            </p:txBody>
          </p:sp>
          <p:sp>
            <p:nvSpPr>
              <p:cNvPr id="44" name="Rectangle 44"/>
              <p:cNvSpPr/>
              <p:nvPr/>
            </p:nvSpPr>
            <p:spPr>
              <a:xfrm>
                <a:off x="5295900" y="5257800"/>
                <a:ext cx="1333500" cy="495300"/>
              </a:xfrm>
              <a:prstGeom prst="roundRect">
                <a:avLst>
                  <a:gd name="adj" fmla="val 50000"/>
                </a:avLst>
              </a:prstGeom>
              <a:solidFill>
                <a:srgbClr val="FFFFFF"/>
              </a:solidFill>
              <a:ln w="19050">
                <a:solidFill>
                  <a:srgbClr val="1F3864"/>
                </a:solidFill>
              </a:ln>
            </p:spPr>
          </p:sp>
          <p:sp>
            <p:nvSpPr>
              <p:cNvPr id="45" name="TextBox 45"/>
              <p:cNvSpPr txBox="1"/>
              <p:nvPr/>
            </p:nvSpPr>
            <p:spPr>
              <a:xfrm>
                <a:off x="5513851" y="5416868"/>
                <a:ext cx="897598" cy="264033"/>
              </a:xfrm>
              <a:prstGeom prst="rect">
                <a:avLst/>
              </a:prstGeom>
              <a:noFill/>
              <a:ln>
                <a:noFill/>
              </a:ln>
            </p:spPr>
            <p:txBody>
              <a:bodyPr wrap="square" lIns="0" tIns="0" rIns="0" bIns="0" anchor="t" anchorCtr="0">
                <a:spAutoFit/>
              </a:bodyPr>
              <a:lstStyle/>
              <a:p>
                <a:pPr algn="ctr"/>
                <a:r>
                  <a:rPr lang="en" sz="1350" b="1" dirty="0">
                    <a:solidFill>
                      <a:srgbClr val="1F3864"/>
                    </a:solidFill>
                    <a:latin typeface="+mn-lt"/>
                    <a:ea typeface="+mn-ea"/>
                    <a:cs typeface="+mn-cs"/>
                  </a:rPr>
                  <a:t>MINDEF</a:t>
                </a:r>
              </a:p>
            </p:txBody>
          </p:sp>
        </p:grpSp>
      </p:grpSp>
      <p:grpSp>
        <p:nvGrpSpPr>
          <p:cNvPr id="51" name="footer"/>
          <p:cNvGrpSpPr/>
          <p:nvPr/>
        </p:nvGrpSpPr>
        <p:grpSpPr>
          <a:xfrm>
            <a:off x="604838" y="6551295"/>
            <a:ext cx="10982325" cy="176212"/>
            <a:chOff x="604838" y="6551295"/>
            <a:chExt cx="10982325" cy="176212"/>
          </a:xfrm>
        </p:grpSpPr>
        <p:sp>
          <p:nvSpPr>
            <p:cNvPr id="48" name="TextBox 48"/>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49" name="TextBox 49"/>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50"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8124457" cy="917734"/>
            <a:chOff x="594360" y="640556"/>
            <a:chExt cx="8124457" cy="917734"/>
          </a:xfrm>
        </p:grpSpPr>
        <p:sp>
          <p:nvSpPr>
            <p:cNvPr id="3" name="TextBox 3"/>
            <p:cNvSpPr txBox="1"/>
            <p:nvPr/>
          </p:nvSpPr>
          <p:spPr>
            <a:xfrm>
              <a:off x="603885" y="640556"/>
              <a:ext cx="2619483"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MARKET · TOTAL REACH</a:t>
              </a:r>
            </a:p>
          </p:txBody>
        </p:sp>
        <p:sp>
          <p:nvSpPr>
            <p:cNvPr id="4" name="TextBox 4"/>
            <p:cNvSpPr txBox="1"/>
            <p:nvPr/>
          </p:nvSpPr>
          <p:spPr>
            <a:xfrm>
              <a:off x="594360" y="971550"/>
              <a:ext cx="10155571"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31.5 M mobile subscriptions to protect</a:t>
              </a:r>
            </a:p>
          </p:txBody>
        </p:sp>
      </p:grpSp>
      <p:grpSp>
        <p:nvGrpSpPr>
          <p:cNvPr id="9" name="hero-number"/>
          <p:cNvGrpSpPr/>
          <p:nvPr/>
        </p:nvGrpSpPr>
        <p:grpSpPr>
          <a:xfrm>
            <a:off x="590550" y="2423160"/>
            <a:ext cx="4809576" cy="2057591"/>
            <a:chOff x="590550" y="2423160"/>
            <a:chExt cx="4809576" cy="2057591"/>
          </a:xfrm>
        </p:grpSpPr>
        <p:sp>
          <p:nvSpPr>
            <p:cNvPr id="6" name="TextBox 6"/>
            <p:cNvSpPr txBox="1"/>
            <p:nvPr/>
          </p:nvSpPr>
          <p:spPr>
            <a:xfrm>
              <a:off x="590550" y="2423160"/>
              <a:ext cx="6011970" cy="1962150"/>
            </a:xfrm>
            <a:prstGeom prst="rect">
              <a:avLst/>
            </a:prstGeom>
            <a:noFill/>
            <a:ln>
              <a:noFill/>
            </a:ln>
          </p:spPr>
          <p:txBody>
            <a:bodyPr wrap="square" lIns="0" tIns="0" rIns="0" bIns="0" anchor="t" anchorCtr="0">
              <a:spAutoFit/>
            </a:bodyPr>
            <a:lstStyle/>
            <a:p>
              <a:pPr algn="l"/>
              <a:r>
                <a:rPr lang="en" sz="10200" b="1" dirty="0">
                  <a:solidFill>
                    <a:srgbClr val="1F3864"/>
                  </a:solidFill>
                  <a:latin typeface="Baloo 2"/>
                  <a:ea typeface="Baloo 2"/>
                  <a:cs typeface="Baloo 2"/>
                </a:rPr>
                <a:t>31.5</a:t>
              </a:r>
              <a:r>
                <a:rPr lang="en" sz="10200" b="1" dirty="0">
                  <a:solidFill>
                    <a:srgbClr val="CC6508"/>
                  </a:solidFill>
                  <a:latin typeface="Baloo 2"/>
                  <a:ea typeface="Baloo 2"/>
                  <a:cs typeface="Baloo 2"/>
                </a:rPr>
                <a:t xml:space="preserve"> M</a:t>
              </a:r>
            </a:p>
          </p:txBody>
        </p:sp>
        <p:sp>
          <p:nvSpPr>
            <p:cNvPr id="7" name="TextBox 7"/>
            <p:cNvSpPr txBox="1"/>
            <p:nvPr/>
          </p:nvSpPr>
          <p:spPr>
            <a:xfrm>
              <a:off x="637794" y="3828098"/>
              <a:ext cx="4607187" cy="381381"/>
            </a:xfrm>
            <a:prstGeom prst="rect">
              <a:avLst/>
            </a:prstGeom>
            <a:noFill/>
            <a:ln>
              <a:noFill/>
            </a:ln>
          </p:spPr>
          <p:txBody>
            <a:bodyPr wrap="square" lIns="0" tIns="0" rIns="0" bIns="0" anchor="t" anchorCtr="0">
              <a:spAutoFit/>
            </a:bodyPr>
            <a:lstStyle/>
            <a:p>
              <a:pPr algn="l"/>
              <a:r>
                <a:rPr lang="en" sz="1950" b="1" dirty="0">
                  <a:solidFill>
                    <a:srgbClr val="1F3864"/>
                  </a:solidFill>
                  <a:latin typeface="+mn-lt"/>
                  <a:ea typeface="+mn-ea"/>
                  <a:cs typeface="+mn-cs"/>
                </a:rPr>
                <a:t>active mobile subscriptions</a:t>
              </a:r>
            </a:p>
          </p:txBody>
        </p:sp>
        <p:sp>
          <p:nvSpPr>
            <p:cNvPr id="8" name="TextBox 8"/>
            <p:cNvSpPr txBox="1"/>
            <p:nvPr/>
          </p:nvSpPr>
          <p:spPr>
            <a:xfrm>
              <a:off x="640842" y="4216718"/>
              <a:ext cx="1767301"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Cameroon, 2024</a:t>
              </a:r>
            </a:p>
          </p:txBody>
        </p:sp>
      </p:grpSp>
      <p:grpSp>
        <p:nvGrpSpPr>
          <p:cNvPr id="23" name="operator-bars"/>
          <p:cNvGrpSpPr/>
          <p:nvPr/>
        </p:nvGrpSpPr>
        <p:grpSpPr>
          <a:xfrm>
            <a:off x="6139386" y="2247900"/>
            <a:ext cx="5013722" cy="2628900"/>
            <a:chOff x="6139386" y="2247900"/>
            <a:chExt cx="5013722" cy="2628900"/>
          </a:xfrm>
        </p:grpSpPr>
        <p:grpSp>
          <p:nvGrpSpPr>
            <p:cNvPr id="22" name="operator-bars-chartArea"/>
            <p:cNvGrpSpPr/>
            <p:nvPr/>
          </p:nvGrpSpPr>
          <p:grpSpPr>
            <a:xfrm>
              <a:off x="6139386" y="2247900"/>
              <a:ext cx="5013722" cy="2628900"/>
              <a:chOff x="6139386" y="2247900"/>
              <a:chExt cx="5013722" cy="2628900"/>
            </a:xfrm>
          </p:grpSpPr>
          <p:sp>
            <p:nvSpPr>
              <p:cNvPr id="10" name="Line 10"/>
              <p:cNvSpPr/>
              <p:nvPr/>
            </p:nvSpPr>
            <p:spPr>
              <a:xfrm>
                <a:off x="7048500" y="2247900"/>
                <a:ext cx="9525" cy="2628900"/>
              </a:xfrm>
              <a:custGeom>
                <a:avLst/>
                <a:gdLst/>
                <a:ahLst/>
                <a:cxnLst/>
                <a:rect l="l" t="t" r="r" b="b"/>
                <a:pathLst>
                  <a:path w="9525" h="2628900">
                    <a:moveTo>
                      <a:pt x="0" y="0"/>
                    </a:moveTo>
                    <a:lnTo>
                      <a:pt x="0" y="2628900"/>
                    </a:lnTo>
                  </a:path>
                </a:pathLst>
              </a:custGeom>
              <a:noFill/>
              <a:ln w="19050">
                <a:solidFill>
                  <a:srgbClr val="1F3864"/>
                </a:solidFill>
              </a:ln>
            </p:spPr>
          </p:sp>
          <p:grpSp>
            <p:nvGrpSpPr>
              <p:cNvPr id="14" name="Group 14"/>
              <p:cNvGrpSpPr/>
              <p:nvPr/>
            </p:nvGrpSpPr>
            <p:grpSpPr>
              <a:xfrm>
                <a:off x="6139386" y="2533650"/>
                <a:ext cx="764334" cy="2084070"/>
                <a:chOff x="6139386" y="2533650"/>
                <a:chExt cx="764334" cy="2084070"/>
              </a:xfrm>
            </p:grpSpPr>
            <p:sp>
              <p:nvSpPr>
                <p:cNvPr id="11" name="TextBox 11"/>
                <p:cNvSpPr txBox="1"/>
                <p:nvPr/>
              </p:nvSpPr>
              <p:spPr>
                <a:xfrm>
                  <a:off x="5910786" y="2533650"/>
                  <a:ext cx="992934" cy="293370"/>
                </a:xfrm>
                <a:prstGeom prst="rect">
                  <a:avLst/>
                </a:prstGeom>
                <a:noFill/>
                <a:ln>
                  <a:noFill/>
                </a:ln>
              </p:spPr>
              <p:txBody>
                <a:bodyPr wrap="square" lIns="0" tIns="0" rIns="0" bIns="0" anchor="t" anchorCtr="0">
                  <a:spAutoFit/>
                </a:bodyPr>
                <a:lstStyle/>
                <a:p>
                  <a:pPr algn="r"/>
                  <a:r>
                    <a:rPr lang="en" sz="1500" b="1" dirty="0">
                      <a:solidFill>
                        <a:srgbClr val="1F3864"/>
                      </a:solidFill>
                      <a:latin typeface="+mn-lt"/>
                      <a:ea typeface="+mn-ea"/>
                      <a:cs typeface="+mn-cs"/>
                    </a:rPr>
                    <a:t>Orange</a:t>
                  </a:r>
                </a:p>
              </p:txBody>
            </p:sp>
            <p:sp>
              <p:nvSpPr>
                <p:cNvPr id="12" name="TextBox 12"/>
                <p:cNvSpPr txBox="1"/>
                <p:nvPr/>
              </p:nvSpPr>
              <p:spPr>
                <a:xfrm>
                  <a:off x="6245428" y="3429000"/>
                  <a:ext cx="658292" cy="293370"/>
                </a:xfrm>
                <a:prstGeom prst="rect">
                  <a:avLst/>
                </a:prstGeom>
                <a:noFill/>
                <a:ln>
                  <a:noFill/>
                </a:ln>
              </p:spPr>
              <p:txBody>
                <a:bodyPr wrap="square" lIns="0" tIns="0" rIns="0" bIns="0" anchor="t" anchorCtr="0">
                  <a:spAutoFit/>
                </a:bodyPr>
                <a:lstStyle/>
                <a:p>
                  <a:pPr algn="r"/>
                  <a:r>
                    <a:rPr lang="en" sz="1500" b="1" dirty="0">
                      <a:solidFill>
                        <a:srgbClr val="1F3864"/>
                      </a:solidFill>
                      <a:latin typeface="+mn-lt"/>
                      <a:ea typeface="+mn-ea"/>
                      <a:cs typeface="+mn-cs"/>
                    </a:rPr>
                    <a:t>MTN</a:t>
                  </a:r>
                </a:p>
              </p:txBody>
            </p:sp>
            <p:sp>
              <p:nvSpPr>
                <p:cNvPr id="13" name="TextBox 13"/>
                <p:cNvSpPr txBox="1"/>
                <p:nvPr/>
              </p:nvSpPr>
              <p:spPr>
                <a:xfrm>
                  <a:off x="5964293" y="4324350"/>
                  <a:ext cx="939427" cy="293370"/>
                </a:xfrm>
                <a:prstGeom prst="rect">
                  <a:avLst/>
                </a:prstGeom>
                <a:noFill/>
                <a:ln>
                  <a:noFill/>
                </a:ln>
              </p:spPr>
              <p:txBody>
                <a:bodyPr wrap="square" lIns="0" tIns="0" rIns="0" bIns="0" anchor="t" anchorCtr="0">
                  <a:spAutoFit/>
                </a:bodyPr>
                <a:lstStyle/>
                <a:p>
                  <a:pPr algn="r"/>
                  <a:r>
                    <a:rPr lang="en" sz="1500" b="1" dirty="0">
                      <a:solidFill>
                        <a:srgbClr val="1F3864"/>
                      </a:solidFill>
                      <a:latin typeface="+mn-lt"/>
                      <a:ea typeface="+mn-ea"/>
                      <a:cs typeface="+mn-cs"/>
                    </a:rPr>
                    <a:t>Camtel</a:t>
                  </a:r>
                </a:p>
              </p:txBody>
            </p:sp>
          </p:grpSp>
          <p:sp>
            <p:nvSpPr>
              <p:cNvPr id="15" name="Rectangle 15"/>
              <p:cNvSpPr/>
              <p:nvPr/>
            </p:nvSpPr>
            <p:spPr>
              <a:xfrm>
                <a:off x="7048500" y="2362200"/>
                <a:ext cx="4104608" cy="533400"/>
              </a:xfrm>
              <a:prstGeom prst="rect">
                <a:avLst/>
              </a:prstGeom>
              <a:solidFill>
                <a:srgbClr val="EC8236"/>
              </a:solidFill>
              <a:ln>
                <a:noFill/>
              </a:ln>
            </p:spPr>
          </p:sp>
          <p:sp>
            <p:nvSpPr>
              <p:cNvPr id="16" name="Rectangle 16"/>
              <p:cNvSpPr/>
              <p:nvPr/>
            </p:nvSpPr>
            <p:spPr>
              <a:xfrm>
                <a:off x="7048500" y="3257550"/>
                <a:ext cx="3601688" cy="533400"/>
              </a:xfrm>
              <a:prstGeom prst="rect">
                <a:avLst/>
              </a:prstGeom>
              <a:solidFill>
                <a:srgbClr val="1F3864"/>
              </a:solidFill>
              <a:ln>
                <a:noFill/>
              </a:ln>
            </p:spPr>
          </p:sp>
          <p:sp>
            <p:nvSpPr>
              <p:cNvPr id="17" name="Rectangle 17"/>
              <p:cNvSpPr/>
              <p:nvPr/>
            </p:nvSpPr>
            <p:spPr>
              <a:xfrm>
                <a:off x="7048500" y="4152900"/>
                <a:ext cx="544830" cy="533400"/>
              </a:xfrm>
              <a:prstGeom prst="rect">
                <a:avLst/>
              </a:prstGeom>
              <a:solidFill>
                <a:srgbClr val="8FA0C0"/>
              </a:solidFill>
              <a:ln>
                <a:noFill/>
              </a:ln>
            </p:spPr>
          </p:sp>
          <p:grpSp>
            <p:nvGrpSpPr>
              <p:cNvPr id="20" name="Group 20"/>
              <p:cNvGrpSpPr/>
              <p:nvPr/>
            </p:nvGrpSpPr>
            <p:grpSpPr>
              <a:xfrm>
                <a:off x="9551731" y="2526982"/>
                <a:ext cx="1448501" cy="1218057"/>
                <a:chOff x="9551731" y="2526982"/>
                <a:chExt cx="1448501" cy="1218057"/>
              </a:xfrm>
            </p:grpSpPr>
            <p:sp>
              <p:nvSpPr>
                <p:cNvPr id="18" name="TextBox 18"/>
                <p:cNvSpPr txBox="1"/>
                <p:nvPr/>
              </p:nvSpPr>
              <p:spPr>
                <a:xfrm>
                  <a:off x="9808731" y="2526982"/>
                  <a:ext cx="1191501" cy="322707"/>
                </a:xfrm>
                <a:prstGeom prst="rect">
                  <a:avLst/>
                </a:prstGeom>
                <a:noFill/>
                <a:ln>
                  <a:noFill/>
                </a:ln>
              </p:spPr>
              <p:txBody>
                <a:bodyPr wrap="square" lIns="0" tIns="0" rIns="0" bIns="0" anchor="t" anchorCtr="0">
                  <a:spAutoFit/>
                </a:bodyPr>
                <a:lstStyle/>
                <a:p>
                  <a:pPr algn="r"/>
                  <a:r>
                    <a:rPr lang="en" sz="1650" b="1" dirty="0">
                      <a:solidFill>
                        <a:srgbClr val="172A4C"/>
                      </a:solidFill>
                      <a:latin typeface="+mn-lt"/>
                      <a:ea typeface="+mn-ea"/>
                      <a:cs typeface="+mn-cs"/>
                    </a:rPr>
                    <a:t>15.67 M</a:t>
                  </a:r>
                </a:p>
              </p:txBody>
            </p:sp>
            <p:sp>
              <p:nvSpPr>
                <p:cNvPr id="19" name="TextBox 19"/>
                <p:cNvSpPr txBox="1"/>
                <p:nvPr/>
              </p:nvSpPr>
              <p:spPr>
                <a:xfrm>
                  <a:off x="9313431" y="3422332"/>
                  <a:ext cx="1191501" cy="322707"/>
                </a:xfrm>
                <a:prstGeom prst="rect">
                  <a:avLst/>
                </a:prstGeom>
                <a:noFill/>
                <a:ln>
                  <a:noFill/>
                </a:ln>
              </p:spPr>
              <p:txBody>
                <a:bodyPr wrap="square" lIns="0" tIns="0" rIns="0" bIns="0" anchor="t" anchorCtr="0">
                  <a:spAutoFit/>
                </a:bodyPr>
                <a:lstStyle/>
                <a:p>
                  <a:pPr algn="r"/>
                  <a:r>
                    <a:rPr lang="en" sz="1650" b="1" dirty="0">
                      <a:solidFill>
                        <a:srgbClr val="FFFFFF"/>
                      </a:solidFill>
                      <a:latin typeface="+mn-lt"/>
                      <a:ea typeface="+mn-ea"/>
                      <a:cs typeface="+mn-cs"/>
                    </a:rPr>
                    <a:t>13.75 M</a:t>
                  </a:r>
                </a:p>
              </p:txBody>
            </p:sp>
          </p:grpSp>
          <p:sp>
            <p:nvSpPr>
              <p:cNvPr id="21" name="TextBox 21"/>
              <p:cNvSpPr txBox="1"/>
              <p:nvPr/>
            </p:nvSpPr>
            <p:spPr>
              <a:xfrm>
                <a:off x="7735443" y="4317682"/>
                <a:ext cx="1046264"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2.08 M</a:t>
                </a:r>
              </a:p>
            </p:txBody>
          </p:sp>
        </p:grpSp>
      </p:grpSp>
      <p:grpSp>
        <p:nvGrpSpPr>
          <p:cNvPr id="26" name="source-note"/>
          <p:cNvGrpSpPr/>
          <p:nvPr/>
        </p:nvGrpSpPr>
        <p:grpSpPr>
          <a:xfrm>
            <a:off x="603885" y="5784056"/>
            <a:ext cx="4771016" cy="448628"/>
            <a:chOff x="603885" y="5784056"/>
            <a:chExt cx="4771016" cy="448628"/>
          </a:xfrm>
        </p:grpSpPr>
        <p:sp>
          <p:nvSpPr>
            <p:cNvPr id="24" name="TextBox 24"/>
            <p:cNvSpPr txBox="1"/>
            <p:nvPr/>
          </p:nvSpPr>
          <p:spPr>
            <a:xfrm>
              <a:off x="603885" y="5784056"/>
              <a:ext cx="5963770" cy="220028"/>
            </a:xfrm>
            <a:prstGeom prst="rect">
              <a:avLst/>
            </a:prstGeom>
            <a:noFill/>
            <a:ln>
              <a:noFill/>
            </a:ln>
          </p:spPr>
          <p:txBody>
            <a:bodyPr wrap="square" lIns="0" tIns="0" rIns="0" bIns="0" anchor="t" anchorCtr="0">
              <a:spAutoFit/>
            </a:bodyPr>
            <a:lstStyle/>
            <a:p>
              <a:pPr algn="l"/>
              <a:r>
                <a:rPr lang="en" sz="1120" dirty="0">
                  <a:solidFill>
                    <a:srgbClr val="5B6477"/>
                  </a:solidFill>
                  <a:latin typeface="+mn-lt"/>
                  <a:ea typeface="+mn-ea"/>
                  <a:cs typeface="+mn-cs"/>
                </a:rPr>
                <a:t>Source: ART Cameroon, 2024 data (TechAfrica News, Dec 2025).</a:t>
              </a:r>
            </a:p>
          </p:txBody>
        </p:sp>
        <p:sp>
          <p:nvSpPr>
            <p:cNvPr id="25" name="TextBox 25"/>
            <p:cNvSpPr txBox="1"/>
            <p:nvPr/>
          </p:nvSpPr>
          <p:spPr>
            <a:xfrm>
              <a:off x="603885" y="6012656"/>
              <a:ext cx="4890876" cy="220028"/>
            </a:xfrm>
            <a:prstGeom prst="rect">
              <a:avLst/>
            </a:prstGeom>
            <a:noFill/>
            <a:ln>
              <a:noFill/>
            </a:ln>
          </p:spPr>
          <p:txBody>
            <a:bodyPr wrap="square" lIns="0" tIns="0" rIns="0" bIns="0" anchor="t" anchorCtr="0">
              <a:spAutoFit/>
            </a:bodyPr>
            <a:lstStyle/>
            <a:p>
              <a:pPr algn="l"/>
              <a:r>
                <a:rPr lang="en" sz="1120" dirty="0">
                  <a:solidFill>
                    <a:srgbClr val="5B6477"/>
                  </a:solidFill>
                  <a:latin typeface="+mn-lt"/>
                  <a:ea typeface="+mn-ea"/>
                  <a:cs typeface="+mn-cs"/>
                </a:rPr>
                <a:t>Nexttel, not in this count, reports about 5 M users.</a:t>
              </a:r>
            </a:p>
          </p:txBody>
        </p:sp>
      </p:grpSp>
      <p:grpSp>
        <p:nvGrpSpPr>
          <p:cNvPr id="30" name="footer"/>
          <p:cNvGrpSpPr/>
          <p:nvPr/>
        </p:nvGrpSpPr>
        <p:grpSpPr>
          <a:xfrm>
            <a:off x="604838" y="6551295"/>
            <a:ext cx="10982325" cy="176212"/>
            <a:chOff x="604838" y="6551295"/>
            <a:chExt cx="10982325" cy="176212"/>
          </a:xfrm>
        </p:grpSpPr>
        <p:sp>
          <p:nvSpPr>
            <p:cNvPr id="27" name="TextBox 27"/>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28" name="TextBox 28"/>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29"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9254391" cy="917734"/>
            <a:chOff x="594360" y="640556"/>
            <a:chExt cx="9254391" cy="917734"/>
          </a:xfrm>
        </p:grpSpPr>
        <p:sp>
          <p:nvSpPr>
            <p:cNvPr id="3" name="TextBox 3"/>
            <p:cNvSpPr txBox="1"/>
            <p:nvPr/>
          </p:nvSpPr>
          <p:spPr>
            <a:xfrm>
              <a:off x="603885" y="640556"/>
              <a:ext cx="2661302"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MARKET · OUR SEGMENT</a:t>
              </a:r>
            </a:p>
          </p:txBody>
        </p:sp>
        <p:sp>
          <p:nvSpPr>
            <p:cNvPr id="4" name="TextBox 4"/>
            <p:cNvSpPr txBox="1"/>
            <p:nvPr/>
          </p:nvSpPr>
          <p:spPr>
            <a:xfrm>
              <a:off x="594360" y="971550"/>
              <a:ext cx="11567988"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Year 1: 138 M FCFA from three buyer groups</a:t>
              </a:r>
            </a:p>
          </p:txBody>
        </p:sp>
      </p:grpSp>
      <p:grpSp>
        <p:nvGrpSpPr>
          <p:cNvPr id="31" name="revenue-build"/>
          <p:cNvGrpSpPr/>
          <p:nvPr/>
        </p:nvGrpSpPr>
        <p:grpSpPr>
          <a:xfrm>
            <a:off x="604266" y="1848802"/>
            <a:ext cx="9015984" cy="4371404"/>
            <a:chOff x="604266" y="1848802"/>
            <a:chExt cx="9015984" cy="4371404"/>
          </a:xfrm>
        </p:grpSpPr>
        <p:sp>
          <p:nvSpPr>
            <p:cNvPr id="6" name="TextBox 6"/>
            <p:cNvSpPr txBox="1"/>
            <p:nvPr/>
          </p:nvSpPr>
          <p:spPr>
            <a:xfrm>
              <a:off x="604266" y="1848802"/>
              <a:ext cx="1457765" cy="205359"/>
            </a:xfrm>
            <a:prstGeom prst="rect">
              <a:avLst/>
            </a:prstGeom>
            <a:noFill/>
            <a:ln>
              <a:noFill/>
            </a:ln>
          </p:spPr>
          <p:txBody>
            <a:bodyPr wrap="square" lIns="0" tIns="0" rIns="0" bIns="0" anchor="t" anchorCtr="0">
              <a:spAutoFit/>
            </a:bodyPr>
            <a:lstStyle/>
            <a:p>
              <a:pPr algn="l"/>
              <a:r>
                <a:rPr lang="en" sz="1050" dirty="0">
                  <a:solidFill>
                    <a:srgbClr val="5B6477"/>
                  </a:solidFill>
                  <a:latin typeface="+mn-lt"/>
                  <a:ea typeface="+mn-ea"/>
                  <a:cs typeface="+mn-cs"/>
                </a:rPr>
                <a:t>Revenue, M FCFA</a:t>
              </a:r>
            </a:p>
          </p:txBody>
        </p:sp>
        <p:grpSp>
          <p:nvGrpSpPr>
            <p:cNvPr id="30" name="revenue-build-chartArea"/>
            <p:cNvGrpSpPr/>
            <p:nvPr/>
          </p:nvGrpSpPr>
          <p:grpSpPr>
            <a:xfrm>
              <a:off x="952500" y="2026920"/>
              <a:ext cx="8667750" cy="4193286"/>
              <a:chOff x="952500" y="2026920"/>
              <a:chExt cx="8667750" cy="4193286"/>
            </a:xfrm>
          </p:grpSpPr>
          <p:sp>
            <p:nvSpPr>
              <p:cNvPr id="7" name="Line 7"/>
              <p:cNvSpPr/>
              <p:nvPr/>
            </p:nvSpPr>
            <p:spPr>
              <a:xfrm>
                <a:off x="952500" y="5619750"/>
                <a:ext cx="8667750" cy="9525"/>
              </a:xfrm>
              <a:custGeom>
                <a:avLst/>
                <a:gdLst/>
                <a:ahLst/>
                <a:cxnLst/>
                <a:rect l="l" t="t" r="r" b="b"/>
                <a:pathLst>
                  <a:path w="8667750" h="9525">
                    <a:moveTo>
                      <a:pt x="0" y="0"/>
                    </a:moveTo>
                    <a:lnTo>
                      <a:pt x="8667750" y="0"/>
                    </a:lnTo>
                  </a:path>
                </a:pathLst>
              </a:custGeom>
              <a:noFill/>
              <a:ln w="19050">
                <a:solidFill>
                  <a:srgbClr val="1F3864"/>
                </a:solidFill>
              </a:ln>
            </p:spPr>
          </p:sp>
          <p:sp>
            <p:nvSpPr>
              <p:cNvPr id="8" name="Rectangle 8"/>
              <p:cNvSpPr/>
              <p:nvPr/>
            </p:nvSpPr>
            <p:spPr>
              <a:xfrm>
                <a:off x="1143000" y="4619625"/>
                <a:ext cx="1143000" cy="1000125"/>
              </a:xfrm>
              <a:prstGeom prst="rect">
                <a:avLst/>
              </a:prstGeom>
              <a:solidFill>
                <a:srgbClr val="1F3864"/>
              </a:solidFill>
              <a:ln>
                <a:noFill/>
              </a:ln>
            </p:spPr>
          </p:sp>
          <p:sp>
            <p:nvSpPr>
              <p:cNvPr id="9" name="Rectangle 9"/>
              <p:cNvSpPr/>
              <p:nvPr/>
            </p:nvSpPr>
            <p:spPr>
              <a:xfrm>
                <a:off x="2857500" y="3933825"/>
                <a:ext cx="1143000" cy="685800"/>
              </a:xfrm>
              <a:prstGeom prst="rect">
                <a:avLst/>
              </a:prstGeom>
              <a:solidFill>
                <a:srgbClr val="EC8236"/>
              </a:solidFill>
              <a:ln>
                <a:noFill/>
              </a:ln>
            </p:spPr>
          </p:sp>
          <p:sp>
            <p:nvSpPr>
              <p:cNvPr id="10" name="Rectangle 10"/>
              <p:cNvSpPr/>
              <p:nvPr/>
            </p:nvSpPr>
            <p:spPr>
              <a:xfrm>
                <a:off x="4572000" y="3648075"/>
                <a:ext cx="1143000" cy="285750"/>
              </a:xfrm>
              <a:prstGeom prst="rect">
                <a:avLst/>
              </a:prstGeom>
              <a:solidFill>
                <a:srgbClr val="F2A56B"/>
              </a:solidFill>
              <a:ln>
                <a:noFill/>
              </a:ln>
            </p:spPr>
          </p:sp>
          <p:sp>
            <p:nvSpPr>
              <p:cNvPr id="11" name="Rectangle 11"/>
              <p:cNvSpPr/>
              <p:nvPr/>
            </p:nvSpPr>
            <p:spPr>
              <a:xfrm>
                <a:off x="6286500" y="3648075"/>
                <a:ext cx="1143000" cy="1971675"/>
              </a:xfrm>
              <a:prstGeom prst="rect">
                <a:avLst/>
              </a:prstGeom>
              <a:solidFill>
                <a:srgbClr val="CC6508"/>
              </a:solidFill>
              <a:ln>
                <a:noFill/>
              </a:ln>
            </p:spPr>
          </p:sp>
          <p:sp>
            <p:nvSpPr>
              <p:cNvPr id="12" name="Rectangle 12"/>
              <p:cNvSpPr/>
              <p:nvPr/>
            </p:nvSpPr>
            <p:spPr>
              <a:xfrm>
                <a:off x="8286750" y="2419350"/>
                <a:ext cx="1143000" cy="3200400"/>
              </a:xfrm>
              <a:prstGeom prst="rect">
                <a:avLst/>
              </a:prstGeom>
              <a:noFill/>
              <a:ln w="19050">
                <a:solidFill>
                  <a:srgbClr val="1F3864"/>
                </a:solidFill>
                <a:prstDash val="lgDash"/>
              </a:ln>
            </p:spPr>
          </p:sp>
          <p:grpSp>
            <p:nvGrpSpPr>
              <p:cNvPr id="16" name="Group 16"/>
              <p:cNvGrpSpPr/>
              <p:nvPr/>
            </p:nvGrpSpPr>
            <p:grpSpPr>
              <a:xfrm>
                <a:off x="2286000" y="3648075"/>
                <a:ext cx="4000500" cy="981075"/>
                <a:chOff x="2286000" y="3648075"/>
                <a:chExt cx="4000500" cy="981075"/>
              </a:xfrm>
            </p:grpSpPr>
            <p:sp>
              <p:nvSpPr>
                <p:cNvPr id="13" name="Line 13"/>
                <p:cNvSpPr/>
                <p:nvPr/>
              </p:nvSpPr>
              <p:spPr>
                <a:xfrm>
                  <a:off x="2286000" y="4619625"/>
                  <a:ext cx="571500" cy="9525"/>
                </a:xfrm>
                <a:custGeom>
                  <a:avLst/>
                  <a:gdLst/>
                  <a:ahLst/>
                  <a:cxnLst/>
                  <a:rect l="l" t="t" r="r" b="b"/>
                  <a:pathLst>
                    <a:path w="571500" h="9525">
                      <a:moveTo>
                        <a:pt x="0" y="0"/>
                      </a:moveTo>
                      <a:lnTo>
                        <a:pt x="571500" y="0"/>
                      </a:lnTo>
                    </a:path>
                  </a:pathLst>
                </a:custGeom>
                <a:noFill/>
                <a:ln w="14288">
                  <a:solidFill>
                    <a:srgbClr val="8FA0C0"/>
                  </a:solidFill>
                  <a:prstDash val="dash"/>
                </a:ln>
              </p:spPr>
            </p:sp>
            <p:sp>
              <p:nvSpPr>
                <p:cNvPr id="14" name="Line 14"/>
                <p:cNvSpPr/>
                <p:nvPr/>
              </p:nvSpPr>
              <p:spPr>
                <a:xfrm>
                  <a:off x="4000500" y="3933825"/>
                  <a:ext cx="571500" cy="9525"/>
                </a:xfrm>
                <a:custGeom>
                  <a:avLst/>
                  <a:gdLst/>
                  <a:ahLst/>
                  <a:cxnLst/>
                  <a:rect l="l" t="t" r="r" b="b"/>
                  <a:pathLst>
                    <a:path w="571500" h="9525">
                      <a:moveTo>
                        <a:pt x="0" y="0"/>
                      </a:moveTo>
                      <a:lnTo>
                        <a:pt x="571500" y="0"/>
                      </a:lnTo>
                    </a:path>
                  </a:pathLst>
                </a:custGeom>
                <a:noFill/>
                <a:ln w="14288">
                  <a:solidFill>
                    <a:srgbClr val="8FA0C0"/>
                  </a:solidFill>
                  <a:prstDash val="dash"/>
                </a:ln>
              </p:spPr>
            </p:sp>
            <p:sp>
              <p:nvSpPr>
                <p:cNvPr id="15" name="Line 15"/>
                <p:cNvSpPr/>
                <p:nvPr/>
              </p:nvSpPr>
              <p:spPr>
                <a:xfrm>
                  <a:off x="5715000" y="3648075"/>
                  <a:ext cx="571500" cy="9525"/>
                </a:xfrm>
                <a:custGeom>
                  <a:avLst/>
                  <a:gdLst/>
                  <a:ahLst/>
                  <a:cxnLst/>
                  <a:rect l="l" t="t" r="r" b="b"/>
                  <a:pathLst>
                    <a:path w="571500" h="9525">
                      <a:moveTo>
                        <a:pt x="0" y="0"/>
                      </a:moveTo>
                      <a:lnTo>
                        <a:pt x="571500" y="0"/>
                      </a:lnTo>
                    </a:path>
                  </a:pathLst>
                </a:custGeom>
                <a:noFill/>
                <a:ln w="14288">
                  <a:solidFill>
                    <a:srgbClr val="8FA0C0"/>
                  </a:solidFill>
                  <a:prstDash val="dash"/>
                </a:ln>
              </p:spPr>
            </p:sp>
          </p:grpSp>
          <p:grpSp>
            <p:nvGrpSpPr>
              <p:cNvPr id="20" name="Group 20"/>
              <p:cNvGrpSpPr/>
              <p:nvPr/>
            </p:nvGrpSpPr>
            <p:grpSpPr>
              <a:xfrm>
                <a:off x="1441205" y="3346132"/>
                <a:ext cx="4043358" cy="1294257"/>
                <a:chOff x="1441205" y="3346132"/>
                <a:chExt cx="4043358" cy="1294257"/>
              </a:xfrm>
            </p:grpSpPr>
            <p:sp>
              <p:nvSpPr>
                <p:cNvPr id="17" name="TextBox 17"/>
                <p:cNvSpPr txBox="1"/>
                <p:nvPr/>
              </p:nvSpPr>
              <p:spPr>
                <a:xfrm>
                  <a:off x="1326905" y="4317682"/>
                  <a:ext cx="775190" cy="322707"/>
                </a:xfrm>
                <a:prstGeom prst="rect">
                  <a:avLst/>
                </a:prstGeom>
                <a:noFill/>
                <a:ln>
                  <a:noFill/>
                </a:ln>
              </p:spPr>
              <p:txBody>
                <a:bodyPr wrap="square" lIns="0" tIns="0" rIns="0" bIns="0" anchor="t" anchorCtr="0">
                  <a:spAutoFit/>
                </a:bodyPr>
                <a:lstStyle/>
                <a:p>
                  <a:pPr algn="ctr"/>
                  <a:r>
                    <a:rPr lang="en" sz="1650" b="1" dirty="0">
                      <a:solidFill>
                        <a:srgbClr val="1F3864"/>
                      </a:solidFill>
                      <a:latin typeface="+mn-lt"/>
                      <a:ea typeface="+mn-ea"/>
                      <a:cs typeface="+mn-cs"/>
                    </a:rPr>
                    <a:t>70 M</a:t>
                  </a:r>
                </a:p>
              </p:txBody>
            </p:sp>
            <p:sp>
              <p:nvSpPr>
                <p:cNvPr id="18" name="TextBox 18"/>
                <p:cNvSpPr txBox="1"/>
                <p:nvPr/>
              </p:nvSpPr>
              <p:spPr>
                <a:xfrm>
                  <a:off x="2973636" y="3631882"/>
                  <a:ext cx="910727" cy="322707"/>
                </a:xfrm>
                <a:prstGeom prst="rect">
                  <a:avLst/>
                </a:prstGeom>
                <a:noFill/>
                <a:ln>
                  <a:noFill/>
                </a:ln>
              </p:spPr>
              <p:txBody>
                <a:bodyPr wrap="square" lIns="0" tIns="0" rIns="0" bIns="0" anchor="t" anchorCtr="0">
                  <a:spAutoFit/>
                </a:bodyPr>
                <a:lstStyle/>
                <a:p>
                  <a:pPr algn="ctr"/>
                  <a:r>
                    <a:rPr lang="en" sz="1650" b="1" dirty="0">
                      <a:solidFill>
                        <a:srgbClr val="1F3864"/>
                      </a:solidFill>
                      <a:latin typeface="+mn-lt"/>
                      <a:ea typeface="+mn-ea"/>
                      <a:cs typeface="+mn-cs"/>
                    </a:rPr>
                    <a:t>+48 M</a:t>
                  </a:r>
                </a:p>
              </p:txBody>
            </p:sp>
            <p:sp>
              <p:nvSpPr>
                <p:cNvPr id="19" name="TextBox 19"/>
                <p:cNvSpPr txBox="1"/>
                <p:nvPr/>
              </p:nvSpPr>
              <p:spPr>
                <a:xfrm>
                  <a:off x="4688136" y="3346132"/>
                  <a:ext cx="910727" cy="322707"/>
                </a:xfrm>
                <a:prstGeom prst="rect">
                  <a:avLst/>
                </a:prstGeom>
                <a:noFill/>
                <a:ln>
                  <a:noFill/>
                </a:ln>
              </p:spPr>
              <p:txBody>
                <a:bodyPr wrap="square" lIns="0" tIns="0" rIns="0" bIns="0" anchor="t" anchorCtr="0">
                  <a:spAutoFit/>
                </a:bodyPr>
                <a:lstStyle/>
                <a:p>
                  <a:pPr algn="ctr"/>
                  <a:r>
                    <a:rPr lang="en" sz="1650" b="1" dirty="0">
                      <a:solidFill>
                        <a:srgbClr val="1F3864"/>
                      </a:solidFill>
                      <a:latin typeface="+mn-lt"/>
                      <a:ea typeface="+mn-ea"/>
                      <a:cs typeface="+mn-cs"/>
                    </a:rPr>
                    <a:t>+20 M</a:t>
                  </a:r>
                </a:p>
              </p:txBody>
            </p:sp>
          </p:grpSp>
          <p:sp>
            <p:nvSpPr>
              <p:cNvPr id="21" name="TextBox 21"/>
              <p:cNvSpPr txBox="1"/>
              <p:nvPr/>
            </p:nvSpPr>
            <p:spPr>
              <a:xfrm>
                <a:off x="6082856" y="2876550"/>
                <a:ext cx="1550288" cy="586740"/>
              </a:xfrm>
              <a:prstGeom prst="rect">
                <a:avLst/>
              </a:prstGeom>
              <a:noFill/>
              <a:ln>
                <a:noFill/>
              </a:ln>
            </p:spPr>
            <p:txBody>
              <a:bodyPr wrap="square" lIns="0" tIns="0" rIns="0" bIns="0" anchor="t" anchorCtr="0">
                <a:spAutoFit/>
              </a:bodyPr>
              <a:lstStyle/>
              <a:p>
                <a:pPr algn="ctr"/>
                <a:r>
                  <a:rPr lang="en" sz="3000" b="1" dirty="0">
                    <a:solidFill>
                      <a:srgbClr val="A94E00"/>
                    </a:solidFill>
                    <a:latin typeface="Baloo 2"/>
                    <a:ea typeface="Baloo 2"/>
                    <a:cs typeface="Baloo 2"/>
                  </a:rPr>
                  <a:t>138 M</a:t>
                </a:r>
              </a:p>
            </p:txBody>
          </p:sp>
          <p:sp>
            <p:nvSpPr>
              <p:cNvPr id="22" name="TextBox 22"/>
              <p:cNvSpPr txBox="1"/>
              <p:nvPr/>
            </p:nvSpPr>
            <p:spPr>
              <a:xfrm>
                <a:off x="6446825" y="3356610"/>
                <a:ext cx="822350" cy="234696"/>
              </a:xfrm>
              <a:prstGeom prst="rect">
                <a:avLst/>
              </a:prstGeom>
              <a:noFill/>
              <a:ln>
                <a:noFill/>
              </a:ln>
            </p:spPr>
            <p:txBody>
              <a:bodyPr wrap="square" lIns="0" tIns="0" rIns="0" bIns="0" anchor="t" anchorCtr="0">
                <a:spAutoFit/>
              </a:bodyPr>
              <a:lstStyle/>
              <a:p>
                <a:pPr algn="ctr"/>
                <a:r>
                  <a:rPr lang="en" sz="1200" dirty="0">
                    <a:solidFill>
                      <a:srgbClr val="5B6477"/>
                    </a:solidFill>
                    <a:latin typeface="+mn-lt"/>
                    <a:ea typeface="+mn-ea"/>
                    <a:cs typeface="+mn-cs"/>
                  </a:rPr>
                  <a:t>≈ €210k</a:t>
                </a:r>
              </a:p>
            </p:txBody>
          </p:sp>
          <p:sp>
            <p:nvSpPr>
              <p:cNvPr id="23" name="TextBox 23"/>
              <p:cNvSpPr txBox="1"/>
              <p:nvPr/>
            </p:nvSpPr>
            <p:spPr>
              <a:xfrm>
                <a:off x="8238135" y="2026920"/>
                <a:ext cx="1240231" cy="469392"/>
              </a:xfrm>
              <a:prstGeom prst="rect">
                <a:avLst/>
              </a:prstGeom>
              <a:noFill/>
              <a:ln>
                <a:noFill/>
              </a:ln>
            </p:spPr>
            <p:txBody>
              <a:bodyPr wrap="square" lIns="0" tIns="0" rIns="0" bIns="0" anchor="t" anchorCtr="0">
                <a:spAutoFit/>
              </a:bodyPr>
              <a:lstStyle/>
              <a:p>
                <a:pPr algn="ctr"/>
                <a:r>
                  <a:rPr lang="en" sz="2400" b="1" dirty="0">
                    <a:solidFill>
                      <a:srgbClr val="1F3864"/>
                    </a:solidFill>
                    <a:latin typeface="Baloo 2"/>
                    <a:ea typeface="Baloo 2"/>
                    <a:cs typeface="Baloo 2"/>
                  </a:rPr>
                  <a:t>224 M</a:t>
                </a:r>
              </a:p>
            </p:txBody>
          </p:sp>
          <p:grpSp>
            <p:nvGrpSpPr>
              <p:cNvPr id="29" name="Group 29"/>
              <p:cNvGrpSpPr/>
              <p:nvPr/>
            </p:nvGrpSpPr>
            <p:grpSpPr>
              <a:xfrm>
                <a:off x="1252347" y="5775960"/>
                <a:ext cx="7863459" cy="444246"/>
                <a:chOff x="1252347" y="5775960"/>
                <a:chExt cx="7863459" cy="444246"/>
              </a:xfrm>
            </p:grpSpPr>
            <p:sp>
              <p:nvSpPr>
                <p:cNvPr id="24" name="TextBox 24"/>
                <p:cNvSpPr txBox="1"/>
                <p:nvPr/>
              </p:nvSpPr>
              <p:spPr>
                <a:xfrm>
                  <a:off x="1136809" y="5775960"/>
                  <a:ext cx="1155382" cy="444246"/>
                </a:xfrm>
                <a:prstGeom prst="rect">
                  <a:avLst/>
                </a:prstGeom>
                <a:noFill/>
                <a:ln>
                  <a:noFill/>
                </a:ln>
              </p:spPr>
              <p:txBody>
                <a:bodyPr wrap="square" lIns="0" tIns="0" rIns="0" bIns="0" anchor="t" anchorCtr="0">
                  <a:spAutoFit/>
                </a:bodyPr>
                <a:lstStyle/>
                <a:p>
                  <a:pPr algn="ctr">
                    <a:lnSpc>
                      <a:spcPts val="1650"/>
                    </a:lnSpc>
                  </a:pPr>
                  <a:r>
                    <a:rPr lang="en" sz="1200" b="1" dirty="0">
                      <a:solidFill>
                        <a:srgbClr val="1F3864"/>
                      </a:solidFill>
                      <a:latin typeface="+mn-lt"/>
                      <a:ea typeface="+mn-ea"/>
                      <a:cs typeface="+mn-cs"/>
                    </a:rPr>
                    <a:t>Government</a:t>
                  </a:r>
                  <a:br/>
                  <a:r>
                    <a:rPr lang="en" sz="1200" dirty="0">
                      <a:solidFill>
                        <a:srgbClr val="5B6477"/>
                      </a:solidFill>
                      <a:latin typeface="+mn-lt"/>
                      <a:ea typeface="+mn-ea"/>
                      <a:cs typeface="+mn-cs"/>
                    </a:rPr>
                    <a:t>1 licence</a:t>
                  </a:r>
                </a:p>
              </p:txBody>
            </p:sp>
            <p:sp>
              <p:nvSpPr>
                <p:cNvPr id="25" name="TextBox 25"/>
                <p:cNvSpPr txBox="1"/>
                <p:nvPr/>
              </p:nvSpPr>
              <p:spPr>
                <a:xfrm>
                  <a:off x="2862834" y="5775960"/>
                  <a:ext cx="1132332" cy="444246"/>
                </a:xfrm>
                <a:prstGeom prst="rect">
                  <a:avLst/>
                </a:prstGeom>
                <a:noFill/>
                <a:ln>
                  <a:noFill/>
                </a:ln>
              </p:spPr>
              <p:txBody>
                <a:bodyPr wrap="square" lIns="0" tIns="0" rIns="0" bIns="0" anchor="t" anchorCtr="0">
                  <a:spAutoFit/>
                </a:bodyPr>
                <a:lstStyle/>
                <a:p>
                  <a:pPr algn="ctr">
                    <a:lnSpc>
                      <a:spcPts val="1650"/>
                    </a:lnSpc>
                  </a:pPr>
                  <a:r>
                    <a:rPr lang="en" sz="1200" b="1" dirty="0">
                      <a:solidFill>
                        <a:srgbClr val="1F3864"/>
                      </a:solidFill>
                      <a:latin typeface="+mn-lt"/>
                      <a:ea typeface="+mn-ea"/>
                      <a:cs typeface="+mn-cs"/>
                    </a:rPr>
                    <a:t>Operators</a:t>
                  </a:r>
                  <a:br/>
                  <a:r>
                    <a:rPr lang="en" sz="1200" dirty="0">
                      <a:solidFill>
                        <a:srgbClr val="5B6477"/>
                      </a:solidFill>
                      <a:latin typeface="+mn-lt"/>
                      <a:ea typeface="+mn-ea"/>
                      <a:cs typeface="+mn-cs"/>
                    </a:rPr>
                    <a:t>2 × SaaS Pro</a:t>
                  </a:r>
                </a:p>
              </p:txBody>
            </p:sp>
            <p:sp>
              <p:nvSpPr>
                <p:cNvPr id="26" name="TextBox 26"/>
                <p:cNvSpPr txBox="1"/>
                <p:nvPr/>
              </p:nvSpPr>
              <p:spPr>
                <a:xfrm>
                  <a:off x="4505802" y="5775960"/>
                  <a:ext cx="1275397" cy="444246"/>
                </a:xfrm>
                <a:prstGeom prst="rect">
                  <a:avLst/>
                </a:prstGeom>
                <a:noFill/>
                <a:ln>
                  <a:noFill/>
                </a:ln>
              </p:spPr>
              <p:txBody>
                <a:bodyPr wrap="square" lIns="0" tIns="0" rIns="0" bIns="0" anchor="t" anchorCtr="0">
                  <a:spAutoFit/>
                </a:bodyPr>
                <a:lstStyle/>
                <a:p>
                  <a:pPr algn="ctr">
                    <a:lnSpc>
                      <a:spcPts val="1650"/>
                    </a:lnSpc>
                  </a:pPr>
                  <a:r>
                    <a:rPr lang="en" sz="1200" b="1" dirty="0">
                      <a:solidFill>
                        <a:srgbClr val="1F3864"/>
                      </a:solidFill>
                      <a:latin typeface="+mn-lt"/>
                      <a:ea typeface="+mn-ea"/>
                      <a:cs typeface="+mn-cs"/>
                    </a:rPr>
                    <a:t>NGO / donors</a:t>
                  </a:r>
                  <a:br/>
                  <a:r>
                    <a:rPr lang="en" sz="1200" dirty="0">
                      <a:solidFill>
                        <a:srgbClr val="5B6477"/>
                      </a:solidFill>
                      <a:latin typeface="+mn-lt"/>
                      <a:ea typeface="+mn-ea"/>
                      <a:cs typeface="+mn-cs"/>
                    </a:rPr>
                    <a:t>2 projects</a:t>
                  </a:r>
                </a:p>
              </p:txBody>
            </p:sp>
            <p:sp>
              <p:nvSpPr>
                <p:cNvPr id="27" name="TextBox 27"/>
                <p:cNvSpPr txBox="1"/>
                <p:nvPr/>
              </p:nvSpPr>
              <p:spPr>
                <a:xfrm>
                  <a:off x="6493574" y="5775960"/>
                  <a:ext cx="728853" cy="444246"/>
                </a:xfrm>
                <a:prstGeom prst="rect">
                  <a:avLst/>
                </a:prstGeom>
                <a:noFill/>
                <a:ln>
                  <a:noFill/>
                </a:ln>
              </p:spPr>
              <p:txBody>
                <a:bodyPr wrap="square" lIns="0" tIns="0" rIns="0" bIns="0" anchor="t" anchorCtr="0">
                  <a:spAutoFit/>
                </a:bodyPr>
                <a:lstStyle/>
                <a:p>
                  <a:pPr algn="ctr">
                    <a:lnSpc>
                      <a:spcPts val="1650"/>
                    </a:lnSpc>
                  </a:pPr>
                  <a:r>
                    <a:rPr lang="en" sz="1200" b="1" dirty="0">
                      <a:solidFill>
                        <a:srgbClr val="1F3864"/>
                      </a:solidFill>
                      <a:latin typeface="+mn-lt"/>
                      <a:ea typeface="+mn-ea"/>
                      <a:cs typeface="+mn-cs"/>
                    </a:rPr>
                    <a:t>Year 1</a:t>
                  </a:r>
                  <a:br/>
                  <a:r>
                    <a:rPr lang="en" sz="1200" dirty="0">
                      <a:solidFill>
                        <a:srgbClr val="5B6477"/>
                      </a:solidFill>
                      <a:latin typeface="+mn-lt"/>
                      <a:ea typeface="+mn-ea"/>
                      <a:cs typeface="+mn-cs"/>
                    </a:rPr>
                    <a:t>total</a:t>
                  </a:r>
                </a:p>
              </p:txBody>
            </p:sp>
            <p:sp>
              <p:nvSpPr>
                <p:cNvPr id="28" name="TextBox 28"/>
                <p:cNvSpPr txBox="1"/>
                <p:nvPr/>
              </p:nvSpPr>
              <p:spPr>
                <a:xfrm>
                  <a:off x="8486394" y="5775960"/>
                  <a:ext cx="743712" cy="444246"/>
                </a:xfrm>
                <a:prstGeom prst="rect">
                  <a:avLst/>
                </a:prstGeom>
                <a:noFill/>
                <a:ln>
                  <a:noFill/>
                </a:ln>
              </p:spPr>
              <p:txBody>
                <a:bodyPr wrap="square" lIns="0" tIns="0" rIns="0" bIns="0" anchor="t" anchorCtr="0">
                  <a:spAutoFit/>
                </a:bodyPr>
                <a:lstStyle/>
                <a:p>
                  <a:pPr algn="ctr">
                    <a:lnSpc>
                      <a:spcPts val="1650"/>
                    </a:lnSpc>
                  </a:pPr>
                  <a:r>
                    <a:rPr lang="en" sz="1200" b="1" dirty="0">
                      <a:solidFill>
                        <a:srgbClr val="1F3864"/>
                      </a:solidFill>
                      <a:latin typeface="+mn-lt"/>
                      <a:ea typeface="+mn-ea"/>
                      <a:cs typeface="+mn-cs"/>
                    </a:rPr>
                    <a:t>Year 3</a:t>
                  </a:r>
                  <a:br/>
                  <a:r>
                    <a:rPr lang="en" sz="1200" dirty="0">
                      <a:solidFill>
                        <a:srgbClr val="5B6477"/>
                      </a:solidFill>
                      <a:latin typeface="+mn-lt"/>
                      <a:ea typeface="+mn-ea"/>
                      <a:cs typeface="+mn-cs"/>
                    </a:rPr>
                    <a:t>target</a:t>
                  </a:r>
                </a:p>
              </p:txBody>
            </p:sp>
          </p:grpSp>
        </p:grpSp>
      </p:grpSp>
      <p:grpSp>
        <p:nvGrpSpPr>
          <p:cNvPr id="35" name="estimate-tag"/>
          <p:cNvGrpSpPr/>
          <p:nvPr/>
        </p:nvGrpSpPr>
        <p:grpSpPr>
          <a:xfrm>
            <a:off x="9976485" y="1943100"/>
            <a:ext cx="1605915" cy="1127284"/>
            <a:chOff x="9976485" y="1943100"/>
            <a:chExt cx="1605915" cy="1127284"/>
          </a:xfrm>
        </p:grpSpPr>
        <p:sp>
          <p:nvSpPr>
            <p:cNvPr id="32" name="Rectangle 32"/>
            <p:cNvSpPr/>
            <p:nvPr/>
          </p:nvSpPr>
          <p:spPr>
            <a:xfrm>
              <a:off x="9982200" y="1943100"/>
              <a:ext cx="1600200" cy="381000"/>
            </a:xfrm>
            <a:prstGeom prst="roundRect">
              <a:avLst>
                <a:gd name="adj" fmla="val 50000"/>
              </a:avLst>
            </a:prstGeom>
            <a:noFill/>
            <a:ln w="19050">
              <a:solidFill>
                <a:srgbClr val="A94E00"/>
              </a:solidFill>
            </a:ln>
          </p:spPr>
        </p:sp>
        <p:sp>
          <p:nvSpPr>
            <p:cNvPr id="33" name="TextBox 33"/>
            <p:cNvSpPr txBox="1"/>
            <p:nvPr/>
          </p:nvSpPr>
          <p:spPr>
            <a:xfrm>
              <a:off x="10070144" y="2077402"/>
              <a:ext cx="1424311" cy="205359"/>
            </a:xfrm>
            <a:prstGeom prst="rect">
              <a:avLst/>
            </a:prstGeom>
            <a:noFill/>
            <a:ln>
              <a:noFill/>
            </a:ln>
          </p:spPr>
          <p:txBody>
            <a:bodyPr wrap="square" lIns="0" tIns="0" rIns="0" bIns="0" anchor="t" anchorCtr="0">
              <a:spAutoFit/>
            </a:bodyPr>
            <a:lstStyle/>
            <a:p>
              <a:pPr algn="ctr"/>
              <a:r>
                <a:rPr lang="en" sz="1050" b="1" spc="90" dirty="0">
                  <a:solidFill>
                    <a:srgbClr val="A94E00"/>
                  </a:solidFill>
                  <a:latin typeface="+mn-lt"/>
                  <a:ea typeface="+mn-ea"/>
                  <a:cs typeface="+mn-cs"/>
                </a:rPr>
                <a:t>F2G ESTIMATE</a:t>
              </a:r>
            </a:p>
          </p:txBody>
        </p:sp>
        <p:sp>
          <p:nvSpPr>
            <p:cNvPr id="34" name="TextBox 34"/>
            <p:cNvSpPr txBox="1"/>
            <p:nvPr/>
          </p:nvSpPr>
          <p:spPr>
            <a:xfrm>
              <a:off x="9976485" y="2640806"/>
              <a:ext cx="1507807" cy="429578"/>
            </a:xfrm>
            <a:prstGeom prst="rect">
              <a:avLst/>
            </a:prstGeom>
            <a:noFill/>
            <a:ln>
              <a:noFill/>
            </a:ln>
          </p:spPr>
          <p:txBody>
            <a:bodyPr wrap="square" lIns="0" tIns="0" rIns="0" bIns="0" anchor="t" anchorCtr="0">
              <a:spAutoFit/>
            </a:bodyPr>
            <a:lstStyle/>
            <a:p>
              <a:pPr algn="l">
                <a:lnSpc>
                  <a:spcPts val="1650"/>
                </a:lnSpc>
              </a:pPr>
              <a:r>
                <a:rPr lang="en" sz="1120" dirty="0">
                  <a:solidFill>
                    <a:srgbClr val="5B6477"/>
                  </a:solidFill>
                  <a:latin typeface="+mn-lt"/>
                  <a:ea typeface="+mn-ea"/>
                  <a:cs typeface="+mn-cs"/>
                </a:rPr>
                <a:t>Bottom-up, from</a:t>
              </a:r>
              <a:br/>
              <a:r>
                <a:rPr lang="en" sz="1120" dirty="0">
                  <a:solidFill>
                    <a:srgbClr val="5B6477"/>
                  </a:solidFill>
                  <a:latin typeface="+mn-lt"/>
                  <a:ea typeface="+mn-ea"/>
                  <a:cs typeface="+mn-cs"/>
                </a:rPr>
                <a:t>our price list</a:t>
              </a:r>
            </a:p>
          </p:txBody>
        </p:sp>
      </p:grpSp>
      <p:grpSp>
        <p:nvGrpSpPr>
          <p:cNvPr id="39" name="footer"/>
          <p:cNvGrpSpPr/>
          <p:nvPr/>
        </p:nvGrpSpPr>
        <p:grpSpPr>
          <a:xfrm>
            <a:off x="604838" y="6551295"/>
            <a:ext cx="10982325" cy="176212"/>
            <a:chOff x="604838" y="6551295"/>
            <a:chExt cx="10982325" cy="176212"/>
          </a:xfrm>
        </p:grpSpPr>
        <p:sp>
          <p:nvSpPr>
            <p:cNvPr id="36" name="TextBox 36"/>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37" name="TextBox 37"/>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38" name="page-number"/>
            <p:cNvSpPr txBox="1"/>
            <p:nvPr/>
          </p:nvSpPr>
          <p:spPr>
            <a:xfrm>
              <a:off x="11279069" y="6551295"/>
              <a:ext cx="308094"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9819461" cy="917734"/>
            <a:chOff x="594360" y="640556"/>
            <a:chExt cx="9819461" cy="917734"/>
          </a:xfrm>
        </p:grpSpPr>
        <p:sp>
          <p:nvSpPr>
            <p:cNvPr id="3" name="TextBox 3"/>
            <p:cNvSpPr txBox="1"/>
            <p:nvPr/>
          </p:nvSpPr>
          <p:spPr>
            <a:xfrm>
              <a:off x="603885" y="640556"/>
              <a:ext cx="1738805"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GO-TO-MARKET</a:t>
              </a:r>
            </a:p>
          </p:txBody>
        </p:sp>
        <p:sp>
          <p:nvSpPr>
            <p:cNvPr id="4" name="TextBox 4"/>
            <p:cNvSpPr txBox="1"/>
            <p:nvPr/>
          </p:nvSpPr>
          <p:spPr>
            <a:xfrm>
              <a:off x="594360" y="971550"/>
              <a:ext cx="12274326"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Regulator first — then every operator needs us</a:t>
              </a:r>
            </a:p>
          </p:txBody>
        </p:sp>
      </p:grpSp>
      <p:grpSp>
        <p:nvGrpSpPr>
          <p:cNvPr id="8" name="wedge-quote"/>
          <p:cNvGrpSpPr/>
          <p:nvPr/>
        </p:nvGrpSpPr>
        <p:grpSpPr>
          <a:xfrm>
            <a:off x="590550" y="1821180"/>
            <a:ext cx="7773686" cy="1847850"/>
            <a:chOff x="590550" y="1821180"/>
            <a:chExt cx="7773686" cy="1847850"/>
          </a:xfrm>
        </p:grpSpPr>
        <p:sp>
          <p:nvSpPr>
            <p:cNvPr id="6" name="TextBox 6"/>
            <p:cNvSpPr txBox="1"/>
            <p:nvPr/>
          </p:nvSpPr>
          <p:spPr>
            <a:xfrm>
              <a:off x="590550" y="1821180"/>
              <a:ext cx="1013033" cy="1847850"/>
            </a:xfrm>
            <a:prstGeom prst="rect">
              <a:avLst/>
            </a:prstGeom>
            <a:noFill/>
            <a:ln>
              <a:noFill/>
            </a:ln>
          </p:spPr>
          <p:txBody>
            <a:bodyPr wrap="square" lIns="0" tIns="0" rIns="0" bIns="0" anchor="t" anchorCtr="0">
              <a:spAutoFit/>
            </a:bodyPr>
            <a:lstStyle/>
            <a:p>
              <a:pPr algn="l"/>
              <a:r>
                <a:rPr lang="en" sz="9600" b="1" dirty="0">
                  <a:solidFill>
                    <a:srgbClr val="EC8236"/>
                  </a:solidFill>
                  <a:latin typeface="Baloo 2"/>
                  <a:ea typeface="Baloo 2"/>
                  <a:cs typeface="Baloo 2"/>
                </a:rPr>
                <a:t>“</a:t>
              </a:r>
            </a:p>
          </p:txBody>
        </p:sp>
        <p:sp>
          <p:nvSpPr>
            <p:cNvPr id="7" name="TextBox 7"/>
            <p:cNvSpPr txBox="1"/>
            <p:nvPr/>
          </p:nvSpPr>
          <p:spPr>
            <a:xfrm>
              <a:off x="1282446" y="1972628"/>
              <a:ext cx="8852237" cy="936879"/>
            </a:xfrm>
            <a:prstGeom prst="rect">
              <a:avLst/>
            </a:prstGeom>
            <a:noFill/>
            <a:ln>
              <a:noFill/>
            </a:ln>
          </p:spPr>
          <p:txBody>
            <a:bodyPr wrap="square" lIns="0" tIns="0" rIns="0" bIns="0" anchor="t" anchorCtr="0">
              <a:spAutoFit/>
            </a:bodyPr>
            <a:lstStyle/>
            <a:p>
              <a:pPr algn="l">
                <a:lnSpc>
                  <a:spcPts val="3450"/>
                </a:lnSpc>
              </a:pPr>
              <a:r>
                <a:rPr lang="en" sz="2550" b="1" dirty="0">
                  <a:solidFill>
                    <a:srgbClr val="1F3864"/>
                  </a:solidFill>
                  <a:latin typeface="Baloo 2"/>
                  <a:ea typeface="Baloo 2"/>
                  <a:cs typeface="Baloo 2"/>
                </a:rPr>
                <a:t>Once the regulator mandates CMAS,</a:t>
              </a:r>
              <a:br/>
              <a:r>
                <a:rPr lang="en" sz="2550" b="1" dirty="0">
                  <a:solidFill>
                    <a:srgbClr val="1F3864"/>
                  </a:solidFill>
                  <a:latin typeface="Baloo 2"/>
                  <a:ea typeface="Baloo 2"/>
                  <a:cs typeface="Baloo 2"/>
                </a:rPr>
                <a:t>every operator needs a broadcast centre.</a:t>
              </a:r>
            </a:p>
          </p:txBody>
        </p:sp>
      </p:grpSp>
      <p:grpSp>
        <p:nvGrpSpPr>
          <p:cNvPr id="23" name="stages"/>
          <p:cNvGrpSpPr/>
          <p:nvPr/>
        </p:nvGrpSpPr>
        <p:grpSpPr>
          <a:xfrm>
            <a:off x="609600" y="3352800"/>
            <a:ext cx="10972800" cy="2004251"/>
            <a:chOff x="609600" y="3352800"/>
            <a:chExt cx="10972800" cy="2004251"/>
          </a:xfrm>
        </p:grpSpPr>
        <p:sp>
          <p:nvSpPr>
            <p:cNvPr id="9" name="Freeform 9"/>
            <p:cNvSpPr/>
            <p:nvPr/>
          </p:nvSpPr>
          <p:spPr>
            <a:xfrm>
              <a:off x="609600" y="3352800"/>
              <a:ext cx="2857500" cy="914400"/>
            </a:xfrm>
            <a:prstGeom prst="homePlate">
              <a:avLst/>
            </a:prstGeom>
            <a:solidFill>
              <a:srgbClr val="1F3864"/>
            </a:solidFill>
            <a:ln>
              <a:noFill/>
            </a:ln>
          </p:spPr>
        </p:sp>
        <p:sp>
          <p:nvSpPr>
            <p:cNvPr id="10" name="Freeform 10"/>
            <p:cNvSpPr/>
            <p:nvPr/>
          </p:nvSpPr>
          <p:spPr>
            <a:xfrm>
              <a:off x="3314700" y="3352800"/>
              <a:ext cx="2857500" cy="914400"/>
            </a:xfrm>
            <a:prstGeom prst="chevron">
              <a:avLst/>
            </a:prstGeom>
            <a:solidFill>
              <a:srgbClr val="EC8236"/>
            </a:solidFill>
            <a:ln>
              <a:noFill/>
            </a:ln>
          </p:spPr>
        </p:sp>
        <p:sp>
          <p:nvSpPr>
            <p:cNvPr id="11" name="Freeform 11"/>
            <p:cNvSpPr/>
            <p:nvPr/>
          </p:nvSpPr>
          <p:spPr>
            <a:xfrm>
              <a:off x="6019800" y="3352800"/>
              <a:ext cx="2857500" cy="914400"/>
            </a:xfrm>
            <a:prstGeom prst="chevron">
              <a:avLst/>
            </a:prstGeom>
            <a:solidFill>
              <a:srgbClr val="F2A56B"/>
            </a:solidFill>
            <a:ln>
              <a:noFill/>
            </a:ln>
          </p:spPr>
        </p:sp>
        <p:sp>
          <p:nvSpPr>
            <p:cNvPr id="12" name="Freeform 12"/>
            <p:cNvSpPr/>
            <p:nvPr/>
          </p:nvSpPr>
          <p:spPr>
            <a:xfrm>
              <a:off x="8724900" y="3352800"/>
              <a:ext cx="2857500" cy="914400"/>
            </a:xfrm>
            <a:prstGeom prst="chevron">
              <a:avLst/>
            </a:prstGeom>
            <a:solidFill>
              <a:srgbClr val="F7C9A2"/>
            </a:solidFill>
            <a:ln>
              <a:noFill/>
            </a:ln>
          </p:spPr>
        </p:sp>
        <p:grpSp>
          <p:nvGrpSpPr>
            <p:cNvPr id="17" name="Group 17"/>
            <p:cNvGrpSpPr/>
            <p:nvPr/>
          </p:nvGrpSpPr>
          <p:grpSpPr>
            <a:xfrm>
              <a:off x="906018" y="3708082"/>
              <a:ext cx="9303227" cy="322707"/>
              <a:chOff x="906018" y="3708082"/>
              <a:chExt cx="9303227" cy="322707"/>
            </a:xfrm>
          </p:grpSpPr>
          <p:sp>
            <p:nvSpPr>
              <p:cNvPr id="13" name="TextBox 13"/>
              <p:cNvSpPr txBox="1"/>
              <p:nvPr/>
            </p:nvSpPr>
            <p:spPr>
              <a:xfrm>
                <a:off x="906018" y="3708082"/>
                <a:ext cx="1649158" cy="322707"/>
              </a:xfrm>
              <a:prstGeom prst="rect">
                <a:avLst/>
              </a:prstGeom>
              <a:noFill/>
              <a:ln>
                <a:noFill/>
              </a:ln>
            </p:spPr>
            <p:txBody>
              <a:bodyPr wrap="square" lIns="0" tIns="0" rIns="0" bIns="0" anchor="t" anchorCtr="0">
                <a:spAutoFit/>
              </a:bodyPr>
              <a:lstStyle/>
              <a:p>
                <a:pPr algn="l"/>
                <a:r>
                  <a:rPr lang="en" sz="1650" b="1" dirty="0">
                    <a:solidFill>
                      <a:srgbClr val="FFFFFF"/>
                    </a:solidFill>
                    <a:latin typeface="+mn-lt"/>
                    <a:ea typeface="+mn-ea"/>
                    <a:cs typeface="+mn-cs"/>
                  </a:rPr>
                  <a:t>1 Regulator</a:t>
                </a:r>
              </a:p>
            </p:txBody>
          </p:sp>
          <p:sp>
            <p:nvSpPr>
              <p:cNvPr id="14" name="TextBox 14"/>
              <p:cNvSpPr txBox="1"/>
              <p:nvPr/>
            </p:nvSpPr>
            <p:spPr>
              <a:xfrm>
                <a:off x="3992118" y="3708082"/>
                <a:ext cx="976559" cy="322707"/>
              </a:xfrm>
              <a:prstGeom prst="rect">
                <a:avLst/>
              </a:prstGeom>
              <a:noFill/>
              <a:ln>
                <a:noFill/>
              </a:ln>
            </p:spPr>
            <p:txBody>
              <a:bodyPr wrap="square" lIns="0" tIns="0" rIns="0" bIns="0" anchor="t" anchorCtr="0">
                <a:spAutoFit/>
              </a:bodyPr>
              <a:lstStyle/>
              <a:p>
                <a:pPr algn="l"/>
                <a:r>
                  <a:rPr lang="en" sz="1650" b="1" dirty="0">
                    <a:solidFill>
                      <a:srgbClr val="172A4C"/>
                    </a:solidFill>
                    <a:latin typeface="+mn-lt"/>
                    <a:ea typeface="+mn-ea"/>
                    <a:cs typeface="+mn-cs"/>
                  </a:rPr>
                  <a:t>2 Pilot</a:t>
                </a:r>
              </a:p>
            </p:txBody>
          </p:sp>
          <p:sp>
            <p:nvSpPr>
              <p:cNvPr id="15" name="TextBox 15"/>
              <p:cNvSpPr txBox="1"/>
              <p:nvPr/>
            </p:nvSpPr>
            <p:spPr>
              <a:xfrm>
                <a:off x="6697218" y="3708082"/>
                <a:ext cx="1983462" cy="322707"/>
              </a:xfrm>
              <a:prstGeom prst="rect">
                <a:avLst/>
              </a:prstGeom>
              <a:noFill/>
              <a:ln>
                <a:noFill/>
              </a:ln>
            </p:spPr>
            <p:txBody>
              <a:bodyPr wrap="square" lIns="0" tIns="0" rIns="0" bIns="0" anchor="t" anchorCtr="0">
                <a:spAutoFit/>
              </a:bodyPr>
              <a:lstStyle/>
              <a:p>
                <a:pPr algn="l"/>
                <a:r>
                  <a:rPr lang="en" sz="1650" b="1" dirty="0">
                    <a:solidFill>
                      <a:srgbClr val="172A4C"/>
                    </a:solidFill>
                    <a:latin typeface="+mn-lt"/>
                    <a:ea typeface="+mn-ea"/>
                    <a:cs typeface="+mn-cs"/>
                  </a:rPr>
                  <a:t>3 Institutions</a:t>
                </a:r>
              </a:p>
            </p:txBody>
          </p:sp>
          <p:sp>
            <p:nvSpPr>
              <p:cNvPr id="16" name="TextBox 16"/>
              <p:cNvSpPr txBox="1"/>
              <p:nvPr/>
            </p:nvSpPr>
            <p:spPr>
              <a:xfrm>
                <a:off x="9402318" y="3708082"/>
                <a:ext cx="1035527" cy="322707"/>
              </a:xfrm>
              <a:prstGeom prst="rect">
                <a:avLst/>
              </a:prstGeom>
              <a:noFill/>
              <a:ln>
                <a:noFill/>
              </a:ln>
            </p:spPr>
            <p:txBody>
              <a:bodyPr wrap="square" lIns="0" tIns="0" rIns="0" bIns="0" anchor="t" anchorCtr="0">
                <a:spAutoFit/>
              </a:bodyPr>
              <a:lstStyle/>
              <a:p>
                <a:pPr algn="l"/>
                <a:r>
                  <a:rPr lang="en" sz="1650" b="1" dirty="0">
                    <a:solidFill>
                      <a:srgbClr val="172A4C"/>
                    </a:solidFill>
                    <a:latin typeface="+mn-lt"/>
                    <a:ea typeface="+mn-ea"/>
                    <a:cs typeface="+mn-cs"/>
                  </a:rPr>
                  <a:t>4 Scale</a:t>
                </a:r>
              </a:p>
            </p:txBody>
          </p:sp>
        </p:grpSp>
        <p:grpSp>
          <p:nvGrpSpPr>
            <p:cNvPr id="22" name="Group 22"/>
            <p:cNvGrpSpPr/>
            <p:nvPr/>
          </p:nvGrpSpPr>
          <p:grpSpPr>
            <a:xfrm>
              <a:off x="678942" y="4616768"/>
              <a:ext cx="9434179" cy="740283"/>
              <a:chOff x="678942" y="4616768"/>
              <a:chExt cx="9434179" cy="740283"/>
            </a:xfrm>
          </p:grpSpPr>
          <p:sp>
            <p:nvSpPr>
              <p:cNvPr id="18" name="TextBox 18"/>
              <p:cNvSpPr txBox="1"/>
              <p:nvPr/>
            </p:nvSpPr>
            <p:spPr>
              <a:xfrm>
                <a:off x="678942" y="4616768"/>
                <a:ext cx="2063830" cy="511683"/>
              </a:xfrm>
              <a:prstGeom prst="rect">
                <a:avLst/>
              </a:prstGeom>
              <a:noFill/>
              <a:ln>
                <a:noFill/>
              </a:ln>
            </p:spPr>
            <p:txBody>
              <a:bodyPr wrap="square" lIns="0" tIns="0" rIns="0" bIns="0" anchor="t" anchorCtr="0">
                <a:spAutoFit/>
              </a:bodyPr>
              <a:lstStyle/>
              <a:p>
                <a:pPr algn="l">
                  <a:lnSpc>
                    <a:spcPts val="1950"/>
                  </a:lnSpc>
                </a:pPr>
                <a:r>
                  <a:rPr lang="en" sz="1350" b="1" dirty="0">
                    <a:solidFill>
                      <a:srgbClr val="1F3864"/>
                    </a:solidFill>
                    <a:latin typeface="+mn-lt"/>
                    <a:ea typeface="+mn-ea"/>
                    <a:cs typeface="+mn-cs"/>
                  </a:rPr>
                  <a:t>MINPOSTEL · ART</a:t>
                </a:r>
                <a:br/>
                <a:r>
                  <a:rPr lang="en" sz="1350" dirty="0">
                    <a:solidFill>
                      <a:srgbClr val="5B6477"/>
                    </a:solidFill>
                    <a:latin typeface="+mn-lt"/>
                    <a:ea typeface="+mn-ea"/>
                    <a:cs typeface="+mn-cs"/>
                  </a:rPr>
                  <a:t>National framework</a:t>
                </a:r>
              </a:p>
            </p:txBody>
          </p:sp>
          <p:sp>
            <p:nvSpPr>
              <p:cNvPr id="19" name="TextBox 19"/>
              <p:cNvSpPr txBox="1"/>
              <p:nvPr/>
            </p:nvSpPr>
            <p:spPr>
              <a:xfrm>
                <a:off x="3384042" y="4616768"/>
                <a:ext cx="1795938" cy="740283"/>
              </a:xfrm>
              <a:prstGeom prst="rect">
                <a:avLst/>
              </a:prstGeom>
              <a:noFill/>
              <a:ln>
                <a:noFill/>
              </a:ln>
            </p:spPr>
            <p:txBody>
              <a:bodyPr wrap="square" lIns="0" tIns="0" rIns="0" bIns="0" anchor="t" anchorCtr="0">
                <a:spAutoFit/>
              </a:bodyPr>
              <a:lstStyle/>
              <a:p>
                <a:pPr algn="l">
                  <a:lnSpc>
                    <a:spcPts val="1800"/>
                  </a:lnSpc>
                </a:pPr>
                <a:r>
                  <a:rPr lang="en" sz="1350" b="1" dirty="0">
                    <a:solidFill>
                      <a:srgbClr val="1F3864"/>
                    </a:solidFill>
                    <a:latin typeface="+mn-lt"/>
                    <a:ea typeface="+mn-ea"/>
                    <a:cs typeface="+mn-cs"/>
                  </a:rPr>
                  <a:t>MTN or Orange</a:t>
                </a:r>
              </a:p>
              <a:p>
                <a:pPr algn="l">
                  <a:lnSpc>
                    <a:spcPts val="1800"/>
                  </a:lnSpc>
                  <a:spcBef>
                    <a:spcPts val="150"/>
                  </a:spcBef>
                </a:pPr>
                <a:r>
                  <a:rPr lang="en" sz="1350" dirty="0">
                    <a:solidFill>
                      <a:srgbClr val="5B6477"/>
                    </a:solidFill>
                    <a:latin typeface="+mn-lt"/>
                    <a:ea typeface="+mn-ea"/>
                    <a:cs typeface="+mn-cs"/>
                  </a:rPr>
                  <a:t>LOI, SBc-AP link,</a:t>
                </a:r>
                <a:br/>
                <a:r>
                  <a:rPr lang="en" sz="1350" dirty="0">
                    <a:solidFill>
                      <a:srgbClr val="5B6477"/>
                    </a:solidFill>
                    <a:latin typeface="+mn-lt"/>
                    <a:ea typeface="+mn-ea"/>
                    <a:cs typeface="+mn-cs"/>
                  </a:rPr>
                  <a:t>one city</a:t>
                </a:r>
              </a:p>
            </p:txBody>
          </p:sp>
          <p:sp>
            <p:nvSpPr>
              <p:cNvPr id="20" name="TextBox 20"/>
              <p:cNvSpPr txBox="1"/>
              <p:nvPr/>
            </p:nvSpPr>
            <p:spPr>
              <a:xfrm>
                <a:off x="6089142" y="4616768"/>
                <a:ext cx="1862376" cy="511683"/>
              </a:xfrm>
              <a:prstGeom prst="rect">
                <a:avLst/>
              </a:prstGeom>
              <a:noFill/>
              <a:ln>
                <a:noFill/>
              </a:ln>
            </p:spPr>
            <p:txBody>
              <a:bodyPr wrap="square" lIns="0" tIns="0" rIns="0" bIns="0" anchor="t" anchorCtr="0">
                <a:spAutoFit/>
              </a:bodyPr>
              <a:lstStyle/>
              <a:p>
                <a:pPr algn="l">
                  <a:lnSpc>
                    <a:spcPts val="1950"/>
                  </a:lnSpc>
                </a:pPr>
                <a:r>
                  <a:rPr lang="en" sz="1350" b="1" dirty="0">
                    <a:solidFill>
                      <a:srgbClr val="1F3864"/>
                    </a:solidFill>
                    <a:latin typeface="+mn-lt"/>
                    <a:ea typeface="+mn-ea"/>
                    <a:cs typeface="+mn-cs"/>
                  </a:rPr>
                  <a:t>MINAT · MINSANTE</a:t>
                </a:r>
                <a:br/>
                <a:r>
                  <a:rPr lang="en" sz="1350" b="1" dirty="0">
                    <a:solidFill>
                      <a:srgbClr val="1F3864"/>
                    </a:solidFill>
                    <a:latin typeface="+mn-lt"/>
                    <a:ea typeface="+mn-ea"/>
                    <a:cs typeface="+mn-cs"/>
                  </a:rPr>
                  <a:t>MINDEF</a:t>
                </a:r>
              </a:p>
            </p:txBody>
          </p:sp>
          <p:sp>
            <p:nvSpPr>
              <p:cNvPr id="21" name="TextBox 21"/>
              <p:cNvSpPr txBox="1"/>
              <p:nvPr/>
            </p:nvSpPr>
            <p:spPr>
              <a:xfrm>
                <a:off x="8794242" y="4616768"/>
                <a:ext cx="1648598" cy="511683"/>
              </a:xfrm>
              <a:prstGeom prst="rect">
                <a:avLst/>
              </a:prstGeom>
              <a:noFill/>
              <a:ln>
                <a:noFill/>
              </a:ln>
            </p:spPr>
            <p:txBody>
              <a:bodyPr wrap="square" lIns="0" tIns="0" rIns="0" bIns="0" anchor="t" anchorCtr="0">
                <a:spAutoFit/>
              </a:bodyPr>
              <a:lstStyle/>
              <a:p>
                <a:pPr algn="l">
                  <a:lnSpc>
                    <a:spcPts val="1950"/>
                  </a:lnSpc>
                </a:pPr>
                <a:r>
                  <a:rPr lang="en" sz="1350" b="1" dirty="0">
                    <a:solidFill>
                      <a:srgbClr val="1F3864"/>
                    </a:solidFill>
                    <a:latin typeface="+mn-lt"/>
                    <a:ea typeface="+mn-ea"/>
                    <a:cs typeface="+mn-cs"/>
                  </a:rPr>
                  <a:t>All 4 operators</a:t>
                </a:r>
                <a:br/>
                <a:r>
                  <a:rPr lang="en" sz="1350" dirty="0">
                    <a:solidFill>
                      <a:srgbClr val="5B6477"/>
                    </a:solidFill>
                    <a:latin typeface="+mn-lt"/>
                    <a:ea typeface="+mn-ea"/>
                    <a:cs typeface="+mn-cs"/>
                  </a:rPr>
                  <a:t>then CEMAC</a:t>
                </a:r>
              </a:p>
            </p:txBody>
          </p:sp>
        </p:grpSp>
      </p:grpSp>
      <p:grpSp>
        <p:nvGrpSpPr>
          <p:cNvPr id="27" name="footer"/>
          <p:cNvGrpSpPr/>
          <p:nvPr/>
        </p:nvGrpSpPr>
        <p:grpSpPr>
          <a:xfrm>
            <a:off x="604838" y="6551295"/>
            <a:ext cx="10982324" cy="176212"/>
            <a:chOff x="604838" y="6551295"/>
            <a:chExt cx="10982324" cy="176212"/>
          </a:xfrm>
        </p:grpSpPr>
        <p:sp>
          <p:nvSpPr>
            <p:cNvPr id="24" name="TextBox 24"/>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25" name="TextBox 25"/>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26"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8802195" cy="917734"/>
            <a:chOff x="594360" y="640556"/>
            <a:chExt cx="8802195" cy="917734"/>
          </a:xfrm>
        </p:grpSpPr>
        <p:sp>
          <p:nvSpPr>
            <p:cNvPr id="3" name="TextBox 3"/>
            <p:cNvSpPr txBox="1"/>
            <p:nvPr/>
          </p:nvSpPr>
          <p:spPr>
            <a:xfrm>
              <a:off x="603885" y="640556"/>
              <a:ext cx="1079189"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TRACTION</a:t>
              </a:r>
            </a:p>
          </p:txBody>
        </p:sp>
        <p:sp>
          <p:nvSpPr>
            <p:cNvPr id="4" name="TextBox 4"/>
            <p:cNvSpPr txBox="1"/>
            <p:nvPr/>
          </p:nvSpPr>
          <p:spPr>
            <a:xfrm>
              <a:off x="594360" y="971550"/>
              <a:ext cx="11002743"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No customer yet, but a working prototype</a:t>
              </a:r>
            </a:p>
          </p:txBody>
        </p:sp>
      </p:grpSp>
      <p:grpSp>
        <p:nvGrpSpPr>
          <p:cNvPr id="33" name="proof-timeline"/>
          <p:cNvGrpSpPr/>
          <p:nvPr/>
        </p:nvGrpSpPr>
        <p:grpSpPr>
          <a:xfrm>
            <a:off x="726996" y="2401252"/>
            <a:ext cx="10812358" cy="2835593"/>
            <a:chOff x="726996" y="2401252"/>
            <a:chExt cx="10812358" cy="2835593"/>
          </a:xfrm>
        </p:grpSpPr>
        <p:sp>
          <p:nvSpPr>
            <p:cNvPr id="6" name="TextBox 6"/>
            <p:cNvSpPr txBox="1"/>
            <p:nvPr/>
          </p:nvSpPr>
          <p:spPr>
            <a:xfrm>
              <a:off x="947166" y="2401252"/>
              <a:ext cx="660441" cy="205359"/>
            </a:xfrm>
            <a:prstGeom prst="rect">
              <a:avLst/>
            </a:prstGeom>
            <a:noFill/>
            <a:ln>
              <a:noFill/>
            </a:ln>
          </p:spPr>
          <p:txBody>
            <a:bodyPr wrap="square" lIns="0" tIns="0" rIns="0" bIns="0" anchor="t" anchorCtr="0">
              <a:spAutoFit/>
            </a:bodyPr>
            <a:lstStyle/>
            <a:p>
              <a:pPr algn="l"/>
              <a:r>
                <a:rPr lang="en" sz="1050" b="1" spc="105" dirty="0">
                  <a:solidFill>
                    <a:srgbClr val="1F3864"/>
                  </a:solidFill>
                  <a:latin typeface="+mn-lt"/>
                  <a:ea typeface="+mn-ea"/>
                  <a:cs typeface="+mn-cs"/>
                </a:rPr>
                <a:t>DONE</a:t>
              </a:r>
            </a:p>
          </p:txBody>
        </p:sp>
        <p:sp>
          <p:nvSpPr>
            <p:cNvPr id="7" name="TextBox 7"/>
            <p:cNvSpPr txBox="1"/>
            <p:nvPr/>
          </p:nvSpPr>
          <p:spPr>
            <a:xfrm>
              <a:off x="6662166" y="2401252"/>
              <a:ext cx="2115465"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NEXT PROOF POINTS</a:t>
              </a:r>
            </a:p>
          </p:txBody>
        </p:sp>
        <p:sp>
          <p:nvSpPr>
            <p:cNvPr id="8" name="Line 8"/>
            <p:cNvSpPr/>
            <p:nvPr/>
          </p:nvSpPr>
          <p:spPr>
            <a:xfrm>
              <a:off x="952500" y="4191000"/>
              <a:ext cx="5238750" cy="9525"/>
            </a:xfrm>
            <a:custGeom>
              <a:avLst/>
              <a:gdLst/>
              <a:ahLst/>
              <a:cxnLst/>
              <a:rect l="l" t="t" r="r" b="b"/>
              <a:pathLst>
                <a:path w="5238750" h="9525">
                  <a:moveTo>
                    <a:pt x="0" y="0"/>
                  </a:moveTo>
                  <a:lnTo>
                    <a:pt x="5238750" y="0"/>
                  </a:lnTo>
                </a:path>
              </a:pathLst>
            </a:custGeom>
            <a:noFill/>
            <a:ln w="38100">
              <a:solidFill>
                <a:srgbClr val="1F3864"/>
              </a:solidFill>
            </a:ln>
          </p:spPr>
        </p:sp>
        <p:sp>
          <p:nvSpPr>
            <p:cNvPr id="9" name="Line 9"/>
            <p:cNvSpPr/>
            <p:nvPr/>
          </p:nvSpPr>
          <p:spPr>
            <a:xfrm>
              <a:off x="6191250" y="4191000"/>
              <a:ext cx="5048250" cy="9525"/>
            </a:xfrm>
            <a:custGeom>
              <a:avLst/>
              <a:gdLst/>
              <a:ahLst/>
              <a:cxnLst/>
              <a:rect l="l" t="t" r="r" b="b"/>
              <a:pathLst>
                <a:path w="5048250" h="9525">
                  <a:moveTo>
                    <a:pt x="0" y="0"/>
                  </a:moveTo>
                  <a:lnTo>
                    <a:pt x="5048250" y="0"/>
                  </a:lnTo>
                </a:path>
              </a:pathLst>
            </a:custGeom>
            <a:noFill/>
            <a:ln w="28575">
              <a:solidFill>
                <a:srgbClr val="CC6508"/>
              </a:solidFill>
              <a:prstDash val="lgDash"/>
            </a:ln>
          </p:spPr>
        </p:sp>
        <p:sp>
          <p:nvSpPr>
            <p:cNvPr id="10" name="Rectangle 10"/>
            <p:cNvSpPr/>
            <p:nvPr/>
          </p:nvSpPr>
          <p:spPr>
            <a:xfrm>
              <a:off x="5810250" y="4019550"/>
              <a:ext cx="762000" cy="342900"/>
            </a:xfrm>
            <a:prstGeom prst="roundRect">
              <a:avLst>
                <a:gd name="adj" fmla="val 50000"/>
              </a:avLst>
            </a:prstGeom>
            <a:solidFill>
              <a:srgbClr val="1F3864"/>
            </a:solidFill>
            <a:ln>
              <a:noFill/>
            </a:ln>
          </p:spPr>
        </p:sp>
        <p:sp>
          <p:nvSpPr>
            <p:cNvPr id="11" name="TextBox 11"/>
            <p:cNvSpPr txBox="1"/>
            <p:nvPr/>
          </p:nvSpPr>
          <p:spPr>
            <a:xfrm>
              <a:off x="5910876" y="4134802"/>
              <a:ext cx="560748" cy="205359"/>
            </a:xfrm>
            <a:prstGeom prst="rect">
              <a:avLst/>
            </a:prstGeom>
            <a:noFill/>
            <a:ln>
              <a:noFill/>
            </a:ln>
          </p:spPr>
          <p:txBody>
            <a:bodyPr wrap="square" lIns="0" tIns="0" rIns="0" bIns="0" anchor="t" anchorCtr="0">
              <a:spAutoFit/>
            </a:bodyPr>
            <a:lstStyle/>
            <a:p>
              <a:pPr algn="ctr"/>
              <a:r>
                <a:rPr lang="en" sz="1050" b="1" dirty="0">
                  <a:solidFill>
                    <a:srgbClr val="FFFFFF"/>
                  </a:solidFill>
                  <a:latin typeface="+mn-lt"/>
                  <a:ea typeface="+mn-ea"/>
                  <a:cs typeface="+mn-cs"/>
                </a:rPr>
                <a:t>NOW</a:t>
              </a:r>
            </a:p>
          </p:txBody>
        </p:sp>
        <p:grpSp>
          <p:nvGrpSpPr>
            <p:cNvPr id="15" name="done-prototype"/>
            <p:cNvGrpSpPr/>
            <p:nvPr/>
          </p:nvGrpSpPr>
          <p:grpSpPr>
            <a:xfrm>
              <a:off x="726996" y="3267075"/>
              <a:ext cx="2165509" cy="1114425"/>
              <a:chOff x="726996" y="3267075"/>
              <a:chExt cx="2165509" cy="1114425"/>
            </a:xfrm>
          </p:grpSpPr>
          <p:sp>
            <p:nvSpPr>
              <p:cNvPr id="12" name="Ellipse 12"/>
              <p:cNvSpPr/>
              <p:nvPr/>
            </p:nvSpPr>
            <p:spPr>
              <a:xfrm>
                <a:off x="1619250" y="4000500"/>
                <a:ext cx="381000" cy="381000"/>
              </a:xfrm>
              <a:prstGeom prst="ellipse">
                <a:avLst/>
              </a:prstGeom>
              <a:solidFill>
                <a:srgbClr val="1F3864"/>
              </a:solidFill>
              <a:ln>
                <a:noFill/>
              </a:ln>
            </p:spPr>
          </p:sp>
          <p:sp>
            <p:nvSpPr>
              <p:cNvPr id="13" name="Freeform 13"/>
              <p:cNvSpPr/>
              <p:nvPr/>
            </p:nvSpPr>
            <p:spPr>
              <a:xfrm>
                <a:off x="1731963" y="4135438"/>
                <a:ext cx="166688" cy="111125"/>
              </a:xfrm>
              <a:custGeom>
                <a:avLst/>
                <a:gdLst/>
                <a:ahLst/>
                <a:cxnLst/>
                <a:rect l="l" t="t" r="r" b="b"/>
                <a:pathLst>
                  <a:path w="166688" h="111125">
                    <a:moveTo>
                      <a:pt x="0" y="55563"/>
                    </a:moveTo>
                    <a:lnTo>
                      <a:pt x="55563" y="111125"/>
                    </a:lnTo>
                    <a:lnTo>
                      <a:pt x="166688" y="0"/>
                    </a:lnTo>
                  </a:path>
                </a:pathLst>
              </a:custGeom>
              <a:noFill/>
              <a:ln w="33338">
                <a:solidFill>
                  <a:srgbClr val="FFFFFF"/>
                </a:solidFill>
              </a:ln>
            </p:spPr>
          </p:sp>
          <p:sp>
            <p:nvSpPr>
              <p:cNvPr id="14" name="TextBox 14"/>
              <p:cNvSpPr txBox="1"/>
              <p:nvPr/>
            </p:nvSpPr>
            <p:spPr>
              <a:xfrm>
                <a:off x="456308" y="3267075"/>
                <a:ext cx="2706886" cy="541020"/>
              </a:xfrm>
              <a:prstGeom prst="rect">
                <a:avLst/>
              </a:prstGeom>
              <a:noFill/>
              <a:ln>
                <a:noFill/>
              </a:ln>
            </p:spPr>
            <p:txBody>
              <a:bodyPr wrap="square" lIns="0" tIns="0" rIns="0" bIns="0" anchor="t" anchorCtr="0">
                <a:spAutoFit/>
              </a:bodyPr>
              <a:lstStyle/>
              <a:p>
                <a:pPr algn="ctr">
                  <a:lnSpc>
                    <a:spcPts val="1950"/>
                  </a:lnSpc>
                </a:pPr>
                <a:r>
                  <a:rPr lang="en" sz="1500" b="1" dirty="0">
                    <a:solidFill>
                      <a:srgbClr val="1F3864"/>
                    </a:solidFill>
                    <a:latin typeface="+mn-lt"/>
                    <a:ea typeface="+mn-ea"/>
                    <a:cs typeface="+mn-cs"/>
                  </a:rPr>
                  <a:t>Working lab prototype</a:t>
                </a:r>
              </a:p>
              <a:p>
                <a:pPr algn="ctr">
                  <a:lnSpc>
                    <a:spcPts val="1950"/>
                  </a:lnSpc>
                </a:pPr>
                <a:r>
                  <a:rPr lang="en" sz="1200" dirty="0">
                    <a:solidFill>
                      <a:srgbClr val="5B6477"/>
                    </a:solidFill>
                    <a:latin typeface="+mn-lt"/>
                    <a:ea typeface="+mn-ea"/>
                    <a:cs typeface="+mn-cs"/>
                  </a:rPr>
                  <a:t>10 alert scenarios</a:t>
                </a:r>
              </a:p>
            </p:txBody>
          </p:sp>
        </p:grpSp>
        <p:grpSp>
          <p:nvGrpSpPr>
            <p:cNvPr id="19" name="done-assets"/>
            <p:cNvGrpSpPr/>
            <p:nvPr/>
          </p:nvGrpSpPr>
          <p:grpSpPr>
            <a:xfrm>
              <a:off x="2426494" y="4000500"/>
              <a:ext cx="2195512" cy="1236345"/>
              <a:chOff x="2426494" y="4000500"/>
              <a:chExt cx="2195512" cy="1236345"/>
            </a:xfrm>
          </p:grpSpPr>
          <p:sp>
            <p:nvSpPr>
              <p:cNvPr id="16" name="Ellipse 16"/>
              <p:cNvSpPr/>
              <p:nvPr/>
            </p:nvSpPr>
            <p:spPr>
              <a:xfrm>
                <a:off x="3333750" y="4000500"/>
                <a:ext cx="381000" cy="381000"/>
              </a:xfrm>
              <a:prstGeom prst="ellipse">
                <a:avLst/>
              </a:prstGeom>
              <a:solidFill>
                <a:srgbClr val="1F3864"/>
              </a:solidFill>
              <a:ln>
                <a:noFill/>
              </a:ln>
            </p:spPr>
          </p:sp>
          <p:sp>
            <p:nvSpPr>
              <p:cNvPr id="17" name="Freeform 17"/>
              <p:cNvSpPr/>
              <p:nvPr/>
            </p:nvSpPr>
            <p:spPr>
              <a:xfrm>
                <a:off x="3446463" y="4135438"/>
                <a:ext cx="166688" cy="111125"/>
              </a:xfrm>
              <a:custGeom>
                <a:avLst/>
                <a:gdLst/>
                <a:ahLst/>
                <a:cxnLst/>
                <a:rect l="l" t="t" r="r" b="b"/>
                <a:pathLst>
                  <a:path w="166688" h="111125">
                    <a:moveTo>
                      <a:pt x="0" y="55563"/>
                    </a:moveTo>
                    <a:lnTo>
                      <a:pt x="55563" y="111125"/>
                    </a:lnTo>
                    <a:lnTo>
                      <a:pt x="166688" y="0"/>
                    </a:lnTo>
                  </a:path>
                </a:pathLst>
              </a:custGeom>
              <a:noFill/>
              <a:ln w="33338">
                <a:solidFill>
                  <a:srgbClr val="FFFFFF"/>
                </a:solidFill>
              </a:ln>
            </p:spPr>
          </p:sp>
          <p:sp>
            <p:nvSpPr>
              <p:cNvPr id="18" name="TextBox 18"/>
              <p:cNvSpPr txBox="1"/>
              <p:nvPr/>
            </p:nvSpPr>
            <p:spPr>
              <a:xfrm>
                <a:off x="2152055" y="4695825"/>
                <a:ext cx="2744390" cy="541020"/>
              </a:xfrm>
              <a:prstGeom prst="rect">
                <a:avLst/>
              </a:prstGeom>
              <a:noFill/>
              <a:ln>
                <a:noFill/>
              </a:ln>
            </p:spPr>
            <p:txBody>
              <a:bodyPr wrap="square" lIns="0" tIns="0" rIns="0" bIns="0" anchor="t" anchorCtr="0">
                <a:spAutoFit/>
              </a:bodyPr>
              <a:lstStyle/>
              <a:p>
                <a:pPr algn="ctr">
                  <a:lnSpc>
                    <a:spcPts val="1950"/>
                  </a:lnSpc>
                </a:pPr>
                <a:r>
                  <a:rPr lang="en" sz="1500" b="1" dirty="0">
                    <a:solidFill>
                      <a:srgbClr val="1F3864"/>
                    </a:solidFill>
                    <a:latin typeface="+mn-lt"/>
                    <a:ea typeface="+mn-ea"/>
                    <a:cs typeface="+mn-cs"/>
                  </a:rPr>
                  <a:t>EN / FR technical guide</a:t>
                </a:r>
              </a:p>
              <a:p>
                <a:pPr algn="ctr">
                  <a:lnSpc>
                    <a:spcPts val="1950"/>
                  </a:lnSpc>
                </a:pPr>
                <a:r>
                  <a:rPr lang="en" sz="1200" dirty="0">
                    <a:solidFill>
                      <a:srgbClr val="5B6477"/>
                    </a:solidFill>
                    <a:latin typeface="+mn-lt"/>
                    <a:ea typeface="+mn-ea"/>
                    <a:cs typeface="+mn-cs"/>
                  </a:rPr>
                  <a:t>and demo scripts</a:t>
                </a:r>
              </a:p>
            </p:txBody>
          </p:sp>
        </p:grpSp>
        <p:grpSp>
          <p:nvGrpSpPr>
            <p:cNvPr id="23" name="done-pitch"/>
            <p:cNvGrpSpPr/>
            <p:nvPr/>
          </p:nvGrpSpPr>
          <p:grpSpPr>
            <a:xfrm>
              <a:off x="3890010" y="3267075"/>
              <a:ext cx="2506980" cy="1114425"/>
              <a:chOff x="3890010" y="3267075"/>
              <a:chExt cx="2506980" cy="1114425"/>
            </a:xfrm>
          </p:grpSpPr>
          <p:sp>
            <p:nvSpPr>
              <p:cNvPr id="20" name="Ellipse 20"/>
              <p:cNvSpPr/>
              <p:nvPr/>
            </p:nvSpPr>
            <p:spPr>
              <a:xfrm>
                <a:off x="4953000" y="4000500"/>
                <a:ext cx="381000" cy="381000"/>
              </a:xfrm>
              <a:prstGeom prst="ellipse">
                <a:avLst/>
              </a:prstGeom>
              <a:solidFill>
                <a:srgbClr val="1F3864"/>
              </a:solidFill>
              <a:ln>
                <a:noFill/>
              </a:ln>
            </p:spPr>
          </p:sp>
          <p:sp>
            <p:nvSpPr>
              <p:cNvPr id="21" name="Freeform 21"/>
              <p:cNvSpPr/>
              <p:nvPr/>
            </p:nvSpPr>
            <p:spPr>
              <a:xfrm>
                <a:off x="5065713" y="4135438"/>
                <a:ext cx="166688" cy="111125"/>
              </a:xfrm>
              <a:custGeom>
                <a:avLst/>
                <a:gdLst/>
                <a:ahLst/>
                <a:cxnLst/>
                <a:rect l="l" t="t" r="r" b="b"/>
                <a:pathLst>
                  <a:path w="166688" h="111125">
                    <a:moveTo>
                      <a:pt x="0" y="55563"/>
                    </a:moveTo>
                    <a:lnTo>
                      <a:pt x="55563" y="111125"/>
                    </a:lnTo>
                    <a:lnTo>
                      <a:pt x="166688" y="0"/>
                    </a:lnTo>
                  </a:path>
                </a:pathLst>
              </a:custGeom>
              <a:noFill/>
              <a:ln w="33338">
                <a:solidFill>
                  <a:srgbClr val="FFFFFF"/>
                </a:solidFill>
              </a:ln>
            </p:spPr>
          </p:sp>
          <p:sp>
            <p:nvSpPr>
              <p:cNvPr id="22" name="TextBox 22"/>
              <p:cNvSpPr txBox="1"/>
              <p:nvPr/>
            </p:nvSpPr>
            <p:spPr>
              <a:xfrm>
                <a:off x="3576638" y="3267075"/>
                <a:ext cx="3133725" cy="541020"/>
              </a:xfrm>
              <a:prstGeom prst="rect">
                <a:avLst/>
              </a:prstGeom>
              <a:noFill/>
              <a:ln>
                <a:noFill/>
              </a:ln>
            </p:spPr>
            <p:txBody>
              <a:bodyPr wrap="square" lIns="0" tIns="0" rIns="0" bIns="0" anchor="t" anchorCtr="0">
                <a:spAutoFit/>
              </a:bodyPr>
              <a:lstStyle/>
              <a:p>
                <a:pPr algn="ctr">
                  <a:lnSpc>
                    <a:spcPts val="1950"/>
                  </a:lnSpc>
                </a:pPr>
                <a:r>
                  <a:rPr lang="en" sz="1500" b="1" dirty="0">
                    <a:solidFill>
                      <a:srgbClr val="1F3864"/>
                    </a:solidFill>
                    <a:latin typeface="+mn-lt"/>
                    <a:ea typeface="+mn-ea"/>
                    <a:cs typeface="+mn-cs"/>
                  </a:rPr>
                  <a:t>21 Sep 2026</a:t>
                </a:r>
              </a:p>
              <a:p>
                <a:pPr algn="ctr">
                  <a:lnSpc>
                    <a:spcPts val="1950"/>
                  </a:lnSpc>
                </a:pPr>
                <a:r>
                  <a:rPr lang="en" sz="1200" dirty="0">
                    <a:solidFill>
                      <a:srgbClr val="5B6477"/>
                    </a:solidFill>
                    <a:latin typeface="+mn-lt"/>
                    <a:ea typeface="+mn-ea"/>
                    <a:cs typeface="+mn-cs"/>
                  </a:rPr>
                  <a:t>Internal pitch, PKF Telco Academy</a:t>
                </a:r>
              </a:p>
            </p:txBody>
          </p:sp>
        </p:grpSp>
        <p:grpSp>
          <p:nvGrpSpPr>
            <p:cNvPr id="26" name="next-minpostel"/>
            <p:cNvGrpSpPr/>
            <p:nvPr/>
          </p:nvGrpSpPr>
          <p:grpSpPr>
            <a:xfrm>
              <a:off x="6510754" y="4019550"/>
              <a:ext cx="2027992" cy="969645"/>
              <a:chOff x="6510754" y="4019550"/>
              <a:chExt cx="2027992" cy="969645"/>
            </a:xfrm>
          </p:grpSpPr>
          <p:sp>
            <p:nvSpPr>
              <p:cNvPr id="24" name="Ellipse 24"/>
              <p:cNvSpPr/>
              <p:nvPr/>
            </p:nvSpPr>
            <p:spPr>
              <a:xfrm>
                <a:off x="7353300" y="4019550"/>
                <a:ext cx="342900" cy="342900"/>
              </a:xfrm>
              <a:prstGeom prst="ellipse">
                <a:avLst/>
              </a:prstGeom>
              <a:solidFill>
                <a:srgbClr val="FAF6F0"/>
              </a:solidFill>
              <a:ln w="28575">
                <a:solidFill>
                  <a:srgbClr val="CC6508"/>
                </a:solidFill>
              </a:ln>
            </p:spPr>
          </p:sp>
          <p:sp>
            <p:nvSpPr>
              <p:cNvPr id="25" name="TextBox 25"/>
              <p:cNvSpPr txBox="1"/>
              <p:nvPr/>
            </p:nvSpPr>
            <p:spPr>
              <a:xfrm>
                <a:off x="6257255" y="4695825"/>
                <a:ext cx="2534990"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MINPOSTEL meeting</a:t>
                </a:r>
              </a:p>
            </p:txBody>
          </p:sp>
        </p:grpSp>
        <p:grpSp>
          <p:nvGrpSpPr>
            <p:cNvPr id="29" name="next-loi"/>
            <p:cNvGrpSpPr/>
            <p:nvPr/>
          </p:nvGrpSpPr>
          <p:grpSpPr>
            <a:xfrm>
              <a:off x="8226081" y="3400425"/>
              <a:ext cx="1835839" cy="962025"/>
              <a:chOff x="8226081" y="3400425"/>
              <a:chExt cx="1835839" cy="962025"/>
            </a:xfrm>
          </p:grpSpPr>
          <p:sp>
            <p:nvSpPr>
              <p:cNvPr id="27" name="Ellipse 27"/>
              <p:cNvSpPr/>
              <p:nvPr/>
            </p:nvSpPr>
            <p:spPr>
              <a:xfrm>
                <a:off x="8972550" y="4019550"/>
                <a:ext cx="342900" cy="342900"/>
              </a:xfrm>
              <a:prstGeom prst="ellipse">
                <a:avLst/>
              </a:prstGeom>
              <a:solidFill>
                <a:srgbClr val="FAF6F0"/>
              </a:solidFill>
              <a:ln w="28575">
                <a:solidFill>
                  <a:srgbClr val="CC6508"/>
                </a:solidFill>
              </a:ln>
            </p:spPr>
          </p:sp>
          <p:sp>
            <p:nvSpPr>
              <p:cNvPr id="28" name="TextBox 28"/>
              <p:cNvSpPr txBox="1"/>
              <p:nvPr/>
            </p:nvSpPr>
            <p:spPr>
              <a:xfrm>
                <a:off x="7996602" y="3400425"/>
                <a:ext cx="2294798"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One operator LOI</a:t>
                </a:r>
              </a:p>
            </p:txBody>
          </p:sp>
        </p:grpSp>
        <p:grpSp>
          <p:nvGrpSpPr>
            <p:cNvPr id="32" name="next-tac"/>
            <p:cNvGrpSpPr/>
            <p:nvPr/>
          </p:nvGrpSpPr>
          <p:grpSpPr>
            <a:xfrm>
              <a:off x="9529945" y="4019550"/>
              <a:ext cx="2009409" cy="969645"/>
              <a:chOff x="9529945" y="4019550"/>
              <a:chExt cx="2009409" cy="969645"/>
            </a:xfrm>
          </p:grpSpPr>
          <p:sp>
            <p:nvSpPr>
              <p:cNvPr id="30" name="Ellipse 30"/>
              <p:cNvSpPr/>
              <p:nvPr/>
            </p:nvSpPr>
            <p:spPr>
              <a:xfrm>
                <a:off x="10363200" y="4019550"/>
                <a:ext cx="342900" cy="342900"/>
              </a:xfrm>
              <a:prstGeom prst="ellipse">
                <a:avLst/>
              </a:prstGeom>
              <a:solidFill>
                <a:srgbClr val="FAF6F0"/>
              </a:solidFill>
              <a:ln w="28575">
                <a:solidFill>
                  <a:srgbClr val="CC6508"/>
                </a:solidFill>
              </a:ln>
            </p:spPr>
          </p:sp>
          <p:sp>
            <p:nvSpPr>
              <p:cNvPr id="31" name="TextBox 31"/>
              <p:cNvSpPr txBox="1"/>
              <p:nvPr/>
            </p:nvSpPr>
            <p:spPr>
              <a:xfrm>
                <a:off x="9278769" y="4695825"/>
                <a:ext cx="2511761"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TAC-targeted demo</a:t>
                </a:r>
              </a:p>
            </p:txBody>
          </p:sp>
        </p:grpSp>
      </p:grpSp>
      <p:grpSp>
        <p:nvGrpSpPr>
          <p:cNvPr id="37" name="footer"/>
          <p:cNvGrpSpPr/>
          <p:nvPr/>
        </p:nvGrpSpPr>
        <p:grpSpPr>
          <a:xfrm>
            <a:off x="604838" y="6551295"/>
            <a:ext cx="10982324" cy="176212"/>
            <a:chOff x="604838" y="6551295"/>
            <a:chExt cx="10982324" cy="176212"/>
          </a:xfrm>
        </p:grpSpPr>
        <p:sp>
          <p:nvSpPr>
            <p:cNvPr id="34" name="TextBox 34"/>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35" name="TextBox 35"/>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36"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7522947" cy="917734"/>
            <a:chOff x="594360" y="640556"/>
            <a:chExt cx="7522947" cy="917734"/>
          </a:xfrm>
        </p:grpSpPr>
        <p:sp>
          <p:nvSpPr>
            <p:cNvPr id="3" name="TextBox 3"/>
            <p:cNvSpPr txBox="1"/>
            <p:nvPr/>
          </p:nvSpPr>
          <p:spPr>
            <a:xfrm>
              <a:off x="603885" y="640556"/>
              <a:ext cx="1499343"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COMPETITION</a:t>
              </a:r>
            </a:p>
          </p:txBody>
        </p:sp>
        <p:sp>
          <p:nvSpPr>
            <p:cNvPr id="4" name="TextBox 4"/>
            <p:cNvSpPr txBox="1"/>
            <p:nvPr/>
          </p:nvSpPr>
          <p:spPr>
            <a:xfrm>
              <a:off x="594360" y="971550"/>
              <a:ext cx="9403683"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F2G is the local, all-operator option</a:t>
              </a:r>
            </a:p>
          </p:txBody>
        </p:sp>
      </p:grpSp>
      <p:grpSp>
        <p:nvGrpSpPr>
          <p:cNvPr id="25" name="positioning-map"/>
          <p:cNvGrpSpPr/>
          <p:nvPr/>
        </p:nvGrpSpPr>
        <p:grpSpPr>
          <a:xfrm>
            <a:off x="11034" y="1771650"/>
            <a:ext cx="8294766" cy="4505706"/>
            <a:chOff x="11034" y="1771650"/>
            <a:chExt cx="8294766" cy="4505706"/>
          </a:xfrm>
        </p:grpSpPr>
        <p:sp>
          <p:nvSpPr>
            <p:cNvPr id="6" name="Rectangle 6"/>
            <p:cNvSpPr/>
            <p:nvPr/>
          </p:nvSpPr>
          <p:spPr>
            <a:xfrm>
              <a:off x="4953000" y="1866900"/>
              <a:ext cx="3238500" cy="1905000"/>
            </a:xfrm>
            <a:prstGeom prst="rect">
              <a:avLst/>
            </a:prstGeom>
            <a:solidFill>
              <a:srgbClr val="FBE3D0"/>
            </a:solidFill>
            <a:ln>
              <a:noFill/>
            </a:ln>
          </p:spPr>
        </p:sp>
        <p:sp>
          <p:nvSpPr>
            <p:cNvPr id="7" name="Line 7"/>
            <p:cNvSpPr/>
            <p:nvPr/>
          </p:nvSpPr>
          <p:spPr>
            <a:xfrm>
              <a:off x="4953000" y="1866900"/>
              <a:ext cx="9525" cy="3810000"/>
            </a:xfrm>
            <a:custGeom>
              <a:avLst/>
              <a:gdLst/>
              <a:ahLst/>
              <a:cxnLst/>
              <a:rect l="l" t="t" r="r" b="b"/>
              <a:pathLst>
                <a:path w="9525" h="3810000">
                  <a:moveTo>
                    <a:pt x="0" y="0"/>
                  </a:moveTo>
                  <a:lnTo>
                    <a:pt x="0" y="3810000"/>
                  </a:lnTo>
                </a:path>
              </a:pathLst>
            </a:custGeom>
            <a:noFill/>
            <a:ln w="14288">
              <a:solidFill>
                <a:srgbClr val="C9D2E3"/>
              </a:solidFill>
              <a:prstDash val="dash"/>
            </a:ln>
          </p:spPr>
        </p:sp>
        <p:sp>
          <p:nvSpPr>
            <p:cNvPr id="8" name="Line 8"/>
            <p:cNvSpPr/>
            <p:nvPr/>
          </p:nvSpPr>
          <p:spPr>
            <a:xfrm>
              <a:off x="1714500" y="3771900"/>
              <a:ext cx="6477000" cy="9525"/>
            </a:xfrm>
            <a:custGeom>
              <a:avLst/>
              <a:gdLst/>
              <a:ahLst/>
              <a:cxnLst/>
              <a:rect l="l" t="t" r="r" b="b"/>
              <a:pathLst>
                <a:path w="6477000" h="9525">
                  <a:moveTo>
                    <a:pt x="0" y="0"/>
                  </a:moveTo>
                  <a:lnTo>
                    <a:pt x="6477000" y="0"/>
                  </a:lnTo>
                </a:path>
              </a:pathLst>
            </a:custGeom>
            <a:noFill/>
            <a:ln w="14288">
              <a:solidFill>
                <a:srgbClr val="C9D2E3"/>
              </a:solidFill>
              <a:prstDash val="dash"/>
            </a:ln>
          </p:spPr>
        </p:sp>
        <p:sp>
          <p:nvSpPr>
            <p:cNvPr id="9" name="Line 9"/>
            <p:cNvSpPr/>
            <p:nvPr/>
          </p:nvSpPr>
          <p:spPr>
            <a:xfrm>
              <a:off x="1714500" y="5676900"/>
              <a:ext cx="6591300" cy="1"/>
            </a:xfrm>
            <a:prstGeom prst="line">
              <a:avLst/>
            </a:prstGeom>
            <a:noFill/>
            <a:ln w="19050">
              <a:solidFill>
                <a:srgbClr val="1F3864"/>
              </a:solidFill>
              <a:tailEnd type="triangle" w="lg" len="lg"/>
            </a:ln>
          </p:spPr>
        </p:sp>
        <p:sp>
          <p:nvSpPr>
            <p:cNvPr id="10" name="Line 10"/>
            <p:cNvSpPr/>
            <p:nvPr/>
          </p:nvSpPr>
          <p:spPr>
            <a:xfrm flipV="1">
              <a:off x="1714500" y="1771650"/>
              <a:ext cx="1" cy="3905250"/>
            </a:xfrm>
            <a:prstGeom prst="line">
              <a:avLst/>
            </a:prstGeom>
            <a:noFill/>
            <a:ln w="19050">
              <a:solidFill>
                <a:srgbClr val="1F3864"/>
              </a:solidFill>
              <a:tailEnd type="triangle" w="lg" len="lg"/>
            </a:ln>
          </p:spPr>
        </p:sp>
        <p:sp>
          <p:nvSpPr>
            <p:cNvPr id="11" name="TextBox 11"/>
            <p:cNvSpPr txBox="1"/>
            <p:nvPr/>
          </p:nvSpPr>
          <p:spPr>
            <a:xfrm>
              <a:off x="3955969" y="6042660"/>
              <a:ext cx="1994062" cy="234696"/>
            </a:xfrm>
            <a:prstGeom prst="rect">
              <a:avLst/>
            </a:prstGeom>
            <a:noFill/>
            <a:ln>
              <a:noFill/>
            </a:ln>
          </p:spPr>
          <p:txBody>
            <a:bodyPr wrap="square" lIns="0" tIns="0" rIns="0" bIns="0" anchor="t" anchorCtr="0">
              <a:spAutoFit/>
            </a:bodyPr>
            <a:lstStyle/>
            <a:p>
              <a:pPr algn="ctr"/>
              <a:r>
                <a:rPr lang="en" sz="1200" b="1" dirty="0">
                  <a:solidFill>
                    <a:srgbClr val="1F3864"/>
                  </a:solidFill>
                  <a:latin typeface="+mn-lt"/>
                  <a:ea typeface="+mn-ea"/>
                  <a:cs typeface="+mn-cs"/>
                </a:rPr>
                <a:t>Operator coverage</a:t>
              </a:r>
            </a:p>
          </p:txBody>
        </p:sp>
        <p:sp>
          <p:nvSpPr>
            <p:cNvPr id="12" name="TextBox 12"/>
            <p:cNvSpPr txBox="1"/>
            <p:nvPr/>
          </p:nvSpPr>
          <p:spPr>
            <a:xfrm>
              <a:off x="1709166" y="5811202"/>
              <a:ext cx="1141466" cy="205359"/>
            </a:xfrm>
            <a:prstGeom prst="rect">
              <a:avLst/>
            </a:prstGeom>
            <a:noFill/>
            <a:ln>
              <a:noFill/>
            </a:ln>
          </p:spPr>
          <p:txBody>
            <a:bodyPr wrap="square" lIns="0" tIns="0" rIns="0" bIns="0" anchor="t" anchorCtr="0">
              <a:spAutoFit/>
            </a:bodyPr>
            <a:lstStyle/>
            <a:p>
              <a:pPr algn="l"/>
              <a:r>
                <a:rPr lang="en" sz="1050" dirty="0">
                  <a:solidFill>
                    <a:srgbClr val="5B6477"/>
                  </a:solidFill>
                  <a:latin typeface="+mn-lt"/>
                  <a:ea typeface="+mn-ea"/>
                  <a:cs typeface="+mn-cs"/>
                </a:rPr>
                <a:t>Per operator</a:t>
              </a:r>
            </a:p>
          </p:txBody>
        </p:sp>
        <p:sp>
          <p:nvSpPr>
            <p:cNvPr id="13" name="TextBox 13"/>
            <p:cNvSpPr txBox="1"/>
            <p:nvPr/>
          </p:nvSpPr>
          <p:spPr>
            <a:xfrm>
              <a:off x="7047357" y="5811202"/>
              <a:ext cx="1149477" cy="205359"/>
            </a:xfrm>
            <a:prstGeom prst="rect">
              <a:avLst/>
            </a:prstGeom>
            <a:noFill/>
            <a:ln>
              <a:noFill/>
            </a:ln>
          </p:spPr>
          <p:txBody>
            <a:bodyPr wrap="square" lIns="0" tIns="0" rIns="0" bIns="0" anchor="t" anchorCtr="0">
              <a:spAutoFit/>
            </a:bodyPr>
            <a:lstStyle/>
            <a:p>
              <a:pPr algn="r"/>
              <a:r>
                <a:rPr lang="en" sz="1050" dirty="0">
                  <a:solidFill>
                    <a:srgbClr val="5B6477"/>
                  </a:solidFill>
                  <a:latin typeface="+mn-lt"/>
                  <a:ea typeface="+mn-ea"/>
                  <a:cs typeface="+mn-cs"/>
                </a:rPr>
                <a:t>All operators</a:t>
              </a:r>
            </a:p>
          </p:txBody>
        </p:sp>
        <p:sp>
          <p:nvSpPr>
            <p:cNvPr id="14" name="TextBox 14"/>
            <p:cNvSpPr txBox="1"/>
            <p:nvPr/>
          </p:nvSpPr>
          <p:spPr>
            <a:xfrm rot="-5400000">
              <a:off x="-249859" y="3654552"/>
              <a:ext cx="2608935" cy="234696"/>
            </a:xfrm>
            <a:prstGeom prst="rect">
              <a:avLst/>
            </a:prstGeom>
            <a:noFill/>
            <a:ln>
              <a:noFill/>
            </a:ln>
          </p:spPr>
          <p:txBody>
            <a:bodyPr wrap="square" lIns="0" tIns="0" rIns="0" bIns="0" anchor="t" anchorCtr="0">
              <a:spAutoFit/>
            </a:bodyPr>
            <a:lstStyle/>
            <a:p>
              <a:pPr algn="ctr"/>
              <a:r>
                <a:rPr lang="en" sz="1200" b="1" dirty="0">
                  <a:solidFill>
                    <a:srgbClr val="1F3864"/>
                  </a:solidFill>
                  <a:latin typeface="+mn-lt"/>
                  <a:ea typeface="+mn-ea"/>
                  <a:cs typeface="+mn-cs"/>
                </a:rPr>
                <a:t>Local presence and speed</a:t>
              </a:r>
            </a:p>
          </p:txBody>
        </p:sp>
        <p:sp>
          <p:nvSpPr>
            <p:cNvPr id="15" name="TextBox 15"/>
            <p:cNvSpPr txBox="1"/>
            <p:nvPr/>
          </p:nvSpPr>
          <p:spPr>
            <a:xfrm>
              <a:off x="1099833" y="5506402"/>
              <a:ext cx="505701" cy="205359"/>
            </a:xfrm>
            <a:prstGeom prst="rect">
              <a:avLst/>
            </a:prstGeom>
            <a:noFill/>
            <a:ln>
              <a:noFill/>
            </a:ln>
          </p:spPr>
          <p:txBody>
            <a:bodyPr wrap="square" lIns="0" tIns="0" rIns="0" bIns="0" anchor="t" anchorCtr="0">
              <a:spAutoFit/>
            </a:bodyPr>
            <a:lstStyle/>
            <a:p>
              <a:pPr algn="r"/>
              <a:r>
                <a:rPr lang="en" sz="1050" dirty="0">
                  <a:solidFill>
                    <a:srgbClr val="5B6477"/>
                  </a:solidFill>
                  <a:latin typeface="+mn-lt"/>
                  <a:ea typeface="+mn-ea"/>
                  <a:cs typeface="+mn-cs"/>
                </a:rPr>
                <a:t>Low</a:t>
              </a:r>
            </a:p>
          </p:txBody>
        </p:sp>
        <p:sp>
          <p:nvSpPr>
            <p:cNvPr id="16" name="TextBox 16"/>
            <p:cNvSpPr txBox="1"/>
            <p:nvPr/>
          </p:nvSpPr>
          <p:spPr>
            <a:xfrm>
              <a:off x="1086731" y="1829752"/>
              <a:ext cx="518803" cy="205359"/>
            </a:xfrm>
            <a:prstGeom prst="rect">
              <a:avLst/>
            </a:prstGeom>
            <a:noFill/>
            <a:ln>
              <a:noFill/>
            </a:ln>
          </p:spPr>
          <p:txBody>
            <a:bodyPr wrap="square" lIns="0" tIns="0" rIns="0" bIns="0" anchor="t" anchorCtr="0">
              <a:spAutoFit/>
            </a:bodyPr>
            <a:lstStyle/>
            <a:p>
              <a:pPr algn="r"/>
              <a:r>
                <a:rPr lang="en" sz="1050" dirty="0">
                  <a:solidFill>
                    <a:srgbClr val="5B6477"/>
                  </a:solidFill>
                  <a:latin typeface="+mn-lt"/>
                  <a:ea typeface="+mn-ea"/>
                  <a:cs typeface="+mn-cs"/>
                </a:rPr>
                <a:t>High</a:t>
              </a:r>
            </a:p>
          </p:txBody>
        </p:sp>
        <p:sp>
          <p:nvSpPr>
            <p:cNvPr id="17" name="Ellipse 17"/>
            <p:cNvSpPr/>
            <p:nvPr/>
          </p:nvSpPr>
          <p:spPr>
            <a:xfrm>
              <a:off x="2152650" y="2438400"/>
              <a:ext cx="266700" cy="266700"/>
            </a:xfrm>
            <a:prstGeom prst="ellipse">
              <a:avLst/>
            </a:prstGeom>
            <a:solidFill>
              <a:srgbClr val="FAF6F0"/>
            </a:solidFill>
            <a:ln w="28575">
              <a:solidFill>
                <a:srgbClr val="1F3864"/>
              </a:solidFill>
            </a:ln>
          </p:spPr>
        </p:sp>
        <p:sp>
          <p:nvSpPr>
            <p:cNvPr id="18" name="TextBox 18"/>
            <p:cNvSpPr txBox="1"/>
            <p:nvPr/>
          </p:nvSpPr>
          <p:spPr>
            <a:xfrm>
              <a:off x="2507742" y="2387918"/>
              <a:ext cx="1800701" cy="473583"/>
            </a:xfrm>
            <a:prstGeom prst="rect">
              <a:avLst/>
            </a:prstGeom>
            <a:noFill/>
            <a:ln>
              <a:noFill/>
            </a:ln>
          </p:spPr>
          <p:txBody>
            <a:bodyPr wrap="square" lIns="0" tIns="0" rIns="0" bIns="0" anchor="t" anchorCtr="0">
              <a:spAutoFit/>
            </a:bodyPr>
            <a:lstStyle/>
            <a:p>
              <a:pPr algn="l">
                <a:lnSpc>
                  <a:spcPts val="1650"/>
                </a:lnSpc>
              </a:pPr>
              <a:r>
                <a:rPr lang="en" sz="1350" b="1" dirty="0">
                  <a:solidFill>
                    <a:srgbClr val="1F3864"/>
                  </a:solidFill>
                  <a:latin typeface="+mn-lt"/>
                  <a:ea typeface="+mn-ea"/>
                  <a:cs typeface="+mn-cs"/>
                </a:rPr>
                <a:t>Mass SMS</a:t>
              </a:r>
            </a:p>
            <a:p>
              <a:pPr algn="l">
                <a:lnSpc>
                  <a:spcPts val="1650"/>
                </a:lnSpc>
              </a:pPr>
              <a:r>
                <a:rPr lang="en" sz="1050" dirty="0">
                  <a:solidFill>
                    <a:srgbClr val="5B6477"/>
                  </a:solidFill>
                  <a:latin typeface="+mn-lt"/>
                  <a:ea typeface="+mn-ea"/>
                  <a:cs typeface="+mn-cs"/>
                </a:rPr>
                <a:t>today; needs numbers</a:t>
              </a:r>
            </a:p>
          </p:txBody>
        </p:sp>
        <p:sp>
          <p:nvSpPr>
            <p:cNvPr id="19" name="Ellipse 19"/>
            <p:cNvSpPr/>
            <p:nvPr/>
          </p:nvSpPr>
          <p:spPr>
            <a:xfrm>
              <a:off x="2152650" y="4629150"/>
              <a:ext cx="266700" cy="266700"/>
            </a:xfrm>
            <a:prstGeom prst="ellipse">
              <a:avLst/>
            </a:prstGeom>
            <a:solidFill>
              <a:srgbClr val="1F3864"/>
            </a:solidFill>
            <a:ln>
              <a:noFill/>
            </a:ln>
          </p:spPr>
        </p:sp>
        <p:sp>
          <p:nvSpPr>
            <p:cNvPr id="20" name="TextBox 20"/>
            <p:cNvSpPr txBox="1"/>
            <p:nvPr/>
          </p:nvSpPr>
          <p:spPr>
            <a:xfrm>
              <a:off x="2507742" y="4578668"/>
              <a:ext cx="2019895" cy="473583"/>
            </a:xfrm>
            <a:prstGeom prst="rect">
              <a:avLst/>
            </a:prstGeom>
            <a:noFill/>
            <a:ln>
              <a:noFill/>
            </a:ln>
          </p:spPr>
          <p:txBody>
            <a:bodyPr wrap="square" lIns="0" tIns="0" rIns="0" bIns="0" anchor="t" anchorCtr="0">
              <a:spAutoFit/>
            </a:bodyPr>
            <a:lstStyle/>
            <a:p>
              <a:pPr algn="l">
                <a:lnSpc>
                  <a:spcPts val="1650"/>
                </a:lnSpc>
              </a:pPr>
              <a:r>
                <a:rPr lang="en" sz="1350" b="1" dirty="0">
                  <a:solidFill>
                    <a:srgbClr val="1F3864"/>
                  </a:solidFill>
                  <a:latin typeface="+mn-lt"/>
                  <a:ea typeface="+mn-ea"/>
                  <a:cs typeface="+mn-cs"/>
                </a:rPr>
                <a:t>Global vendor CBCs</a:t>
              </a:r>
            </a:p>
            <a:p>
              <a:pPr algn="l">
                <a:lnSpc>
                  <a:spcPts val="1650"/>
                </a:lnSpc>
              </a:pPr>
              <a:r>
                <a:rPr lang="en" sz="1050" dirty="0">
                  <a:solidFill>
                    <a:srgbClr val="5B6477"/>
                  </a:solidFill>
                  <a:latin typeface="+mn-lt"/>
                  <a:ea typeface="+mn-ea"/>
                  <a:cs typeface="+mn-cs"/>
                </a:rPr>
                <a:t>Nokia, Ericsson</a:t>
              </a:r>
            </a:p>
          </p:txBody>
        </p:sp>
        <p:sp>
          <p:nvSpPr>
            <p:cNvPr id="21" name="Ellipse 21"/>
            <p:cNvSpPr/>
            <p:nvPr/>
          </p:nvSpPr>
          <p:spPr>
            <a:xfrm>
              <a:off x="5391150" y="4819650"/>
              <a:ext cx="266700" cy="266700"/>
            </a:xfrm>
            <a:prstGeom prst="ellipse">
              <a:avLst/>
            </a:prstGeom>
            <a:solidFill>
              <a:srgbClr val="1F3864"/>
            </a:solidFill>
            <a:ln>
              <a:noFill/>
            </a:ln>
          </p:spPr>
        </p:sp>
        <p:sp>
          <p:nvSpPr>
            <p:cNvPr id="22" name="TextBox 22"/>
            <p:cNvSpPr txBox="1"/>
            <p:nvPr/>
          </p:nvSpPr>
          <p:spPr>
            <a:xfrm>
              <a:off x="5746242" y="4769168"/>
              <a:ext cx="2019895" cy="473583"/>
            </a:xfrm>
            <a:prstGeom prst="rect">
              <a:avLst/>
            </a:prstGeom>
            <a:noFill/>
            <a:ln>
              <a:noFill/>
            </a:ln>
          </p:spPr>
          <p:txBody>
            <a:bodyPr wrap="square" lIns="0" tIns="0" rIns="0" bIns="0" anchor="t" anchorCtr="0">
              <a:spAutoFit/>
            </a:bodyPr>
            <a:lstStyle/>
            <a:p>
              <a:pPr algn="l">
                <a:lnSpc>
                  <a:spcPts val="1650"/>
                </a:lnSpc>
              </a:pPr>
              <a:r>
                <a:rPr lang="en" sz="1350" b="1" dirty="0">
                  <a:solidFill>
                    <a:srgbClr val="1F3864"/>
                  </a:solidFill>
                  <a:latin typeface="+mn-lt"/>
                  <a:ea typeface="+mn-ea"/>
                  <a:cs typeface="+mn-cs"/>
                </a:rPr>
                <a:t>Specialist vendors</a:t>
              </a:r>
            </a:p>
            <a:p>
              <a:pPr algn="l">
                <a:lnSpc>
                  <a:spcPts val="1650"/>
                </a:lnSpc>
              </a:pPr>
              <a:r>
                <a:rPr lang="en" sz="1050" dirty="0">
                  <a:solidFill>
                    <a:srgbClr val="5B6477"/>
                  </a:solidFill>
                  <a:latin typeface="+mn-lt"/>
                  <a:ea typeface="+mn-ea"/>
                  <a:cs typeface="+mn-cs"/>
                </a:rPr>
                <a:t>e.g. Everbridge</a:t>
              </a:r>
            </a:p>
          </p:txBody>
        </p:sp>
        <p:sp>
          <p:nvSpPr>
            <p:cNvPr id="23" name="Ellipse 23"/>
            <p:cNvSpPr/>
            <p:nvPr/>
          </p:nvSpPr>
          <p:spPr>
            <a:xfrm>
              <a:off x="5657850" y="2419350"/>
              <a:ext cx="495300" cy="495300"/>
            </a:xfrm>
            <a:prstGeom prst="ellipse">
              <a:avLst/>
            </a:prstGeom>
            <a:solidFill>
              <a:srgbClr val="EC8236"/>
            </a:solidFill>
            <a:ln>
              <a:noFill/>
            </a:ln>
          </p:spPr>
        </p:sp>
        <p:sp>
          <p:nvSpPr>
            <p:cNvPr id="24" name="TextBox 24"/>
            <p:cNvSpPr txBox="1"/>
            <p:nvPr/>
          </p:nvSpPr>
          <p:spPr>
            <a:xfrm>
              <a:off x="6278118" y="2565082"/>
              <a:ext cx="1938495"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F2G CMAS Hub</a:t>
              </a:r>
            </a:p>
          </p:txBody>
        </p:sp>
      </p:grpSp>
      <p:grpSp>
        <p:nvGrpSpPr>
          <p:cNvPr id="45" name="f2g-edge"/>
          <p:cNvGrpSpPr/>
          <p:nvPr/>
        </p:nvGrpSpPr>
        <p:grpSpPr>
          <a:xfrm>
            <a:off x="8643366" y="2001202"/>
            <a:ext cx="2844586" cy="3970688"/>
            <a:chOff x="8643366" y="2001202"/>
            <a:chExt cx="2844586" cy="3970688"/>
          </a:xfrm>
        </p:grpSpPr>
        <p:sp>
          <p:nvSpPr>
            <p:cNvPr id="26" name="TextBox 26"/>
            <p:cNvSpPr txBox="1"/>
            <p:nvPr/>
          </p:nvSpPr>
          <p:spPr>
            <a:xfrm>
              <a:off x="8643366" y="2001202"/>
              <a:ext cx="2114531"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WHY F2G SITS THERE</a:t>
              </a:r>
            </a:p>
          </p:txBody>
        </p:sp>
        <p:grpSp>
          <p:nvGrpSpPr>
            <p:cNvPr id="43" name="Group 43"/>
            <p:cNvGrpSpPr/>
            <p:nvPr/>
          </p:nvGrpSpPr>
          <p:grpSpPr>
            <a:xfrm>
              <a:off x="8682038" y="2433638"/>
              <a:ext cx="2805914" cy="1907857"/>
              <a:chOff x="8682038" y="2433638"/>
              <a:chExt cx="2805914" cy="1907857"/>
            </a:xfrm>
          </p:grpSpPr>
          <p:grpSp>
            <p:nvGrpSpPr>
              <p:cNvPr id="29" name="Group 29"/>
              <p:cNvGrpSpPr/>
              <p:nvPr/>
            </p:nvGrpSpPr>
            <p:grpSpPr>
              <a:xfrm>
                <a:off x="8682038" y="2433638"/>
                <a:ext cx="200026" cy="200026"/>
                <a:chOff x="8682038" y="2433638"/>
                <a:chExt cx="200026" cy="200026"/>
              </a:xfrm>
            </p:grpSpPr>
            <p:sp>
              <p:nvSpPr>
                <p:cNvPr id="27" name="Freeform 27"/>
                <p:cNvSpPr/>
                <p:nvPr/>
              </p:nvSpPr>
              <p:spPr>
                <a:xfrm>
                  <a:off x="8682038" y="24336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CC6508"/>
                  </a:solidFill>
                </a:ln>
              </p:spPr>
            </p:sp>
            <p:sp>
              <p:nvSpPr>
                <p:cNvPr id="28" name="Freeform 28"/>
                <p:cNvSpPr/>
                <p:nvPr/>
              </p:nvSpPr>
              <p:spPr>
                <a:xfrm>
                  <a:off x="8748713" y="2511425"/>
                  <a:ext cx="66675" cy="44450"/>
                </a:xfrm>
                <a:custGeom>
                  <a:avLst/>
                  <a:gdLst/>
                  <a:ahLst/>
                  <a:cxnLst/>
                  <a:rect l="l" t="t" r="r" b="b"/>
                  <a:pathLst>
                    <a:path w="66675" h="44450">
                      <a:moveTo>
                        <a:pt x="0" y="22225"/>
                      </a:moveTo>
                      <a:lnTo>
                        <a:pt x="22225" y="44450"/>
                      </a:lnTo>
                      <a:lnTo>
                        <a:pt x="66675" y="0"/>
                      </a:lnTo>
                    </a:path>
                  </a:pathLst>
                </a:custGeom>
                <a:noFill/>
                <a:ln w="22225">
                  <a:solidFill>
                    <a:srgbClr val="CC6508"/>
                  </a:solidFill>
                </a:ln>
              </p:spPr>
            </p:sp>
          </p:grpSp>
          <p:sp>
            <p:nvSpPr>
              <p:cNvPr id="30" name="TextBox 30"/>
              <p:cNvSpPr txBox="1"/>
              <p:nvPr/>
            </p:nvSpPr>
            <p:spPr>
              <a:xfrm>
                <a:off x="9022080" y="2447925"/>
                <a:ext cx="3082340"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One hub, every operator</a:t>
                </a:r>
              </a:p>
            </p:txBody>
          </p:sp>
          <p:grpSp>
            <p:nvGrpSpPr>
              <p:cNvPr id="33" name="Group 33"/>
              <p:cNvGrpSpPr/>
              <p:nvPr/>
            </p:nvGrpSpPr>
            <p:grpSpPr>
              <a:xfrm>
                <a:off x="8682038" y="2967038"/>
                <a:ext cx="200026" cy="200026"/>
                <a:chOff x="8682038" y="2967038"/>
                <a:chExt cx="200026" cy="200026"/>
              </a:xfrm>
            </p:grpSpPr>
            <p:sp>
              <p:nvSpPr>
                <p:cNvPr id="31" name="Freeform 31"/>
                <p:cNvSpPr/>
                <p:nvPr/>
              </p:nvSpPr>
              <p:spPr>
                <a:xfrm>
                  <a:off x="8682038" y="29670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CC6508"/>
                  </a:solidFill>
                </a:ln>
              </p:spPr>
            </p:sp>
            <p:sp>
              <p:nvSpPr>
                <p:cNvPr id="32" name="Freeform 32"/>
                <p:cNvSpPr/>
                <p:nvPr/>
              </p:nvSpPr>
              <p:spPr>
                <a:xfrm>
                  <a:off x="8748713" y="3044825"/>
                  <a:ext cx="66675" cy="44450"/>
                </a:xfrm>
                <a:custGeom>
                  <a:avLst/>
                  <a:gdLst/>
                  <a:ahLst/>
                  <a:cxnLst/>
                  <a:rect l="l" t="t" r="r" b="b"/>
                  <a:pathLst>
                    <a:path w="66675" h="44450">
                      <a:moveTo>
                        <a:pt x="0" y="22225"/>
                      </a:moveTo>
                      <a:lnTo>
                        <a:pt x="22225" y="44450"/>
                      </a:lnTo>
                      <a:lnTo>
                        <a:pt x="66675" y="0"/>
                      </a:lnTo>
                    </a:path>
                  </a:pathLst>
                </a:custGeom>
                <a:noFill/>
                <a:ln w="22225">
                  <a:solidFill>
                    <a:srgbClr val="CC6508"/>
                  </a:solidFill>
                </a:ln>
              </p:spPr>
            </p:sp>
          </p:grpSp>
          <p:sp>
            <p:nvSpPr>
              <p:cNvPr id="34" name="TextBox 34"/>
              <p:cNvSpPr txBox="1"/>
              <p:nvPr/>
            </p:nvSpPr>
            <p:spPr>
              <a:xfrm>
                <a:off x="9022080" y="2981325"/>
                <a:ext cx="2617291"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Open 3GPP standards</a:t>
                </a:r>
              </a:p>
            </p:txBody>
          </p:sp>
          <p:grpSp>
            <p:nvGrpSpPr>
              <p:cNvPr id="37" name="Group 37"/>
              <p:cNvGrpSpPr/>
              <p:nvPr/>
            </p:nvGrpSpPr>
            <p:grpSpPr>
              <a:xfrm>
                <a:off x="8682038" y="3500438"/>
                <a:ext cx="200026" cy="200026"/>
                <a:chOff x="8682038" y="3500438"/>
                <a:chExt cx="200026" cy="200026"/>
              </a:xfrm>
            </p:grpSpPr>
            <p:sp>
              <p:nvSpPr>
                <p:cNvPr id="35" name="Freeform 35"/>
                <p:cNvSpPr/>
                <p:nvPr/>
              </p:nvSpPr>
              <p:spPr>
                <a:xfrm>
                  <a:off x="8682038" y="35004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CC6508"/>
                  </a:solidFill>
                </a:ln>
              </p:spPr>
            </p:sp>
            <p:sp>
              <p:nvSpPr>
                <p:cNvPr id="36" name="Freeform 36"/>
                <p:cNvSpPr/>
                <p:nvPr/>
              </p:nvSpPr>
              <p:spPr>
                <a:xfrm>
                  <a:off x="8748713" y="3578225"/>
                  <a:ext cx="66675" cy="44450"/>
                </a:xfrm>
                <a:custGeom>
                  <a:avLst/>
                  <a:gdLst/>
                  <a:ahLst/>
                  <a:cxnLst/>
                  <a:rect l="l" t="t" r="r" b="b"/>
                  <a:pathLst>
                    <a:path w="66675" h="44450">
                      <a:moveTo>
                        <a:pt x="0" y="22225"/>
                      </a:moveTo>
                      <a:lnTo>
                        <a:pt x="22225" y="44450"/>
                      </a:lnTo>
                      <a:lnTo>
                        <a:pt x="66675" y="0"/>
                      </a:lnTo>
                    </a:path>
                  </a:pathLst>
                </a:custGeom>
                <a:noFill/>
                <a:ln w="22225">
                  <a:solidFill>
                    <a:srgbClr val="CC6508"/>
                  </a:solidFill>
                </a:ln>
              </p:spPr>
            </p:sp>
          </p:grpSp>
          <p:sp>
            <p:nvSpPr>
              <p:cNvPr id="38" name="TextBox 38"/>
              <p:cNvSpPr txBox="1"/>
              <p:nvPr/>
            </p:nvSpPr>
            <p:spPr>
              <a:xfrm>
                <a:off x="9022080" y="3514725"/>
                <a:ext cx="2551112"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Local, bilingual team</a:t>
                </a:r>
              </a:p>
            </p:txBody>
          </p:sp>
          <p:grpSp>
            <p:nvGrpSpPr>
              <p:cNvPr id="41" name="Group 41"/>
              <p:cNvGrpSpPr/>
              <p:nvPr/>
            </p:nvGrpSpPr>
            <p:grpSpPr>
              <a:xfrm>
                <a:off x="8682038" y="4033838"/>
                <a:ext cx="200026" cy="200026"/>
                <a:chOff x="8682038" y="4033838"/>
                <a:chExt cx="200026" cy="200026"/>
              </a:xfrm>
            </p:grpSpPr>
            <p:sp>
              <p:nvSpPr>
                <p:cNvPr id="39" name="Freeform 39"/>
                <p:cNvSpPr/>
                <p:nvPr/>
              </p:nvSpPr>
              <p:spPr>
                <a:xfrm>
                  <a:off x="8682038" y="40338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CC6508"/>
                  </a:solidFill>
                </a:ln>
              </p:spPr>
            </p:sp>
            <p:sp>
              <p:nvSpPr>
                <p:cNvPr id="40" name="Freeform 40"/>
                <p:cNvSpPr/>
                <p:nvPr/>
              </p:nvSpPr>
              <p:spPr>
                <a:xfrm>
                  <a:off x="8748713" y="4111625"/>
                  <a:ext cx="66675" cy="44450"/>
                </a:xfrm>
                <a:custGeom>
                  <a:avLst/>
                  <a:gdLst/>
                  <a:ahLst/>
                  <a:cxnLst/>
                  <a:rect l="l" t="t" r="r" b="b"/>
                  <a:pathLst>
                    <a:path w="66675" h="44450">
                      <a:moveTo>
                        <a:pt x="0" y="22225"/>
                      </a:moveTo>
                      <a:lnTo>
                        <a:pt x="22225" y="44450"/>
                      </a:lnTo>
                      <a:lnTo>
                        <a:pt x="66675" y="0"/>
                      </a:lnTo>
                    </a:path>
                  </a:pathLst>
                </a:custGeom>
                <a:noFill/>
                <a:ln w="22225">
                  <a:solidFill>
                    <a:srgbClr val="CC6508"/>
                  </a:solidFill>
                </a:ln>
              </p:spPr>
            </p:sp>
          </p:grpSp>
          <p:sp>
            <p:nvSpPr>
              <p:cNvPr id="42" name="TextBox 42"/>
              <p:cNvSpPr txBox="1"/>
              <p:nvPr/>
            </p:nvSpPr>
            <p:spPr>
              <a:xfrm>
                <a:off x="9022080" y="4048125"/>
                <a:ext cx="2311465"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Working prototype</a:t>
                </a:r>
              </a:p>
            </p:txBody>
          </p:sp>
        </p:grpSp>
        <p:sp>
          <p:nvSpPr>
            <p:cNvPr id="44" name="TextBox 44"/>
            <p:cNvSpPr txBox="1"/>
            <p:nvPr/>
          </p:nvSpPr>
          <p:spPr>
            <a:xfrm>
              <a:off x="8643747" y="5609749"/>
              <a:ext cx="1334770" cy="362141"/>
            </a:xfrm>
            <a:prstGeom prst="rect">
              <a:avLst/>
            </a:prstGeom>
            <a:noFill/>
            <a:ln>
              <a:noFill/>
            </a:ln>
          </p:spPr>
          <p:txBody>
            <a:bodyPr wrap="square" lIns="0" tIns="0" rIns="0" bIns="0" anchor="t" anchorCtr="0">
              <a:spAutoFit/>
            </a:bodyPr>
            <a:lstStyle/>
            <a:p>
              <a:pPr algn="l">
                <a:lnSpc>
                  <a:spcPts val="1350"/>
                </a:lnSpc>
              </a:pPr>
              <a:r>
                <a:rPr lang="en" sz="980" dirty="0">
                  <a:solidFill>
                    <a:srgbClr val="5B6477"/>
                  </a:solidFill>
                  <a:latin typeface="+mn-lt"/>
                  <a:ea typeface="+mn-ea"/>
                  <a:cs typeface="+mn-cs"/>
                </a:rPr>
                <a:t>F2G reading,</a:t>
              </a:r>
              <a:br/>
              <a:r>
                <a:rPr lang="en" sz="980" dirty="0">
                  <a:solidFill>
                    <a:srgbClr val="5B6477"/>
                  </a:solidFill>
                  <a:latin typeface="+mn-lt"/>
                  <a:ea typeface="+mn-ea"/>
                  <a:cs typeface="+mn-cs"/>
                </a:rPr>
                <a:t>not market data.</a:t>
              </a:r>
            </a:p>
          </p:txBody>
        </p:sp>
      </p:grpSp>
      <p:grpSp>
        <p:nvGrpSpPr>
          <p:cNvPr id="49" name="footer"/>
          <p:cNvGrpSpPr/>
          <p:nvPr/>
        </p:nvGrpSpPr>
        <p:grpSpPr>
          <a:xfrm>
            <a:off x="604838" y="6551295"/>
            <a:ext cx="10982324" cy="176212"/>
            <a:chOff x="604838" y="6551295"/>
            <a:chExt cx="10982324" cy="176212"/>
          </a:xfrm>
        </p:grpSpPr>
        <p:sp>
          <p:nvSpPr>
            <p:cNvPr id="46" name="TextBox 46"/>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47" name="TextBox 47"/>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48"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7847328" cy="917734"/>
            <a:chOff x="594360" y="640556"/>
            <a:chExt cx="7847328" cy="917734"/>
          </a:xfrm>
        </p:grpSpPr>
        <p:sp>
          <p:nvSpPr>
            <p:cNvPr id="3" name="TextBox 3"/>
            <p:cNvSpPr txBox="1"/>
            <p:nvPr/>
          </p:nvSpPr>
          <p:spPr>
            <a:xfrm>
              <a:off x="603885" y="640556"/>
              <a:ext cx="1312156"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WHY WE WIN</a:t>
              </a:r>
            </a:p>
          </p:txBody>
        </p:sp>
        <p:sp>
          <p:nvSpPr>
            <p:cNvPr id="4" name="TextBox 4"/>
            <p:cNvSpPr txBox="1"/>
            <p:nvPr/>
          </p:nvSpPr>
          <p:spPr>
            <a:xfrm>
              <a:off x="594360" y="971550"/>
              <a:ext cx="9809160"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Same 3GPP standard, delivered locally</a:t>
              </a:r>
            </a:p>
          </p:txBody>
        </p:sp>
      </p:grpSp>
      <p:grpSp>
        <p:nvGrpSpPr>
          <p:cNvPr id="44" name="comparison"/>
          <p:cNvGrpSpPr/>
          <p:nvPr/>
        </p:nvGrpSpPr>
        <p:grpSpPr>
          <a:xfrm>
            <a:off x="601218" y="1828800"/>
            <a:ext cx="10981182" cy="4457700"/>
            <a:chOff x="601218" y="1828800"/>
            <a:chExt cx="10981182" cy="4457700"/>
          </a:xfrm>
        </p:grpSpPr>
        <p:sp>
          <p:nvSpPr>
            <p:cNvPr id="6" name="Rectangle 6"/>
            <p:cNvSpPr/>
            <p:nvPr/>
          </p:nvSpPr>
          <p:spPr>
            <a:xfrm>
              <a:off x="4953000" y="1828800"/>
              <a:ext cx="3429000" cy="4457700"/>
            </a:xfrm>
            <a:prstGeom prst="roundRect">
              <a:avLst>
                <a:gd name="adj" fmla="val 6667"/>
              </a:avLst>
            </a:prstGeom>
            <a:solidFill>
              <a:srgbClr val="1F3864"/>
            </a:solidFill>
            <a:ln>
              <a:noFill/>
            </a:ln>
          </p:spPr>
        </p:sp>
        <p:sp>
          <p:nvSpPr>
            <p:cNvPr id="7" name="TextBox 7"/>
            <p:cNvSpPr txBox="1"/>
            <p:nvPr/>
          </p:nvSpPr>
          <p:spPr>
            <a:xfrm>
              <a:off x="5345799" y="2119312"/>
              <a:ext cx="2643401" cy="440055"/>
            </a:xfrm>
            <a:prstGeom prst="rect">
              <a:avLst/>
            </a:prstGeom>
            <a:noFill/>
            <a:ln>
              <a:noFill/>
            </a:ln>
          </p:spPr>
          <p:txBody>
            <a:bodyPr wrap="square" lIns="0" tIns="0" rIns="0" bIns="0" anchor="t" anchorCtr="0">
              <a:spAutoFit/>
            </a:bodyPr>
            <a:lstStyle/>
            <a:p>
              <a:pPr algn="ctr"/>
              <a:r>
                <a:rPr lang="en" sz="2250" b="1" dirty="0">
                  <a:solidFill>
                    <a:srgbClr val="FFFFFF"/>
                  </a:solidFill>
                  <a:latin typeface="Baloo 2"/>
                  <a:ea typeface="Baloo 2"/>
                  <a:cs typeface="Baloo 2"/>
                </a:rPr>
                <a:t>F2G CMAS Hub</a:t>
              </a:r>
            </a:p>
          </p:txBody>
        </p:sp>
        <p:sp>
          <p:nvSpPr>
            <p:cNvPr id="8" name="TextBox 8"/>
            <p:cNvSpPr txBox="1"/>
            <p:nvPr/>
          </p:nvSpPr>
          <p:spPr>
            <a:xfrm>
              <a:off x="8580413" y="2119312"/>
              <a:ext cx="2803576" cy="440055"/>
            </a:xfrm>
            <a:prstGeom prst="rect">
              <a:avLst/>
            </a:prstGeom>
            <a:noFill/>
            <a:ln>
              <a:noFill/>
            </a:ln>
          </p:spPr>
          <p:txBody>
            <a:bodyPr wrap="square" lIns="0" tIns="0" rIns="0" bIns="0" anchor="t" anchorCtr="0">
              <a:spAutoFit/>
            </a:bodyPr>
            <a:lstStyle/>
            <a:p>
              <a:pPr algn="ctr"/>
              <a:r>
                <a:rPr lang="en" sz="2250" b="1" dirty="0">
                  <a:solidFill>
                    <a:srgbClr val="5B6477"/>
                  </a:solidFill>
                  <a:latin typeface="Baloo 2"/>
                  <a:ea typeface="Baloo 2"/>
                  <a:cs typeface="Baloo 2"/>
                </a:rPr>
                <a:t>Global vendors</a:t>
              </a:r>
            </a:p>
          </p:txBody>
        </p:sp>
        <p:grpSp>
          <p:nvGrpSpPr>
            <p:cNvPr id="15" name="Group 15"/>
            <p:cNvGrpSpPr/>
            <p:nvPr/>
          </p:nvGrpSpPr>
          <p:grpSpPr>
            <a:xfrm>
              <a:off x="609600" y="3619500"/>
              <a:ext cx="10972800" cy="1838325"/>
              <a:chOff x="609600" y="3619500"/>
              <a:chExt cx="10972800" cy="1838325"/>
            </a:xfrm>
          </p:grpSpPr>
          <p:sp>
            <p:nvSpPr>
              <p:cNvPr id="9" name="Line 9"/>
              <p:cNvSpPr/>
              <p:nvPr/>
            </p:nvSpPr>
            <p:spPr>
              <a:xfrm>
                <a:off x="609600" y="3619500"/>
                <a:ext cx="4267200" cy="9525"/>
              </a:xfrm>
              <a:custGeom>
                <a:avLst/>
                <a:gdLst/>
                <a:ahLst/>
                <a:cxnLst/>
                <a:rect l="l" t="t" r="r" b="b"/>
                <a:pathLst>
                  <a:path w="4267200" h="9525">
                    <a:moveTo>
                      <a:pt x="0" y="0"/>
                    </a:moveTo>
                    <a:lnTo>
                      <a:pt x="4267200" y="0"/>
                    </a:lnTo>
                  </a:path>
                </a:pathLst>
              </a:custGeom>
              <a:noFill/>
              <a:ln w="14288">
                <a:solidFill>
                  <a:srgbClr val="E3DCD2"/>
                </a:solidFill>
              </a:ln>
            </p:spPr>
          </p:sp>
          <p:sp>
            <p:nvSpPr>
              <p:cNvPr id="10" name="Line 10"/>
              <p:cNvSpPr/>
              <p:nvPr/>
            </p:nvSpPr>
            <p:spPr>
              <a:xfrm>
                <a:off x="8458200" y="3619500"/>
                <a:ext cx="3124200" cy="9525"/>
              </a:xfrm>
              <a:custGeom>
                <a:avLst/>
                <a:gdLst/>
                <a:ahLst/>
                <a:cxnLst/>
                <a:rect l="l" t="t" r="r" b="b"/>
                <a:pathLst>
                  <a:path w="3124200" h="9525">
                    <a:moveTo>
                      <a:pt x="0" y="0"/>
                    </a:moveTo>
                    <a:lnTo>
                      <a:pt x="3124200" y="0"/>
                    </a:lnTo>
                  </a:path>
                </a:pathLst>
              </a:custGeom>
              <a:noFill/>
              <a:ln w="14288">
                <a:solidFill>
                  <a:srgbClr val="E3DCD2"/>
                </a:solidFill>
              </a:ln>
            </p:spPr>
          </p:sp>
          <p:sp>
            <p:nvSpPr>
              <p:cNvPr id="11" name="Line 11"/>
              <p:cNvSpPr/>
              <p:nvPr/>
            </p:nvSpPr>
            <p:spPr>
              <a:xfrm>
                <a:off x="609600" y="4533900"/>
                <a:ext cx="4267200" cy="9525"/>
              </a:xfrm>
              <a:custGeom>
                <a:avLst/>
                <a:gdLst/>
                <a:ahLst/>
                <a:cxnLst/>
                <a:rect l="l" t="t" r="r" b="b"/>
                <a:pathLst>
                  <a:path w="4267200" h="9525">
                    <a:moveTo>
                      <a:pt x="0" y="0"/>
                    </a:moveTo>
                    <a:lnTo>
                      <a:pt x="4267200" y="0"/>
                    </a:lnTo>
                  </a:path>
                </a:pathLst>
              </a:custGeom>
              <a:noFill/>
              <a:ln w="14288">
                <a:solidFill>
                  <a:srgbClr val="E3DCD2"/>
                </a:solidFill>
              </a:ln>
            </p:spPr>
          </p:sp>
          <p:sp>
            <p:nvSpPr>
              <p:cNvPr id="12" name="Line 12"/>
              <p:cNvSpPr/>
              <p:nvPr/>
            </p:nvSpPr>
            <p:spPr>
              <a:xfrm>
                <a:off x="8458200" y="4533900"/>
                <a:ext cx="3124200" cy="9525"/>
              </a:xfrm>
              <a:custGeom>
                <a:avLst/>
                <a:gdLst/>
                <a:ahLst/>
                <a:cxnLst/>
                <a:rect l="l" t="t" r="r" b="b"/>
                <a:pathLst>
                  <a:path w="3124200" h="9525">
                    <a:moveTo>
                      <a:pt x="0" y="0"/>
                    </a:moveTo>
                    <a:lnTo>
                      <a:pt x="3124200" y="0"/>
                    </a:lnTo>
                  </a:path>
                </a:pathLst>
              </a:custGeom>
              <a:noFill/>
              <a:ln w="14288">
                <a:solidFill>
                  <a:srgbClr val="E3DCD2"/>
                </a:solidFill>
              </a:ln>
            </p:spPr>
          </p:sp>
          <p:sp>
            <p:nvSpPr>
              <p:cNvPr id="13" name="Line 13"/>
              <p:cNvSpPr/>
              <p:nvPr/>
            </p:nvSpPr>
            <p:spPr>
              <a:xfrm>
                <a:off x="609600" y="5448300"/>
                <a:ext cx="4267200" cy="9525"/>
              </a:xfrm>
              <a:custGeom>
                <a:avLst/>
                <a:gdLst/>
                <a:ahLst/>
                <a:cxnLst/>
                <a:rect l="l" t="t" r="r" b="b"/>
                <a:pathLst>
                  <a:path w="4267200" h="9525">
                    <a:moveTo>
                      <a:pt x="0" y="0"/>
                    </a:moveTo>
                    <a:lnTo>
                      <a:pt x="4267200" y="0"/>
                    </a:lnTo>
                  </a:path>
                </a:pathLst>
              </a:custGeom>
              <a:noFill/>
              <a:ln w="14288">
                <a:solidFill>
                  <a:srgbClr val="E3DCD2"/>
                </a:solidFill>
              </a:ln>
            </p:spPr>
          </p:sp>
          <p:sp>
            <p:nvSpPr>
              <p:cNvPr id="14" name="Line 14"/>
              <p:cNvSpPr/>
              <p:nvPr/>
            </p:nvSpPr>
            <p:spPr>
              <a:xfrm>
                <a:off x="8458200" y="5448300"/>
                <a:ext cx="3124200" cy="9525"/>
              </a:xfrm>
              <a:custGeom>
                <a:avLst/>
                <a:gdLst/>
                <a:ahLst/>
                <a:cxnLst/>
                <a:rect l="l" t="t" r="r" b="b"/>
                <a:pathLst>
                  <a:path w="3124200" h="9525">
                    <a:moveTo>
                      <a:pt x="0" y="0"/>
                    </a:moveTo>
                    <a:lnTo>
                      <a:pt x="3124200" y="0"/>
                    </a:lnTo>
                  </a:path>
                </a:pathLst>
              </a:custGeom>
              <a:noFill/>
              <a:ln w="14288">
                <a:solidFill>
                  <a:srgbClr val="E3DCD2"/>
                </a:solidFill>
              </a:ln>
            </p:spPr>
          </p:sp>
        </p:grpSp>
        <p:grpSp>
          <p:nvGrpSpPr>
            <p:cNvPr id="20" name="Group 20"/>
            <p:cNvGrpSpPr/>
            <p:nvPr/>
          </p:nvGrpSpPr>
          <p:grpSpPr>
            <a:xfrm>
              <a:off x="601218" y="3060382"/>
              <a:ext cx="2084670" cy="3065907"/>
              <a:chOff x="601218" y="3060382"/>
              <a:chExt cx="2084670" cy="3065907"/>
            </a:xfrm>
          </p:grpSpPr>
          <p:sp>
            <p:nvSpPr>
              <p:cNvPr id="16" name="TextBox 16"/>
              <p:cNvSpPr txBox="1"/>
              <p:nvPr/>
            </p:nvSpPr>
            <p:spPr>
              <a:xfrm>
                <a:off x="601218" y="3060382"/>
                <a:ext cx="2216318"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Local engineers</a:t>
                </a:r>
              </a:p>
            </p:txBody>
          </p:sp>
          <p:sp>
            <p:nvSpPr>
              <p:cNvPr id="17" name="TextBox 17"/>
              <p:cNvSpPr txBox="1"/>
              <p:nvPr/>
            </p:nvSpPr>
            <p:spPr>
              <a:xfrm>
                <a:off x="601218" y="3974782"/>
                <a:ext cx="2390753"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Bilingual support</a:t>
                </a:r>
              </a:p>
            </p:txBody>
          </p:sp>
          <p:sp>
            <p:nvSpPr>
              <p:cNvPr id="18" name="TextBox 18"/>
              <p:cNvSpPr txBox="1"/>
              <p:nvPr/>
            </p:nvSpPr>
            <p:spPr>
              <a:xfrm>
                <a:off x="601218" y="4889182"/>
                <a:ext cx="2581525"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Operator-neutral</a:t>
                </a:r>
              </a:p>
            </p:txBody>
          </p:sp>
          <p:sp>
            <p:nvSpPr>
              <p:cNvPr id="19" name="TextBox 19"/>
              <p:cNvSpPr txBox="1"/>
              <p:nvPr/>
            </p:nvSpPr>
            <p:spPr>
              <a:xfrm>
                <a:off x="601218" y="5803582"/>
                <a:ext cx="2605837"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Proof in Cameroon</a:t>
                </a:r>
              </a:p>
            </p:txBody>
          </p:sp>
        </p:grpSp>
        <p:grpSp>
          <p:nvGrpSpPr>
            <p:cNvPr id="33" name="Group 33"/>
            <p:cNvGrpSpPr/>
            <p:nvPr/>
          </p:nvGrpSpPr>
          <p:grpSpPr>
            <a:xfrm>
              <a:off x="5524500" y="3048000"/>
              <a:ext cx="228599" cy="2971799"/>
              <a:chOff x="5524500" y="3048000"/>
              <a:chExt cx="228599" cy="2971799"/>
            </a:xfrm>
          </p:grpSpPr>
          <p:grpSp>
            <p:nvGrpSpPr>
              <p:cNvPr id="23" name="Group 23"/>
              <p:cNvGrpSpPr/>
              <p:nvPr/>
            </p:nvGrpSpPr>
            <p:grpSpPr>
              <a:xfrm>
                <a:off x="5524500" y="3048000"/>
                <a:ext cx="228599" cy="228599"/>
                <a:chOff x="5524500" y="3048000"/>
                <a:chExt cx="228599" cy="228599"/>
              </a:xfrm>
            </p:grpSpPr>
            <p:sp>
              <p:nvSpPr>
                <p:cNvPr id="21" name="Freeform 21"/>
                <p:cNvSpPr/>
                <p:nvPr/>
              </p:nvSpPr>
              <p:spPr>
                <a:xfrm>
                  <a:off x="5524500" y="30480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EC8236"/>
                  </a:solidFill>
                </a:ln>
              </p:spPr>
            </p:sp>
            <p:sp>
              <p:nvSpPr>
                <p:cNvPr id="22" name="Freeform 22"/>
                <p:cNvSpPr/>
                <p:nvPr/>
              </p:nvSpPr>
              <p:spPr>
                <a:xfrm>
                  <a:off x="5600700" y="3136900"/>
                  <a:ext cx="76200" cy="50800"/>
                </a:xfrm>
                <a:custGeom>
                  <a:avLst/>
                  <a:gdLst/>
                  <a:ahLst/>
                  <a:cxnLst/>
                  <a:rect l="l" t="t" r="r" b="b"/>
                  <a:pathLst>
                    <a:path w="76200" h="50800">
                      <a:moveTo>
                        <a:pt x="0" y="25400"/>
                      </a:moveTo>
                      <a:lnTo>
                        <a:pt x="25400" y="50800"/>
                      </a:lnTo>
                      <a:lnTo>
                        <a:pt x="76200" y="0"/>
                      </a:lnTo>
                    </a:path>
                  </a:pathLst>
                </a:custGeom>
                <a:noFill/>
                <a:ln w="25400">
                  <a:solidFill>
                    <a:srgbClr val="EC8236"/>
                  </a:solidFill>
                </a:ln>
              </p:spPr>
            </p:sp>
          </p:grpSp>
          <p:grpSp>
            <p:nvGrpSpPr>
              <p:cNvPr id="26" name="Group 26"/>
              <p:cNvGrpSpPr/>
              <p:nvPr/>
            </p:nvGrpSpPr>
            <p:grpSpPr>
              <a:xfrm>
                <a:off x="5524500" y="3962400"/>
                <a:ext cx="228599" cy="228599"/>
                <a:chOff x="5524500" y="3962400"/>
                <a:chExt cx="228599" cy="228599"/>
              </a:xfrm>
            </p:grpSpPr>
            <p:sp>
              <p:nvSpPr>
                <p:cNvPr id="24" name="Freeform 24"/>
                <p:cNvSpPr/>
                <p:nvPr/>
              </p:nvSpPr>
              <p:spPr>
                <a:xfrm>
                  <a:off x="5524500" y="39624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EC8236"/>
                  </a:solidFill>
                </a:ln>
              </p:spPr>
            </p:sp>
            <p:sp>
              <p:nvSpPr>
                <p:cNvPr id="25" name="Freeform 25"/>
                <p:cNvSpPr/>
                <p:nvPr/>
              </p:nvSpPr>
              <p:spPr>
                <a:xfrm>
                  <a:off x="5600700" y="4051300"/>
                  <a:ext cx="76200" cy="50800"/>
                </a:xfrm>
                <a:custGeom>
                  <a:avLst/>
                  <a:gdLst/>
                  <a:ahLst/>
                  <a:cxnLst/>
                  <a:rect l="l" t="t" r="r" b="b"/>
                  <a:pathLst>
                    <a:path w="76200" h="50800">
                      <a:moveTo>
                        <a:pt x="0" y="25400"/>
                      </a:moveTo>
                      <a:lnTo>
                        <a:pt x="25400" y="50800"/>
                      </a:lnTo>
                      <a:lnTo>
                        <a:pt x="76200" y="0"/>
                      </a:lnTo>
                    </a:path>
                  </a:pathLst>
                </a:custGeom>
                <a:noFill/>
                <a:ln w="25400">
                  <a:solidFill>
                    <a:srgbClr val="EC8236"/>
                  </a:solidFill>
                </a:ln>
              </p:spPr>
            </p:sp>
          </p:grpSp>
          <p:grpSp>
            <p:nvGrpSpPr>
              <p:cNvPr id="29" name="Group 29"/>
              <p:cNvGrpSpPr/>
              <p:nvPr/>
            </p:nvGrpSpPr>
            <p:grpSpPr>
              <a:xfrm>
                <a:off x="5524500" y="4876800"/>
                <a:ext cx="228599" cy="228599"/>
                <a:chOff x="5524500" y="4876800"/>
                <a:chExt cx="228599" cy="228599"/>
              </a:xfrm>
            </p:grpSpPr>
            <p:sp>
              <p:nvSpPr>
                <p:cNvPr id="27" name="Freeform 27"/>
                <p:cNvSpPr/>
                <p:nvPr/>
              </p:nvSpPr>
              <p:spPr>
                <a:xfrm>
                  <a:off x="5524500" y="48768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EC8236"/>
                  </a:solidFill>
                </a:ln>
              </p:spPr>
            </p:sp>
            <p:sp>
              <p:nvSpPr>
                <p:cNvPr id="28" name="Freeform 28"/>
                <p:cNvSpPr/>
                <p:nvPr/>
              </p:nvSpPr>
              <p:spPr>
                <a:xfrm>
                  <a:off x="5600700" y="4965700"/>
                  <a:ext cx="76200" cy="50800"/>
                </a:xfrm>
                <a:custGeom>
                  <a:avLst/>
                  <a:gdLst/>
                  <a:ahLst/>
                  <a:cxnLst/>
                  <a:rect l="l" t="t" r="r" b="b"/>
                  <a:pathLst>
                    <a:path w="76200" h="50800">
                      <a:moveTo>
                        <a:pt x="0" y="25400"/>
                      </a:moveTo>
                      <a:lnTo>
                        <a:pt x="25400" y="50800"/>
                      </a:lnTo>
                      <a:lnTo>
                        <a:pt x="76200" y="0"/>
                      </a:lnTo>
                    </a:path>
                  </a:pathLst>
                </a:custGeom>
                <a:noFill/>
                <a:ln w="25400">
                  <a:solidFill>
                    <a:srgbClr val="EC8236"/>
                  </a:solidFill>
                </a:ln>
              </p:spPr>
            </p:sp>
          </p:grpSp>
          <p:grpSp>
            <p:nvGrpSpPr>
              <p:cNvPr id="32" name="Group 32"/>
              <p:cNvGrpSpPr/>
              <p:nvPr/>
            </p:nvGrpSpPr>
            <p:grpSpPr>
              <a:xfrm>
                <a:off x="5524500" y="5791200"/>
                <a:ext cx="228599" cy="228599"/>
                <a:chOff x="5524500" y="5791200"/>
                <a:chExt cx="228599" cy="228599"/>
              </a:xfrm>
            </p:grpSpPr>
            <p:sp>
              <p:nvSpPr>
                <p:cNvPr id="30" name="Freeform 30"/>
                <p:cNvSpPr/>
                <p:nvPr/>
              </p:nvSpPr>
              <p:spPr>
                <a:xfrm>
                  <a:off x="5524500" y="57912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EC8236"/>
                  </a:solidFill>
                </a:ln>
              </p:spPr>
            </p:sp>
            <p:sp>
              <p:nvSpPr>
                <p:cNvPr id="31" name="Freeform 31"/>
                <p:cNvSpPr/>
                <p:nvPr/>
              </p:nvSpPr>
              <p:spPr>
                <a:xfrm>
                  <a:off x="5600700" y="5880100"/>
                  <a:ext cx="76200" cy="50800"/>
                </a:xfrm>
                <a:custGeom>
                  <a:avLst/>
                  <a:gdLst/>
                  <a:ahLst/>
                  <a:cxnLst/>
                  <a:rect l="l" t="t" r="r" b="b"/>
                  <a:pathLst>
                    <a:path w="76200" h="50800">
                      <a:moveTo>
                        <a:pt x="0" y="25400"/>
                      </a:moveTo>
                      <a:lnTo>
                        <a:pt x="25400" y="50800"/>
                      </a:lnTo>
                      <a:lnTo>
                        <a:pt x="76200" y="0"/>
                      </a:lnTo>
                    </a:path>
                  </a:pathLst>
                </a:custGeom>
                <a:noFill/>
                <a:ln w="25400">
                  <a:solidFill>
                    <a:srgbClr val="EC8236"/>
                  </a:solidFill>
                </a:ln>
              </p:spPr>
            </p:sp>
          </p:grpSp>
        </p:grpSp>
        <p:grpSp>
          <p:nvGrpSpPr>
            <p:cNvPr id="38" name="Group 38"/>
            <p:cNvGrpSpPr/>
            <p:nvPr/>
          </p:nvGrpSpPr>
          <p:grpSpPr>
            <a:xfrm>
              <a:off x="5935218" y="3060382"/>
              <a:ext cx="2602050" cy="3065907"/>
              <a:chOff x="5935218" y="3060382"/>
              <a:chExt cx="2602050" cy="3065907"/>
            </a:xfrm>
          </p:grpSpPr>
          <p:sp>
            <p:nvSpPr>
              <p:cNvPr id="34" name="TextBox 34"/>
              <p:cNvSpPr txBox="1"/>
              <p:nvPr/>
            </p:nvSpPr>
            <p:spPr>
              <a:xfrm>
                <a:off x="5935218" y="3060382"/>
                <a:ext cx="1716267" cy="322707"/>
              </a:xfrm>
              <a:prstGeom prst="rect">
                <a:avLst/>
              </a:prstGeom>
              <a:noFill/>
              <a:ln>
                <a:noFill/>
              </a:ln>
            </p:spPr>
            <p:txBody>
              <a:bodyPr wrap="square" lIns="0" tIns="0" rIns="0" bIns="0" anchor="t" anchorCtr="0">
                <a:spAutoFit/>
              </a:bodyPr>
              <a:lstStyle/>
              <a:p>
                <a:pPr algn="l"/>
                <a:r>
                  <a:rPr lang="en" sz="1650" b="1" dirty="0">
                    <a:solidFill>
                      <a:srgbClr val="FFFFFF"/>
                    </a:solidFill>
                    <a:latin typeface="+mn-lt"/>
                    <a:ea typeface="+mn-ea"/>
                    <a:cs typeface="+mn-cs"/>
                  </a:rPr>
                  <a:t>In Cameroon</a:t>
                </a:r>
              </a:p>
            </p:txBody>
          </p:sp>
          <p:sp>
            <p:nvSpPr>
              <p:cNvPr id="35" name="TextBox 35"/>
              <p:cNvSpPr txBox="1"/>
              <p:nvPr/>
            </p:nvSpPr>
            <p:spPr>
              <a:xfrm>
                <a:off x="5935218" y="3974782"/>
                <a:ext cx="2633987" cy="322707"/>
              </a:xfrm>
              <a:prstGeom prst="rect">
                <a:avLst/>
              </a:prstGeom>
              <a:noFill/>
              <a:ln>
                <a:noFill/>
              </a:ln>
            </p:spPr>
            <p:txBody>
              <a:bodyPr wrap="square" lIns="0" tIns="0" rIns="0" bIns="0" anchor="t" anchorCtr="0">
                <a:spAutoFit/>
              </a:bodyPr>
              <a:lstStyle/>
              <a:p>
                <a:pPr algn="l"/>
                <a:r>
                  <a:rPr lang="en" sz="1650" b="1" dirty="0">
                    <a:solidFill>
                      <a:srgbClr val="FFFFFF"/>
                    </a:solidFill>
                    <a:latin typeface="+mn-lt"/>
                    <a:ea typeface="+mn-ea"/>
                    <a:cs typeface="+mn-cs"/>
                  </a:rPr>
                  <a:t>English and French</a:t>
                </a:r>
              </a:p>
            </p:txBody>
          </p:sp>
          <p:sp>
            <p:nvSpPr>
              <p:cNvPr id="36" name="TextBox 36"/>
              <p:cNvSpPr txBox="1"/>
              <p:nvPr/>
            </p:nvSpPr>
            <p:spPr>
              <a:xfrm>
                <a:off x="5935218" y="4889182"/>
                <a:ext cx="3252562" cy="322707"/>
              </a:xfrm>
              <a:prstGeom prst="rect">
                <a:avLst/>
              </a:prstGeom>
              <a:noFill/>
              <a:ln>
                <a:noFill/>
              </a:ln>
            </p:spPr>
            <p:txBody>
              <a:bodyPr wrap="square" lIns="0" tIns="0" rIns="0" bIns="0" anchor="t" anchorCtr="0">
                <a:spAutoFit/>
              </a:bodyPr>
              <a:lstStyle/>
              <a:p>
                <a:pPr algn="l"/>
                <a:r>
                  <a:rPr lang="en" sz="1650" b="1" dirty="0">
                    <a:solidFill>
                      <a:srgbClr val="FFFFFF"/>
                    </a:solidFill>
                    <a:latin typeface="+mn-lt"/>
                    <a:ea typeface="+mn-ea"/>
                    <a:cs typeface="+mn-cs"/>
                  </a:rPr>
                  <a:t>One hub, all operators</a:t>
                </a:r>
              </a:p>
            </p:txBody>
          </p:sp>
          <p:sp>
            <p:nvSpPr>
              <p:cNvPr id="37" name="TextBox 37"/>
              <p:cNvSpPr txBox="1"/>
              <p:nvPr/>
            </p:nvSpPr>
            <p:spPr>
              <a:xfrm>
                <a:off x="5935218" y="5803582"/>
                <a:ext cx="2931401" cy="322707"/>
              </a:xfrm>
              <a:prstGeom prst="rect">
                <a:avLst/>
              </a:prstGeom>
              <a:noFill/>
              <a:ln>
                <a:noFill/>
              </a:ln>
            </p:spPr>
            <p:txBody>
              <a:bodyPr wrap="square" lIns="0" tIns="0" rIns="0" bIns="0" anchor="t" anchorCtr="0">
                <a:spAutoFit/>
              </a:bodyPr>
              <a:lstStyle/>
              <a:p>
                <a:pPr algn="l"/>
                <a:r>
                  <a:rPr lang="en" sz="1650" b="1" dirty="0">
                    <a:solidFill>
                      <a:srgbClr val="FFFFFF"/>
                    </a:solidFill>
                    <a:latin typeface="+mn-lt"/>
                    <a:ea typeface="+mn-ea"/>
                    <a:cs typeface="+mn-cs"/>
                  </a:rPr>
                  <a:t>Lab prototype today</a:t>
                </a:r>
              </a:p>
            </p:txBody>
          </p:sp>
        </p:grpSp>
        <p:grpSp>
          <p:nvGrpSpPr>
            <p:cNvPr id="43" name="Group 43"/>
            <p:cNvGrpSpPr/>
            <p:nvPr/>
          </p:nvGrpSpPr>
          <p:grpSpPr>
            <a:xfrm>
              <a:off x="8547470" y="3076575"/>
              <a:ext cx="2869460" cy="3036570"/>
              <a:chOff x="8547470" y="3076575"/>
              <a:chExt cx="2869460" cy="3036570"/>
            </a:xfrm>
          </p:grpSpPr>
          <p:sp>
            <p:nvSpPr>
              <p:cNvPr id="39" name="TextBox 39"/>
              <p:cNvSpPr txBox="1"/>
              <p:nvPr/>
            </p:nvSpPr>
            <p:spPr>
              <a:xfrm>
                <a:off x="8687417" y="3076575"/>
                <a:ext cx="2589567" cy="293370"/>
              </a:xfrm>
              <a:prstGeom prst="rect">
                <a:avLst/>
              </a:prstGeom>
              <a:noFill/>
              <a:ln>
                <a:noFill/>
              </a:ln>
            </p:spPr>
            <p:txBody>
              <a:bodyPr wrap="square" lIns="0" tIns="0" rIns="0" bIns="0" anchor="t" anchorCtr="0">
                <a:spAutoFit/>
              </a:bodyPr>
              <a:lstStyle/>
              <a:p>
                <a:pPr algn="ctr"/>
                <a:r>
                  <a:rPr lang="en" sz="1500" dirty="0">
                    <a:solidFill>
                      <a:srgbClr val="5B6477"/>
                    </a:solidFill>
                    <a:latin typeface="+mn-lt"/>
                    <a:ea typeface="+mn-ea"/>
                    <a:cs typeface="+mn-cs"/>
                  </a:rPr>
                  <a:t>Support from abroad</a:t>
                </a:r>
              </a:p>
            </p:txBody>
          </p:sp>
          <p:sp>
            <p:nvSpPr>
              <p:cNvPr id="40" name="TextBox 40"/>
              <p:cNvSpPr txBox="1"/>
              <p:nvPr/>
            </p:nvSpPr>
            <p:spPr>
              <a:xfrm>
                <a:off x="9161145" y="3990975"/>
                <a:ext cx="1642110" cy="293370"/>
              </a:xfrm>
              <a:prstGeom prst="rect">
                <a:avLst/>
              </a:prstGeom>
              <a:noFill/>
              <a:ln>
                <a:noFill/>
              </a:ln>
            </p:spPr>
            <p:txBody>
              <a:bodyPr wrap="square" lIns="0" tIns="0" rIns="0" bIns="0" anchor="t" anchorCtr="0">
                <a:spAutoFit/>
              </a:bodyPr>
              <a:lstStyle/>
              <a:p>
                <a:pPr algn="ctr"/>
                <a:r>
                  <a:rPr lang="en" sz="1500" dirty="0">
                    <a:solidFill>
                      <a:srgbClr val="5B6477"/>
                    </a:solidFill>
                    <a:latin typeface="+mn-lt"/>
                    <a:ea typeface="+mn-ea"/>
                    <a:cs typeface="+mn-cs"/>
                  </a:rPr>
                  <a:t>English-first</a:t>
                </a:r>
              </a:p>
            </p:txBody>
          </p:sp>
          <p:sp>
            <p:nvSpPr>
              <p:cNvPr id="41" name="TextBox 41"/>
              <p:cNvSpPr txBox="1"/>
              <p:nvPr/>
            </p:nvSpPr>
            <p:spPr>
              <a:xfrm>
                <a:off x="8605587" y="4905375"/>
                <a:ext cx="2753226" cy="293370"/>
              </a:xfrm>
              <a:prstGeom prst="rect">
                <a:avLst/>
              </a:prstGeom>
              <a:noFill/>
              <a:ln>
                <a:noFill/>
              </a:ln>
            </p:spPr>
            <p:txBody>
              <a:bodyPr wrap="square" lIns="0" tIns="0" rIns="0" bIns="0" anchor="t" anchorCtr="0">
                <a:spAutoFit/>
              </a:bodyPr>
              <a:lstStyle/>
              <a:p>
                <a:pPr algn="ctr"/>
                <a:r>
                  <a:rPr lang="en" sz="1500" dirty="0">
                    <a:solidFill>
                      <a:srgbClr val="5B6477"/>
                    </a:solidFill>
                    <a:latin typeface="+mn-lt"/>
                    <a:ea typeface="+mn-ea"/>
                    <a:cs typeface="+mn-cs"/>
                  </a:rPr>
                  <a:t>Deployed per operator</a:t>
                </a:r>
              </a:p>
            </p:txBody>
          </p:sp>
          <p:sp>
            <p:nvSpPr>
              <p:cNvPr id="42" name="TextBox 42"/>
              <p:cNvSpPr txBox="1"/>
              <p:nvPr/>
            </p:nvSpPr>
            <p:spPr>
              <a:xfrm>
                <a:off x="8188788" y="5819775"/>
                <a:ext cx="3586825" cy="293370"/>
              </a:xfrm>
              <a:prstGeom prst="rect">
                <a:avLst/>
              </a:prstGeom>
              <a:noFill/>
              <a:ln>
                <a:noFill/>
              </a:ln>
            </p:spPr>
            <p:txBody>
              <a:bodyPr wrap="square" lIns="0" tIns="0" rIns="0" bIns="0" anchor="t" anchorCtr="0">
                <a:spAutoFit/>
              </a:bodyPr>
              <a:lstStyle/>
              <a:p>
                <a:pPr algn="ctr"/>
                <a:r>
                  <a:rPr lang="en" sz="1500" dirty="0">
                    <a:solidFill>
                      <a:srgbClr val="5B6477"/>
                    </a:solidFill>
                    <a:latin typeface="+mn-lt"/>
                    <a:ea typeface="+mn-ea"/>
                    <a:cs typeface="+mn-cs"/>
                  </a:rPr>
                  <a:t>Proven abroad, heavy budget</a:t>
                </a:r>
              </a:p>
            </p:txBody>
          </p:sp>
        </p:grpSp>
      </p:grpSp>
      <p:grpSp>
        <p:nvGrpSpPr>
          <p:cNvPr id="48" name="footer"/>
          <p:cNvGrpSpPr/>
          <p:nvPr/>
        </p:nvGrpSpPr>
        <p:grpSpPr>
          <a:xfrm>
            <a:off x="604838" y="6551295"/>
            <a:ext cx="10982324" cy="176212"/>
            <a:chOff x="604838" y="6551295"/>
            <a:chExt cx="10982324" cy="176212"/>
          </a:xfrm>
        </p:grpSpPr>
        <p:sp>
          <p:nvSpPr>
            <p:cNvPr id="45" name="TextBox 45"/>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46" name="TextBox 46"/>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47"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8505302" cy="917734"/>
            <a:chOff x="594360" y="640556"/>
            <a:chExt cx="8505302" cy="917734"/>
          </a:xfrm>
        </p:grpSpPr>
        <p:sp>
          <p:nvSpPr>
            <p:cNvPr id="3" name="TextBox 3"/>
            <p:cNvSpPr txBox="1"/>
            <p:nvPr/>
          </p:nvSpPr>
          <p:spPr>
            <a:xfrm>
              <a:off x="603885" y="640556"/>
              <a:ext cx="1037371"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TIMELINE</a:t>
              </a:r>
            </a:p>
          </p:txBody>
        </p:sp>
        <p:sp>
          <p:nvSpPr>
            <p:cNvPr id="4" name="TextBox 4"/>
            <p:cNvSpPr txBox="1"/>
            <p:nvPr/>
          </p:nvSpPr>
          <p:spPr>
            <a:xfrm>
              <a:off x="594360" y="971550"/>
              <a:ext cx="10631627"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From lab to national service in 21 months</a:t>
              </a:r>
            </a:p>
          </p:txBody>
        </p:sp>
      </p:grpSp>
      <p:grpSp>
        <p:nvGrpSpPr>
          <p:cNvPr id="24" name="phase-gantt"/>
          <p:cNvGrpSpPr/>
          <p:nvPr/>
        </p:nvGrpSpPr>
        <p:grpSpPr>
          <a:xfrm>
            <a:off x="675559" y="2095500"/>
            <a:ext cx="8932518" cy="3330511"/>
            <a:chOff x="675559" y="2095500"/>
            <a:chExt cx="8932518" cy="3330511"/>
          </a:xfrm>
        </p:grpSpPr>
        <p:grpSp>
          <p:nvGrpSpPr>
            <p:cNvPr id="20" name="phase-gantt-chartArea"/>
            <p:cNvGrpSpPr/>
            <p:nvPr/>
          </p:nvGrpSpPr>
          <p:grpSpPr>
            <a:xfrm>
              <a:off x="675559" y="2095500"/>
              <a:ext cx="8932518" cy="3330511"/>
              <a:chOff x="675559" y="2095500"/>
              <a:chExt cx="8932518" cy="3330511"/>
            </a:xfrm>
          </p:grpSpPr>
          <p:sp>
            <p:nvSpPr>
              <p:cNvPr id="6" name="Line 6"/>
              <p:cNvSpPr/>
              <p:nvPr/>
            </p:nvSpPr>
            <p:spPr>
              <a:xfrm>
                <a:off x="952500" y="5048250"/>
                <a:ext cx="8572500" cy="9525"/>
              </a:xfrm>
              <a:custGeom>
                <a:avLst/>
                <a:gdLst/>
                <a:ahLst/>
                <a:cxnLst/>
                <a:rect l="l" t="t" r="r" b="b"/>
                <a:pathLst>
                  <a:path w="8572500" h="9525">
                    <a:moveTo>
                      <a:pt x="0" y="0"/>
                    </a:moveTo>
                    <a:lnTo>
                      <a:pt x="8572500" y="0"/>
                    </a:lnTo>
                  </a:path>
                </a:pathLst>
              </a:custGeom>
              <a:noFill/>
              <a:ln w="19050">
                <a:solidFill>
                  <a:srgbClr val="1F3864"/>
                </a:solidFill>
              </a:ln>
            </p:spPr>
          </p:sp>
          <p:grpSp>
            <p:nvGrpSpPr>
              <p:cNvPr id="11" name="Group 11"/>
              <p:cNvGrpSpPr/>
              <p:nvPr/>
            </p:nvGrpSpPr>
            <p:grpSpPr>
              <a:xfrm>
                <a:off x="952500" y="5048250"/>
                <a:ext cx="8582025" cy="95250"/>
                <a:chOff x="952500" y="5048250"/>
                <a:chExt cx="8582025" cy="95250"/>
              </a:xfrm>
            </p:grpSpPr>
            <p:sp>
              <p:nvSpPr>
                <p:cNvPr id="7" name="Line 7"/>
                <p:cNvSpPr/>
                <p:nvPr/>
              </p:nvSpPr>
              <p:spPr>
                <a:xfrm>
                  <a:off x="952500" y="5048250"/>
                  <a:ext cx="9525" cy="95250"/>
                </a:xfrm>
                <a:custGeom>
                  <a:avLst/>
                  <a:gdLst/>
                  <a:ahLst/>
                  <a:cxnLst/>
                  <a:rect l="l" t="t" r="r" b="b"/>
                  <a:pathLst>
                    <a:path w="9525" h="95250">
                      <a:moveTo>
                        <a:pt x="0" y="0"/>
                      </a:moveTo>
                      <a:lnTo>
                        <a:pt x="0" y="95250"/>
                      </a:lnTo>
                    </a:path>
                  </a:pathLst>
                </a:custGeom>
                <a:noFill/>
                <a:ln w="19050">
                  <a:solidFill>
                    <a:srgbClr val="1F3864"/>
                  </a:solidFill>
                </a:ln>
              </p:spPr>
            </p:sp>
            <p:sp>
              <p:nvSpPr>
                <p:cNvPr id="8" name="Line 8"/>
                <p:cNvSpPr/>
                <p:nvPr/>
              </p:nvSpPr>
              <p:spPr>
                <a:xfrm>
                  <a:off x="2177129" y="5048250"/>
                  <a:ext cx="9525" cy="95250"/>
                </a:xfrm>
                <a:custGeom>
                  <a:avLst/>
                  <a:gdLst/>
                  <a:ahLst/>
                  <a:cxnLst/>
                  <a:rect l="l" t="t" r="r" b="b"/>
                  <a:pathLst>
                    <a:path w="9525" h="95250">
                      <a:moveTo>
                        <a:pt x="0" y="0"/>
                      </a:moveTo>
                      <a:lnTo>
                        <a:pt x="0" y="95250"/>
                      </a:lnTo>
                    </a:path>
                  </a:pathLst>
                </a:custGeom>
                <a:noFill/>
                <a:ln w="19050">
                  <a:solidFill>
                    <a:srgbClr val="1F3864"/>
                  </a:solidFill>
                </a:ln>
              </p:spPr>
            </p:sp>
            <p:sp>
              <p:nvSpPr>
                <p:cNvPr id="9" name="Line 9"/>
                <p:cNvSpPr/>
                <p:nvPr/>
              </p:nvSpPr>
              <p:spPr>
                <a:xfrm>
                  <a:off x="4626388" y="5048250"/>
                  <a:ext cx="9525" cy="95250"/>
                </a:xfrm>
                <a:custGeom>
                  <a:avLst/>
                  <a:gdLst/>
                  <a:ahLst/>
                  <a:cxnLst/>
                  <a:rect l="l" t="t" r="r" b="b"/>
                  <a:pathLst>
                    <a:path w="9525" h="95250">
                      <a:moveTo>
                        <a:pt x="0" y="0"/>
                      </a:moveTo>
                      <a:lnTo>
                        <a:pt x="0" y="95250"/>
                      </a:lnTo>
                    </a:path>
                  </a:pathLst>
                </a:custGeom>
                <a:noFill/>
                <a:ln w="19050">
                  <a:solidFill>
                    <a:srgbClr val="1F3864"/>
                  </a:solidFill>
                </a:ln>
              </p:spPr>
            </p:sp>
            <p:sp>
              <p:nvSpPr>
                <p:cNvPr id="10" name="Line 10"/>
                <p:cNvSpPr/>
                <p:nvPr/>
              </p:nvSpPr>
              <p:spPr>
                <a:xfrm>
                  <a:off x="9525000" y="5048250"/>
                  <a:ext cx="9525" cy="95250"/>
                </a:xfrm>
                <a:custGeom>
                  <a:avLst/>
                  <a:gdLst/>
                  <a:ahLst/>
                  <a:cxnLst/>
                  <a:rect l="l" t="t" r="r" b="b"/>
                  <a:pathLst>
                    <a:path w="9525" h="95250">
                      <a:moveTo>
                        <a:pt x="0" y="0"/>
                      </a:moveTo>
                      <a:lnTo>
                        <a:pt x="0" y="95250"/>
                      </a:lnTo>
                    </a:path>
                  </a:pathLst>
                </a:custGeom>
                <a:noFill/>
                <a:ln w="19050">
                  <a:solidFill>
                    <a:srgbClr val="1F3864"/>
                  </a:solidFill>
                </a:ln>
              </p:spPr>
            </p:sp>
          </p:grpSp>
          <p:grpSp>
            <p:nvGrpSpPr>
              <p:cNvPr id="16" name="Group 16"/>
              <p:cNvGrpSpPr/>
              <p:nvPr/>
            </p:nvGrpSpPr>
            <p:grpSpPr>
              <a:xfrm>
                <a:off x="675559" y="5220652"/>
                <a:ext cx="8932518" cy="205359"/>
                <a:chOff x="675559" y="5220652"/>
                <a:chExt cx="8932518" cy="205359"/>
              </a:xfrm>
            </p:grpSpPr>
            <p:sp>
              <p:nvSpPr>
                <p:cNvPr id="12" name="TextBox 12"/>
                <p:cNvSpPr txBox="1"/>
                <p:nvPr/>
              </p:nvSpPr>
              <p:spPr>
                <a:xfrm>
                  <a:off x="561259" y="5220652"/>
                  <a:ext cx="782483"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Month 0</a:t>
                  </a:r>
                </a:p>
              </p:txBody>
            </p:sp>
            <p:sp>
              <p:nvSpPr>
                <p:cNvPr id="13" name="TextBox 13"/>
                <p:cNvSpPr txBox="1"/>
                <p:nvPr/>
              </p:nvSpPr>
              <p:spPr>
                <a:xfrm>
                  <a:off x="2018624" y="5220652"/>
                  <a:ext cx="317011"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3</a:t>
                  </a:r>
                </a:p>
              </p:txBody>
            </p:sp>
            <p:sp>
              <p:nvSpPr>
                <p:cNvPr id="14" name="TextBox 14"/>
                <p:cNvSpPr txBox="1"/>
                <p:nvPr/>
              </p:nvSpPr>
              <p:spPr>
                <a:xfrm>
                  <a:off x="4467882" y="5220652"/>
                  <a:ext cx="317011"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9</a:t>
                  </a:r>
                </a:p>
              </p:txBody>
            </p:sp>
            <p:sp>
              <p:nvSpPr>
                <p:cNvPr id="15" name="TextBox 15"/>
                <p:cNvSpPr txBox="1"/>
                <p:nvPr/>
              </p:nvSpPr>
              <p:spPr>
                <a:xfrm>
                  <a:off x="9327623" y="5220652"/>
                  <a:ext cx="394754"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21</a:t>
                  </a:r>
                </a:p>
              </p:txBody>
            </p:sp>
          </p:grpSp>
          <p:sp>
            <p:nvSpPr>
              <p:cNvPr id="17" name="Rectangle 17"/>
              <p:cNvSpPr/>
              <p:nvPr/>
            </p:nvSpPr>
            <p:spPr>
              <a:xfrm>
                <a:off x="952500" y="2095500"/>
                <a:ext cx="1224629" cy="685800"/>
              </a:xfrm>
              <a:prstGeom prst="roundRect">
                <a:avLst>
                  <a:gd name="adj" fmla="val 11111"/>
                </a:avLst>
              </a:prstGeom>
              <a:solidFill>
                <a:srgbClr val="F2A56B"/>
              </a:solidFill>
              <a:ln>
                <a:noFill/>
              </a:ln>
            </p:spPr>
          </p:sp>
          <p:sp>
            <p:nvSpPr>
              <p:cNvPr id="18" name="Rectangle 18"/>
              <p:cNvSpPr/>
              <p:nvPr/>
            </p:nvSpPr>
            <p:spPr>
              <a:xfrm>
                <a:off x="2177129" y="3048000"/>
                <a:ext cx="2449258" cy="685800"/>
              </a:xfrm>
              <a:prstGeom prst="roundRect">
                <a:avLst>
                  <a:gd name="adj" fmla="val 11111"/>
                </a:avLst>
              </a:prstGeom>
              <a:solidFill>
                <a:srgbClr val="EC8236"/>
              </a:solidFill>
              <a:ln>
                <a:noFill/>
              </a:ln>
            </p:spPr>
          </p:sp>
          <p:sp>
            <p:nvSpPr>
              <p:cNvPr id="19" name="Rectangle 19"/>
              <p:cNvSpPr/>
              <p:nvPr/>
            </p:nvSpPr>
            <p:spPr>
              <a:xfrm>
                <a:off x="4626388" y="4000500"/>
                <a:ext cx="4898612" cy="685800"/>
              </a:xfrm>
              <a:prstGeom prst="roundRect">
                <a:avLst>
                  <a:gd name="adj" fmla="val 11111"/>
                </a:avLst>
              </a:prstGeom>
              <a:solidFill>
                <a:srgbClr val="1F3864"/>
              </a:solidFill>
              <a:ln>
                <a:noFill/>
              </a:ln>
            </p:spPr>
          </p:sp>
        </p:grpSp>
        <p:sp>
          <p:nvSpPr>
            <p:cNvPr id="21" name="TextBox 21"/>
            <p:cNvSpPr txBox="1"/>
            <p:nvPr/>
          </p:nvSpPr>
          <p:spPr>
            <a:xfrm>
              <a:off x="2391918" y="2203132"/>
              <a:ext cx="3637657" cy="589407"/>
            </a:xfrm>
            <a:prstGeom prst="rect">
              <a:avLst/>
            </a:prstGeom>
            <a:noFill/>
            <a:ln>
              <a:noFill/>
            </a:ln>
          </p:spPr>
          <p:txBody>
            <a:bodyPr wrap="square" lIns="0" tIns="0" rIns="0" bIns="0" anchor="t" anchorCtr="0">
              <a:spAutoFit/>
            </a:bodyPr>
            <a:lstStyle/>
            <a:p>
              <a:pPr algn="l">
                <a:lnSpc>
                  <a:spcPts val="2100"/>
                </a:lnSpc>
              </a:pPr>
              <a:r>
                <a:rPr lang="en" sz="1650" b="1" dirty="0">
                  <a:solidFill>
                    <a:srgbClr val="1F3864"/>
                  </a:solidFill>
                  <a:latin typeface="+mn-lt"/>
                  <a:ea typeface="+mn-ea"/>
                  <a:cs typeface="+mn-cs"/>
                </a:rPr>
                <a:t xml:space="preserve">POC · 3 months </a:t>
              </a:r>
              <a:r>
                <a:rPr lang="en" sz="1650" b="1" dirty="0">
                  <a:solidFill>
                    <a:srgbClr val="A94E00"/>
                  </a:solidFill>
                  <a:latin typeface="+mn-lt"/>
                  <a:ea typeface="+mn-ea"/>
                  <a:cs typeface="+mn-cs"/>
                </a:rPr>
                <a:t>· 15 M FCFA</a:t>
              </a:r>
            </a:p>
            <a:p>
              <a:pPr algn="l">
                <a:lnSpc>
                  <a:spcPts val="2100"/>
                </a:lnSpc>
              </a:pPr>
              <a:r>
                <a:rPr lang="en" sz="1280" dirty="0">
                  <a:solidFill>
                    <a:srgbClr val="5B6477"/>
                  </a:solidFill>
                  <a:latin typeface="+mn-lt"/>
                  <a:ea typeface="+mn-ea"/>
                  <a:cs typeface="+mn-cs"/>
                </a:rPr>
                <a:t>Core engine and dashboard MVP</a:t>
              </a:r>
            </a:p>
          </p:txBody>
        </p:sp>
        <p:sp>
          <p:nvSpPr>
            <p:cNvPr id="22" name="TextBox 22"/>
            <p:cNvSpPr txBox="1"/>
            <p:nvPr/>
          </p:nvSpPr>
          <p:spPr>
            <a:xfrm>
              <a:off x="4849368" y="3155632"/>
              <a:ext cx="3830955" cy="589407"/>
            </a:xfrm>
            <a:prstGeom prst="rect">
              <a:avLst/>
            </a:prstGeom>
            <a:noFill/>
            <a:ln>
              <a:noFill/>
            </a:ln>
          </p:spPr>
          <p:txBody>
            <a:bodyPr wrap="square" lIns="0" tIns="0" rIns="0" bIns="0" anchor="t" anchorCtr="0">
              <a:spAutoFit/>
            </a:bodyPr>
            <a:lstStyle/>
            <a:p>
              <a:pPr algn="l">
                <a:lnSpc>
                  <a:spcPts val="2100"/>
                </a:lnSpc>
              </a:pPr>
              <a:r>
                <a:rPr lang="en" sz="1650" b="1" dirty="0">
                  <a:solidFill>
                    <a:srgbClr val="1F3864"/>
                  </a:solidFill>
                  <a:latin typeface="+mn-lt"/>
                  <a:ea typeface="+mn-ea"/>
                  <a:cs typeface="+mn-cs"/>
                </a:rPr>
                <a:t xml:space="preserve">Pilot · 6 months </a:t>
              </a:r>
              <a:r>
                <a:rPr lang="en" sz="1650" b="1" dirty="0">
                  <a:solidFill>
                    <a:srgbClr val="A94E00"/>
                  </a:solidFill>
                  <a:latin typeface="+mn-lt"/>
                  <a:ea typeface="+mn-ea"/>
                  <a:cs typeface="+mn-cs"/>
                </a:rPr>
                <a:t>· 50 M FCFA</a:t>
              </a:r>
            </a:p>
            <a:p>
              <a:pPr algn="l">
                <a:lnSpc>
                  <a:spcPts val="2100"/>
                </a:lnSpc>
              </a:pPr>
              <a:r>
                <a:rPr lang="en" sz="1280" dirty="0">
                  <a:solidFill>
                    <a:srgbClr val="5B6477"/>
                  </a:solidFill>
                  <a:latin typeface="+mn-lt"/>
                  <a:ea typeface="+mn-ea"/>
                  <a:cs typeface="+mn-cs"/>
                </a:rPr>
                <a:t>MINPOSTEL plus one operator, one city</a:t>
              </a:r>
            </a:p>
          </p:txBody>
        </p:sp>
        <p:sp>
          <p:nvSpPr>
            <p:cNvPr id="23" name="TextBox 23"/>
            <p:cNvSpPr txBox="1"/>
            <p:nvPr/>
          </p:nvSpPr>
          <p:spPr>
            <a:xfrm>
              <a:off x="4849368" y="4108132"/>
              <a:ext cx="4504015" cy="589407"/>
            </a:xfrm>
            <a:prstGeom prst="rect">
              <a:avLst/>
            </a:prstGeom>
            <a:noFill/>
            <a:ln>
              <a:noFill/>
            </a:ln>
          </p:spPr>
          <p:txBody>
            <a:bodyPr wrap="square" lIns="0" tIns="0" rIns="0" bIns="0" anchor="t" anchorCtr="0">
              <a:spAutoFit/>
            </a:bodyPr>
            <a:lstStyle/>
            <a:p>
              <a:pPr algn="l">
                <a:lnSpc>
                  <a:spcPts val="2100"/>
                </a:lnSpc>
              </a:pPr>
              <a:r>
                <a:rPr lang="en" sz="1650" b="1" dirty="0">
                  <a:solidFill>
                    <a:srgbClr val="FFFFFF"/>
                  </a:solidFill>
                  <a:latin typeface="+mn-lt"/>
                  <a:ea typeface="+mn-ea"/>
                  <a:cs typeface="+mn-cs"/>
                </a:rPr>
                <a:t xml:space="preserve">National · 12 months </a:t>
              </a:r>
              <a:r>
                <a:rPr lang="en" sz="1650" b="1" dirty="0">
                  <a:solidFill>
                    <a:srgbClr val="F5B888"/>
                  </a:solidFill>
                  <a:latin typeface="+mn-lt"/>
                  <a:ea typeface="+mn-ea"/>
                  <a:cs typeface="+mn-cs"/>
                </a:rPr>
                <a:t>· 100 M FCFA</a:t>
              </a:r>
            </a:p>
            <a:p>
              <a:pPr algn="l">
                <a:lnSpc>
                  <a:spcPts val="2100"/>
                </a:lnSpc>
              </a:pPr>
              <a:r>
                <a:rPr lang="en" sz="1280" dirty="0">
                  <a:solidFill>
                    <a:srgbClr val="C9D2E3"/>
                  </a:solidFill>
                  <a:latin typeface="+mn-lt"/>
                  <a:ea typeface="+mn-ea"/>
                  <a:cs typeface="+mn-cs"/>
                </a:rPr>
                <a:t>Government contract, all operators</a:t>
              </a:r>
            </a:p>
          </p:txBody>
        </p:sp>
      </p:grpSp>
      <p:grpSp>
        <p:nvGrpSpPr>
          <p:cNvPr id="27" name="cemac-next"/>
          <p:cNvGrpSpPr/>
          <p:nvPr/>
        </p:nvGrpSpPr>
        <p:grpSpPr>
          <a:xfrm>
            <a:off x="9677400" y="4000500"/>
            <a:ext cx="1905000" cy="685800"/>
            <a:chOff x="9677400" y="4000500"/>
            <a:chExt cx="1905000" cy="685800"/>
          </a:xfrm>
        </p:grpSpPr>
        <p:sp>
          <p:nvSpPr>
            <p:cNvPr id="25" name="Freeform 25"/>
            <p:cNvSpPr/>
            <p:nvPr/>
          </p:nvSpPr>
          <p:spPr>
            <a:xfrm>
              <a:off x="9677400" y="4000500"/>
              <a:ext cx="1905000" cy="685800"/>
            </a:xfrm>
            <a:prstGeom prst="rightArrow">
              <a:avLst/>
            </a:prstGeom>
            <a:solidFill>
              <a:srgbClr val="FBE3D0"/>
            </a:solidFill>
            <a:ln>
              <a:noFill/>
            </a:ln>
          </p:spPr>
        </p:sp>
        <p:sp>
          <p:nvSpPr>
            <p:cNvPr id="26" name="TextBox 26"/>
            <p:cNvSpPr txBox="1"/>
            <p:nvPr/>
          </p:nvSpPr>
          <p:spPr>
            <a:xfrm>
              <a:off x="9803892" y="4264342"/>
              <a:ext cx="1366188" cy="264033"/>
            </a:xfrm>
            <a:prstGeom prst="rect">
              <a:avLst/>
            </a:prstGeom>
            <a:noFill/>
            <a:ln>
              <a:noFill/>
            </a:ln>
          </p:spPr>
          <p:txBody>
            <a:bodyPr wrap="square" lIns="0" tIns="0" rIns="0" bIns="0" anchor="t" anchorCtr="0">
              <a:spAutoFit/>
            </a:bodyPr>
            <a:lstStyle/>
            <a:p>
              <a:pPr algn="l"/>
              <a:r>
                <a:rPr lang="en" sz="1350" b="1" dirty="0">
                  <a:solidFill>
                    <a:srgbClr val="A94E00"/>
                  </a:solidFill>
                  <a:latin typeface="+mn-lt"/>
                  <a:ea typeface="+mn-ea"/>
                  <a:cs typeface="+mn-cs"/>
                </a:rPr>
                <a:t>Then CEMAC</a:t>
              </a:r>
            </a:p>
          </p:txBody>
        </p:sp>
      </p:grpSp>
      <p:grpSp>
        <p:nvGrpSpPr>
          <p:cNvPr id="30" name="plan-note"/>
          <p:cNvGrpSpPr/>
          <p:nvPr/>
        </p:nvGrpSpPr>
        <p:grpSpPr>
          <a:xfrm>
            <a:off x="609600" y="5772150"/>
            <a:ext cx="4000500" cy="419100"/>
            <a:chOff x="609600" y="5772150"/>
            <a:chExt cx="4000500" cy="419100"/>
          </a:xfrm>
        </p:grpSpPr>
        <p:sp>
          <p:nvSpPr>
            <p:cNvPr id="28" name="Rectangle 28"/>
            <p:cNvSpPr/>
            <p:nvPr/>
          </p:nvSpPr>
          <p:spPr>
            <a:xfrm>
              <a:off x="609600" y="5772150"/>
              <a:ext cx="4000500" cy="419100"/>
            </a:xfrm>
            <a:prstGeom prst="roundRect">
              <a:avLst>
                <a:gd name="adj" fmla="val 50000"/>
              </a:avLst>
            </a:prstGeom>
            <a:noFill/>
            <a:ln w="19050">
              <a:solidFill>
                <a:srgbClr val="A94E00"/>
              </a:solidFill>
            </a:ln>
          </p:spPr>
        </p:sp>
        <p:sp>
          <p:nvSpPr>
            <p:cNvPr id="29" name="TextBox 29"/>
            <p:cNvSpPr txBox="1"/>
            <p:nvPr/>
          </p:nvSpPr>
          <p:spPr>
            <a:xfrm>
              <a:off x="537813" y="5909310"/>
              <a:ext cx="4144076" cy="234696"/>
            </a:xfrm>
            <a:prstGeom prst="rect">
              <a:avLst/>
            </a:prstGeom>
            <a:noFill/>
            <a:ln>
              <a:noFill/>
            </a:ln>
          </p:spPr>
          <p:txBody>
            <a:bodyPr wrap="square" lIns="0" tIns="0" rIns="0" bIns="0" anchor="t" anchorCtr="0">
              <a:spAutoFit/>
            </a:bodyPr>
            <a:lstStyle/>
            <a:p>
              <a:pPr algn="ctr"/>
              <a:r>
                <a:rPr lang="en" sz="1200" b="1" dirty="0">
                  <a:solidFill>
                    <a:srgbClr val="A94E00"/>
                  </a:solidFill>
                  <a:latin typeface="+mn-lt"/>
                  <a:ea typeface="+mn-ea"/>
                  <a:cs typeface="+mn-cs"/>
                </a:rPr>
                <a:t>F2G plan — to be validated with the team</a:t>
              </a:r>
            </a:p>
          </p:txBody>
        </p:sp>
      </p:grpSp>
      <p:grpSp>
        <p:nvGrpSpPr>
          <p:cNvPr id="34" name="footer"/>
          <p:cNvGrpSpPr/>
          <p:nvPr/>
        </p:nvGrpSpPr>
        <p:grpSpPr>
          <a:xfrm>
            <a:off x="604838" y="6551295"/>
            <a:ext cx="10982324" cy="176212"/>
            <a:chOff x="604838" y="6551295"/>
            <a:chExt cx="10982324" cy="176212"/>
          </a:xfrm>
        </p:grpSpPr>
        <p:sp>
          <p:nvSpPr>
            <p:cNvPr id="31" name="TextBox 31"/>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32" name="TextBox 32"/>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33"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sp>
        <p:nvSpPr>
          <p:cNvPr id="2" name="field-navy"/>
          <p:cNvSpPr/>
          <p:nvPr/>
        </p:nvSpPr>
        <p:spPr>
          <a:xfrm>
            <a:off x="7048500" y="0"/>
            <a:ext cx="5143500" cy="6858000"/>
          </a:xfrm>
          <a:prstGeom prst="rect">
            <a:avLst/>
          </a:prstGeom>
          <a:solidFill>
            <a:srgbClr val="1F3864"/>
          </a:solidFill>
          <a:ln>
            <a:noFill/>
          </a:ln>
        </p:spPr>
      </p:sp>
      <p:sp>
        <p:nvSpPr>
          <p:cNvPr id="3" name="ripple-1"/>
          <p:cNvSpPr/>
          <p:nvPr/>
        </p:nvSpPr>
        <p:spPr>
          <a:xfrm>
            <a:off x="10668000" y="5334000"/>
            <a:ext cx="3048000" cy="3048000"/>
          </a:xfrm>
          <a:prstGeom prst="ellipse">
            <a:avLst/>
          </a:prstGeom>
          <a:noFill/>
          <a:ln w="19050">
            <a:solidFill>
              <a:srgbClr val="EC8236">
                <a:alpha val="40000"/>
              </a:srgbClr>
            </a:solidFill>
          </a:ln>
        </p:spPr>
      </p:sp>
      <p:sp>
        <p:nvSpPr>
          <p:cNvPr id="4" name="ripple-2"/>
          <p:cNvSpPr/>
          <p:nvPr/>
        </p:nvSpPr>
        <p:spPr>
          <a:xfrm>
            <a:off x="9906000" y="4572000"/>
            <a:ext cx="4572000" cy="4572000"/>
          </a:xfrm>
          <a:prstGeom prst="ellipse">
            <a:avLst/>
          </a:prstGeom>
          <a:noFill/>
          <a:ln w="19050">
            <a:solidFill>
              <a:srgbClr val="EC8236">
                <a:alpha val="22000"/>
              </a:srgbClr>
            </a:solidFill>
          </a:ln>
        </p:spPr>
      </p:sp>
      <p:grpSp>
        <p:nvGrpSpPr>
          <p:cNvPr id="7" name="logo"/>
          <p:cNvGrpSpPr/>
          <p:nvPr/>
        </p:nvGrpSpPr>
        <p:grpSpPr>
          <a:xfrm>
            <a:off x="11125200" y="190500"/>
            <a:ext cx="762000" cy="762000"/>
            <a:chOff x="11125200" y="190500"/>
            <a:chExt cx="762000" cy="762000"/>
          </a:xfrm>
        </p:grpSpPr>
        <p:sp>
          <p:nvSpPr>
            <p:cNvPr id="5" name="Rectangle 5"/>
            <p:cNvSpPr/>
            <p:nvPr/>
          </p:nvSpPr>
          <p:spPr>
            <a:xfrm>
              <a:off x="11125200" y="190500"/>
              <a:ext cx="762000" cy="762000"/>
            </a:xfrm>
            <a:prstGeom prst="roundRect">
              <a:avLst>
                <a:gd name="adj" fmla="val 20000"/>
              </a:avLst>
            </a:prstGeom>
            <a:solidFill>
              <a:srgbClr val="FFFFFF"/>
            </a:solidFill>
            <a:ln>
              <a:noFill/>
            </a:ln>
          </p:spPr>
        </p:sp>
        <p:pic>
          <p:nvPicPr>
            <p:cNvPr id="6" name="Image 6"/>
            <p:cNvPicPr>
              <a:picLocks noChangeAspect="1"/>
            </p:cNvPicPr>
            <p:nvPr/>
          </p:nvPicPr>
          <p:blipFill>
            <a:blip r:embed="rId2"/>
            <a:stretch>
              <a:fillRect/>
            </a:stretch>
          </p:blipFill>
          <p:spPr>
            <a:xfrm>
              <a:off x="11201400" y="266700"/>
              <a:ext cx="609600" cy="609600"/>
            </a:xfrm>
            <a:prstGeom prst="rect">
              <a:avLst/>
            </a:prstGeom>
          </p:spPr>
        </p:pic>
      </p:grpSp>
      <p:grpSp>
        <p:nvGrpSpPr>
          <p:cNvPr id="10" name="header"/>
          <p:cNvGrpSpPr/>
          <p:nvPr/>
        </p:nvGrpSpPr>
        <p:grpSpPr>
          <a:xfrm>
            <a:off x="594360" y="640556"/>
            <a:ext cx="4242583" cy="917734"/>
            <a:chOff x="594360" y="640556"/>
            <a:chExt cx="4242583" cy="917734"/>
          </a:xfrm>
        </p:grpSpPr>
        <p:sp>
          <p:nvSpPr>
            <p:cNvPr id="8" name="TextBox 8"/>
            <p:cNvSpPr txBox="1"/>
            <p:nvPr/>
          </p:nvSpPr>
          <p:spPr>
            <a:xfrm>
              <a:off x="603885" y="640556"/>
              <a:ext cx="1291247"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NEXT STEPS</a:t>
              </a:r>
            </a:p>
          </p:txBody>
        </p:sp>
        <p:sp>
          <p:nvSpPr>
            <p:cNvPr id="9" name="TextBox 9"/>
            <p:cNvSpPr txBox="1"/>
            <p:nvPr/>
          </p:nvSpPr>
          <p:spPr>
            <a:xfrm>
              <a:off x="594360" y="971550"/>
              <a:ext cx="5303228"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From review to pilot</a:t>
              </a:r>
            </a:p>
          </p:txBody>
        </p:sp>
      </p:grpSp>
      <p:grpSp>
        <p:nvGrpSpPr>
          <p:cNvPr id="21" name="steps"/>
          <p:cNvGrpSpPr/>
          <p:nvPr/>
        </p:nvGrpSpPr>
        <p:grpSpPr>
          <a:xfrm>
            <a:off x="590550" y="2232660"/>
            <a:ext cx="3518154" cy="3790950"/>
            <a:chOff x="590550" y="2232660"/>
            <a:chExt cx="3518154" cy="3790950"/>
          </a:xfrm>
        </p:grpSpPr>
        <p:grpSp>
          <p:nvGrpSpPr>
            <p:cNvPr id="15" name="Group 15"/>
            <p:cNvGrpSpPr/>
            <p:nvPr/>
          </p:nvGrpSpPr>
          <p:grpSpPr>
            <a:xfrm>
              <a:off x="590550" y="2232660"/>
              <a:ext cx="364621" cy="3790950"/>
              <a:chOff x="590550" y="2232660"/>
              <a:chExt cx="364621" cy="3790950"/>
            </a:xfrm>
          </p:grpSpPr>
          <p:sp>
            <p:nvSpPr>
              <p:cNvPr id="11" name="TextBox 11"/>
              <p:cNvSpPr txBox="1"/>
              <p:nvPr/>
            </p:nvSpPr>
            <p:spPr>
              <a:xfrm>
                <a:off x="590550" y="2232660"/>
                <a:ext cx="593221" cy="819150"/>
              </a:xfrm>
              <a:prstGeom prst="rect">
                <a:avLst/>
              </a:prstGeom>
              <a:noFill/>
              <a:ln>
                <a:noFill/>
              </a:ln>
            </p:spPr>
            <p:txBody>
              <a:bodyPr wrap="square" lIns="0" tIns="0" rIns="0" bIns="0" anchor="t" anchorCtr="0">
                <a:spAutoFit/>
              </a:bodyPr>
              <a:lstStyle/>
              <a:p>
                <a:pPr algn="l"/>
                <a:r>
                  <a:rPr lang="en" sz="4200" b="1" dirty="0">
                    <a:solidFill>
                      <a:srgbClr val="CC6508"/>
                    </a:solidFill>
                    <a:latin typeface="Baloo 2"/>
                    <a:ea typeface="Baloo 2"/>
                    <a:cs typeface="Baloo 2"/>
                  </a:rPr>
                  <a:t>1</a:t>
                </a:r>
              </a:p>
            </p:txBody>
          </p:sp>
          <p:sp>
            <p:nvSpPr>
              <p:cNvPr id="12" name="TextBox 12"/>
              <p:cNvSpPr txBox="1"/>
              <p:nvPr/>
            </p:nvSpPr>
            <p:spPr>
              <a:xfrm>
                <a:off x="590550" y="3223260"/>
                <a:ext cx="593221" cy="819150"/>
              </a:xfrm>
              <a:prstGeom prst="rect">
                <a:avLst/>
              </a:prstGeom>
              <a:noFill/>
              <a:ln>
                <a:noFill/>
              </a:ln>
            </p:spPr>
            <p:txBody>
              <a:bodyPr wrap="square" lIns="0" tIns="0" rIns="0" bIns="0" anchor="t" anchorCtr="0">
                <a:spAutoFit/>
              </a:bodyPr>
              <a:lstStyle/>
              <a:p>
                <a:pPr algn="l"/>
                <a:r>
                  <a:rPr lang="en" sz="4200" b="1" dirty="0">
                    <a:solidFill>
                      <a:srgbClr val="CC6508"/>
                    </a:solidFill>
                    <a:latin typeface="Baloo 2"/>
                    <a:ea typeface="Baloo 2"/>
                    <a:cs typeface="Baloo 2"/>
                  </a:rPr>
                  <a:t>2</a:t>
                </a:r>
              </a:p>
            </p:txBody>
          </p:sp>
          <p:sp>
            <p:nvSpPr>
              <p:cNvPr id="13" name="TextBox 13"/>
              <p:cNvSpPr txBox="1"/>
              <p:nvPr/>
            </p:nvSpPr>
            <p:spPr>
              <a:xfrm>
                <a:off x="590550" y="4213860"/>
                <a:ext cx="593221" cy="819150"/>
              </a:xfrm>
              <a:prstGeom prst="rect">
                <a:avLst/>
              </a:prstGeom>
              <a:noFill/>
              <a:ln>
                <a:noFill/>
              </a:ln>
            </p:spPr>
            <p:txBody>
              <a:bodyPr wrap="square" lIns="0" tIns="0" rIns="0" bIns="0" anchor="t" anchorCtr="0">
                <a:spAutoFit/>
              </a:bodyPr>
              <a:lstStyle/>
              <a:p>
                <a:pPr algn="l"/>
                <a:r>
                  <a:rPr lang="en" sz="4200" b="1" dirty="0">
                    <a:solidFill>
                      <a:srgbClr val="CC6508"/>
                    </a:solidFill>
                    <a:latin typeface="Baloo 2"/>
                    <a:ea typeface="Baloo 2"/>
                    <a:cs typeface="Baloo 2"/>
                  </a:rPr>
                  <a:t>3</a:t>
                </a:r>
              </a:p>
            </p:txBody>
          </p:sp>
          <p:sp>
            <p:nvSpPr>
              <p:cNvPr id="14" name="TextBox 14"/>
              <p:cNvSpPr txBox="1"/>
              <p:nvPr/>
            </p:nvSpPr>
            <p:spPr>
              <a:xfrm>
                <a:off x="590550" y="5204460"/>
                <a:ext cx="593221" cy="819150"/>
              </a:xfrm>
              <a:prstGeom prst="rect">
                <a:avLst/>
              </a:prstGeom>
              <a:noFill/>
              <a:ln>
                <a:noFill/>
              </a:ln>
            </p:spPr>
            <p:txBody>
              <a:bodyPr wrap="square" lIns="0" tIns="0" rIns="0" bIns="0" anchor="t" anchorCtr="0">
                <a:spAutoFit/>
              </a:bodyPr>
              <a:lstStyle/>
              <a:p>
                <a:pPr algn="l"/>
                <a:r>
                  <a:rPr lang="en" sz="4200" b="1" dirty="0">
                    <a:solidFill>
                      <a:srgbClr val="CC6508"/>
                    </a:solidFill>
                    <a:latin typeface="Baloo 2"/>
                    <a:ea typeface="Baloo 2"/>
                    <a:cs typeface="Baloo 2"/>
                  </a:rPr>
                  <a:t>4</a:t>
                </a:r>
              </a:p>
            </p:txBody>
          </p:sp>
        </p:grpSp>
        <p:grpSp>
          <p:nvGrpSpPr>
            <p:cNvPr id="20" name="Group 20"/>
            <p:cNvGrpSpPr/>
            <p:nvPr/>
          </p:nvGrpSpPr>
          <p:grpSpPr>
            <a:xfrm>
              <a:off x="1210056" y="2301240"/>
              <a:ext cx="2898648" cy="3590544"/>
              <a:chOff x="1210056" y="2301240"/>
              <a:chExt cx="2898648" cy="3590544"/>
            </a:xfrm>
          </p:grpSpPr>
          <p:sp>
            <p:nvSpPr>
              <p:cNvPr id="16" name="TextBox 16"/>
              <p:cNvSpPr txBox="1"/>
              <p:nvPr/>
            </p:nvSpPr>
            <p:spPr>
              <a:xfrm>
                <a:off x="1210056" y="2301240"/>
                <a:ext cx="2530316" cy="618744"/>
              </a:xfrm>
              <a:prstGeom prst="rect">
                <a:avLst/>
              </a:prstGeom>
              <a:noFill/>
              <a:ln>
                <a:noFill/>
              </a:ln>
            </p:spPr>
            <p:txBody>
              <a:bodyPr wrap="square" lIns="0" tIns="0" rIns="0" bIns="0" anchor="t" anchorCtr="0">
                <a:spAutoFit/>
              </a:bodyPr>
              <a:lstStyle/>
              <a:p>
                <a:pPr algn="l">
                  <a:lnSpc>
                    <a:spcPts val="2100"/>
                  </a:lnSpc>
                </a:pPr>
                <a:r>
                  <a:rPr lang="en" sz="1800" b="1" dirty="0">
                    <a:solidFill>
                      <a:srgbClr val="1F3864"/>
                    </a:solidFill>
                    <a:latin typeface="+mn-lt"/>
                    <a:ea typeface="+mn-ea"/>
                    <a:cs typeface="+mn-cs"/>
                  </a:rPr>
                  <a:t>Team review</a:t>
                </a:r>
              </a:p>
              <a:p>
                <a:pPr algn="l">
                  <a:lnSpc>
                    <a:spcPts val="2100"/>
                  </a:lnSpc>
                </a:pPr>
                <a:r>
                  <a:rPr lang="en" sz="1350" dirty="0">
                    <a:solidFill>
                      <a:srgbClr val="5B6477"/>
                    </a:solidFill>
                    <a:latin typeface="+mn-lt"/>
                    <a:ea typeface="+mn-ea"/>
                    <a:cs typeface="+mn-cs"/>
                  </a:rPr>
                  <a:t>Scope, pricing and roles</a:t>
                </a:r>
              </a:p>
            </p:txBody>
          </p:sp>
          <p:sp>
            <p:nvSpPr>
              <p:cNvPr id="17" name="TextBox 17"/>
              <p:cNvSpPr txBox="1"/>
              <p:nvPr/>
            </p:nvSpPr>
            <p:spPr>
              <a:xfrm>
                <a:off x="1210056" y="3291840"/>
                <a:ext cx="2787491" cy="618744"/>
              </a:xfrm>
              <a:prstGeom prst="rect">
                <a:avLst/>
              </a:prstGeom>
              <a:noFill/>
              <a:ln>
                <a:noFill/>
              </a:ln>
            </p:spPr>
            <p:txBody>
              <a:bodyPr wrap="square" lIns="0" tIns="0" rIns="0" bIns="0" anchor="t" anchorCtr="0">
                <a:spAutoFit/>
              </a:bodyPr>
              <a:lstStyle/>
              <a:p>
                <a:pPr algn="l">
                  <a:lnSpc>
                    <a:spcPts val="2100"/>
                  </a:lnSpc>
                </a:pPr>
                <a:r>
                  <a:rPr lang="en" sz="1800" b="1" dirty="0">
                    <a:solidFill>
                      <a:srgbClr val="1F3864"/>
                    </a:solidFill>
                    <a:latin typeface="+mn-lt"/>
                    <a:ea typeface="+mn-ea"/>
                    <a:cs typeface="+mn-cs"/>
                  </a:rPr>
                  <a:t>Live lab demo</a:t>
                </a:r>
              </a:p>
              <a:p>
                <a:pPr algn="l">
                  <a:lnSpc>
                    <a:spcPts val="2100"/>
                  </a:lnSpc>
                </a:pPr>
                <a:r>
                  <a:rPr lang="en" sz="1350" dirty="0">
                    <a:solidFill>
                      <a:srgbClr val="5B6477"/>
                    </a:solidFill>
                    <a:latin typeface="+mn-lt"/>
                    <a:ea typeface="+mn-ea"/>
                    <a:cs typeface="+mn-cs"/>
                  </a:rPr>
                  <a:t>Presidential, AMBER, ETWS</a:t>
                </a:r>
              </a:p>
            </p:txBody>
          </p:sp>
          <p:sp>
            <p:nvSpPr>
              <p:cNvPr id="18" name="TextBox 18"/>
              <p:cNvSpPr txBox="1"/>
              <p:nvPr/>
            </p:nvSpPr>
            <p:spPr>
              <a:xfrm>
                <a:off x="1210056" y="4282440"/>
                <a:ext cx="3623310" cy="618744"/>
              </a:xfrm>
              <a:prstGeom prst="rect">
                <a:avLst/>
              </a:prstGeom>
              <a:noFill/>
              <a:ln>
                <a:noFill/>
              </a:ln>
            </p:spPr>
            <p:txBody>
              <a:bodyPr wrap="square" lIns="0" tIns="0" rIns="0" bIns="0" anchor="t" anchorCtr="0">
                <a:spAutoFit/>
              </a:bodyPr>
              <a:lstStyle/>
              <a:p>
                <a:pPr algn="l">
                  <a:lnSpc>
                    <a:spcPts val="2100"/>
                  </a:lnSpc>
                </a:pPr>
                <a:r>
                  <a:rPr lang="en" sz="1800" b="1" dirty="0">
                    <a:solidFill>
                      <a:srgbClr val="1F3864"/>
                    </a:solidFill>
                    <a:latin typeface="+mn-lt"/>
                    <a:ea typeface="+mn-ea"/>
                    <a:cs typeface="+mn-cs"/>
                  </a:rPr>
                  <a:t>MINPOSTEL / ART meeting</a:t>
                </a:r>
              </a:p>
              <a:p>
                <a:pPr algn="l">
                  <a:lnSpc>
                    <a:spcPts val="2100"/>
                  </a:lnSpc>
                </a:pPr>
                <a:r>
                  <a:rPr lang="en" sz="1350" dirty="0">
                    <a:solidFill>
                      <a:srgbClr val="5B6477"/>
                    </a:solidFill>
                    <a:latin typeface="+mn-lt"/>
                    <a:ea typeface="+mn-ea"/>
                    <a:cs typeface="+mn-cs"/>
                  </a:rPr>
                  <a:t>National warning framework</a:t>
                </a:r>
              </a:p>
            </p:txBody>
          </p:sp>
          <p:sp>
            <p:nvSpPr>
              <p:cNvPr id="19" name="TextBox 19"/>
              <p:cNvSpPr txBox="1"/>
              <p:nvPr/>
            </p:nvSpPr>
            <p:spPr>
              <a:xfrm>
                <a:off x="1210056" y="5273040"/>
                <a:ext cx="3503295" cy="618744"/>
              </a:xfrm>
              <a:prstGeom prst="rect">
                <a:avLst/>
              </a:prstGeom>
              <a:noFill/>
              <a:ln>
                <a:noFill/>
              </a:ln>
            </p:spPr>
            <p:txBody>
              <a:bodyPr wrap="square" lIns="0" tIns="0" rIns="0" bIns="0" anchor="t" anchorCtr="0">
                <a:spAutoFit/>
              </a:bodyPr>
              <a:lstStyle/>
              <a:p>
                <a:pPr algn="l">
                  <a:lnSpc>
                    <a:spcPts val="2100"/>
                  </a:lnSpc>
                </a:pPr>
                <a:r>
                  <a:rPr lang="en" sz="1800" b="1" dirty="0">
                    <a:solidFill>
                      <a:srgbClr val="1F3864"/>
                    </a:solidFill>
                    <a:latin typeface="+mn-lt"/>
                    <a:ea typeface="+mn-ea"/>
                    <a:cs typeface="+mn-cs"/>
                  </a:rPr>
                  <a:t>One-city operator pilot</a:t>
                </a:r>
              </a:p>
              <a:p>
                <a:pPr algn="l">
                  <a:lnSpc>
                    <a:spcPts val="2100"/>
                  </a:lnSpc>
                </a:pPr>
                <a:r>
                  <a:rPr lang="en" sz="1350" dirty="0">
                    <a:solidFill>
                      <a:srgbClr val="5B6477"/>
                    </a:solidFill>
                    <a:latin typeface="+mn-lt"/>
                    <a:ea typeface="+mn-ea"/>
                    <a:cs typeface="+mn-cs"/>
                  </a:rPr>
                  <a:t>MTN or Orange</a:t>
                </a:r>
              </a:p>
            </p:txBody>
          </p:sp>
        </p:grpSp>
      </p:grpSp>
      <p:grpSp>
        <p:nvGrpSpPr>
          <p:cNvPr id="24" name="the-ask"/>
          <p:cNvGrpSpPr/>
          <p:nvPr/>
        </p:nvGrpSpPr>
        <p:grpSpPr>
          <a:xfrm>
            <a:off x="7414260" y="2126456"/>
            <a:ext cx="3630930" cy="2575084"/>
            <a:chOff x="7414260" y="2126456"/>
            <a:chExt cx="3630930" cy="2575084"/>
          </a:xfrm>
        </p:grpSpPr>
        <p:sp>
          <p:nvSpPr>
            <p:cNvPr id="22" name="TextBox 22"/>
            <p:cNvSpPr txBox="1"/>
            <p:nvPr/>
          </p:nvSpPr>
          <p:spPr>
            <a:xfrm>
              <a:off x="7423785" y="2126456"/>
              <a:ext cx="971257" cy="220028"/>
            </a:xfrm>
            <a:prstGeom prst="rect">
              <a:avLst/>
            </a:prstGeom>
            <a:noFill/>
            <a:ln>
              <a:noFill/>
            </a:ln>
          </p:spPr>
          <p:txBody>
            <a:bodyPr wrap="square" lIns="0" tIns="0" rIns="0" bIns="0" anchor="t" anchorCtr="0">
              <a:spAutoFit/>
            </a:bodyPr>
            <a:lstStyle/>
            <a:p>
              <a:pPr algn="l"/>
              <a:r>
                <a:rPr lang="en" sz="1120" b="1" spc="112" dirty="0">
                  <a:solidFill>
                    <a:srgbClr val="F5B888"/>
                  </a:solidFill>
                  <a:latin typeface="+mn-lt"/>
                  <a:ea typeface="+mn-ea"/>
                  <a:cs typeface="+mn-cs"/>
                </a:rPr>
                <a:t>OUR ASK</a:t>
              </a:r>
            </a:p>
          </p:txBody>
        </p:sp>
        <p:sp>
          <p:nvSpPr>
            <p:cNvPr id="23" name="TextBox 23"/>
            <p:cNvSpPr txBox="1"/>
            <p:nvPr/>
          </p:nvSpPr>
          <p:spPr>
            <a:xfrm>
              <a:off x="7414260" y="2628900"/>
              <a:ext cx="4538662" cy="2072640"/>
            </a:xfrm>
            <a:prstGeom prst="rect">
              <a:avLst/>
            </a:prstGeom>
            <a:noFill/>
            <a:ln>
              <a:noFill/>
            </a:ln>
          </p:spPr>
          <p:txBody>
            <a:bodyPr wrap="square" lIns="0" tIns="0" rIns="0" bIns="0" anchor="t" anchorCtr="0">
              <a:spAutoFit/>
            </a:bodyPr>
            <a:lstStyle/>
            <a:p>
              <a:pPr algn="l">
                <a:lnSpc>
                  <a:spcPts val="3900"/>
                </a:lnSpc>
              </a:pPr>
              <a:r>
                <a:rPr lang="en" sz="3000" b="1" dirty="0">
                  <a:solidFill>
                    <a:srgbClr val="FFFFFF"/>
                  </a:solidFill>
                  <a:latin typeface="Baloo 2"/>
                  <a:ea typeface="Baloo 2"/>
                  <a:cs typeface="Baloo 2"/>
                </a:rPr>
                <a:t>Your feedback,</a:t>
              </a:r>
              <a:br/>
              <a:r>
                <a:rPr lang="en" sz="3000" b="1" dirty="0">
                  <a:solidFill>
                    <a:srgbClr val="FFFFFF"/>
                  </a:solidFill>
                  <a:latin typeface="Baloo 2"/>
                  <a:ea typeface="Baloo 2"/>
                  <a:cs typeface="Baloo 2"/>
                </a:rPr>
                <a:t xml:space="preserve">and </a:t>
              </a:r>
              <a:r>
                <a:rPr lang="en" sz="3000" b="1" dirty="0">
                  <a:solidFill>
                    <a:srgbClr val="EC8236"/>
                  </a:solidFill>
                  <a:latin typeface="Baloo 2"/>
                  <a:ea typeface="Baloo 2"/>
                  <a:cs typeface="Baloo 2"/>
                </a:rPr>
                <a:t>one contact</a:t>
              </a:r>
              <a:br/>
              <a:r>
                <a:rPr lang="en" sz="3000" b="1" dirty="0">
                  <a:solidFill>
                    <a:srgbClr val="FFFFFF"/>
                  </a:solidFill>
                  <a:latin typeface="Baloo 2"/>
                  <a:ea typeface="Baloo 2"/>
                  <a:cs typeface="Baloo 2"/>
                </a:rPr>
                <a:t>at MINPOSTEL, ART</a:t>
              </a:r>
              <a:br/>
              <a:r>
                <a:rPr lang="en" sz="3000" b="1" dirty="0">
                  <a:solidFill>
                    <a:srgbClr val="FFFFFF"/>
                  </a:solidFill>
                  <a:latin typeface="Baloo 2"/>
                  <a:ea typeface="Baloo 2"/>
                  <a:cs typeface="Baloo 2"/>
                </a:rPr>
                <a:t>or an operator.</a:t>
              </a:r>
            </a:p>
          </p:txBody>
        </p:sp>
      </p:grpSp>
      <p:grpSp>
        <p:nvGrpSpPr>
          <p:cNvPr id="28" name="footer"/>
          <p:cNvGrpSpPr/>
          <p:nvPr/>
        </p:nvGrpSpPr>
        <p:grpSpPr>
          <a:xfrm>
            <a:off x="604838" y="6551295"/>
            <a:ext cx="10982324" cy="176212"/>
            <a:chOff x="604838" y="6551295"/>
            <a:chExt cx="10982324" cy="176212"/>
          </a:xfrm>
        </p:grpSpPr>
        <p:sp>
          <p:nvSpPr>
            <p:cNvPr id="25" name="TextBox 25"/>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26" name="TextBox 26"/>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A8B4CC"/>
                  </a:solidFill>
                  <a:latin typeface="+mn-lt"/>
                  <a:ea typeface="+mn-ea"/>
                  <a:cs typeface="+mn-cs"/>
                </a:rPr>
                <a:t>KFOKAM48 Telecommunication Academy</a:t>
              </a:r>
            </a:p>
          </p:txBody>
        </p:sp>
        <p:sp>
          <p:nvSpPr>
            <p:cNvPr id="27"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FFFFFF"/>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F3864"/>
            </a:gs>
            <a:gs pos="100000">
              <a:srgbClr val="132644"/>
            </a:gs>
          </a:gsLst>
          <a:lin ang="2700000" scaled="1"/>
        </a:gradFill>
        <a:effectLst/>
      </p:bgPr>
    </p:bg>
    <p:spTree>
      <p:nvGrpSpPr>
        <p:cNvPr id="1" name=""/>
        <p:cNvGrpSpPr/>
        <p:nvPr/>
      </p:nvGrpSpPr>
      <p:grpSpPr>
        <a:xfrm>
          <a:off x="0" y="0"/>
          <a:ext cx="0" cy="0"/>
          <a:chOff x="0" y="0"/>
          <a:chExt cx="0" cy="0"/>
        </a:xfrm>
      </p:grpSpPr>
      <p:sp>
        <p:nvSpPr>
          <p:cNvPr id="2" name="ripple-1"/>
          <p:cNvSpPr/>
          <p:nvPr/>
        </p:nvSpPr>
        <p:spPr>
          <a:xfrm>
            <a:off x="7239000" y="1714500"/>
            <a:ext cx="3810000" cy="3810000"/>
          </a:xfrm>
          <a:prstGeom prst="ellipse">
            <a:avLst/>
          </a:prstGeom>
          <a:noFill/>
          <a:ln w="19050">
            <a:solidFill>
              <a:srgbClr val="EC8236">
                <a:alpha val="45000"/>
              </a:srgbClr>
            </a:solidFill>
          </a:ln>
        </p:spPr>
      </p:sp>
      <p:sp>
        <p:nvSpPr>
          <p:cNvPr id="3" name="ripple-2"/>
          <p:cNvSpPr/>
          <p:nvPr/>
        </p:nvSpPr>
        <p:spPr>
          <a:xfrm>
            <a:off x="6572250" y="1047750"/>
            <a:ext cx="5143500" cy="5143500"/>
          </a:xfrm>
          <a:prstGeom prst="ellipse">
            <a:avLst/>
          </a:prstGeom>
          <a:noFill/>
          <a:ln w="19050">
            <a:solidFill>
              <a:srgbClr val="EC8236">
                <a:alpha val="26000"/>
              </a:srgbClr>
            </a:solidFill>
          </a:ln>
        </p:spPr>
      </p:sp>
      <p:sp>
        <p:nvSpPr>
          <p:cNvPr id="4" name="ripple-3"/>
          <p:cNvSpPr/>
          <p:nvPr/>
        </p:nvSpPr>
        <p:spPr>
          <a:xfrm>
            <a:off x="5905500" y="381000"/>
            <a:ext cx="6477000" cy="6477000"/>
          </a:xfrm>
          <a:prstGeom prst="ellipse">
            <a:avLst/>
          </a:prstGeom>
          <a:noFill/>
          <a:ln w="19050">
            <a:solidFill>
              <a:srgbClr val="EC8236">
                <a:alpha val="12000"/>
              </a:srgbClr>
            </a:solidFill>
          </a:ln>
        </p:spPr>
      </p:sp>
      <p:grpSp>
        <p:nvGrpSpPr>
          <p:cNvPr id="7" name="logo"/>
          <p:cNvGrpSpPr/>
          <p:nvPr/>
        </p:nvGrpSpPr>
        <p:grpSpPr>
          <a:xfrm>
            <a:off x="11125200" y="190500"/>
            <a:ext cx="762000" cy="762000"/>
            <a:chOff x="11125200" y="190500"/>
            <a:chExt cx="762000" cy="762000"/>
          </a:xfrm>
        </p:grpSpPr>
        <p:sp>
          <p:nvSpPr>
            <p:cNvPr id="5" name="Rectangle 5"/>
            <p:cNvSpPr/>
            <p:nvPr/>
          </p:nvSpPr>
          <p:spPr>
            <a:xfrm>
              <a:off x="11125200" y="190500"/>
              <a:ext cx="762000" cy="762000"/>
            </a:xfrm>
            <a:prstGeom prst="roundRect">
              <a:avLst>
                <a:gd name="adj" fmla="val 20000"/>
              </a:avLst>
            </a:prstGeom>
            <a:solidFill>
              <a:srgbClr val="FFFFFF"/>
            </a:solidFill>
            <a:ln>
              <a:noFill/>
            </a:ln>
          </p:spPr>
        </p:sp>
        <p:pic>
          <p:nvPicPr>
            <p:cNvPr id="6" name="Image 6"/>
            <p:cNvPicPr>
              <a:picLocks noChangeAspect="1"/>
            </p:cNvPicPr>
            <p:nvPr/>
          </p:nvPicPr>
          <p:blipFill>
            <a:blip r:embed="rId2"/>
            <a:stretch>
              <a:fillRect/>
            </a:stretch>
          </p:blipFill>
          <p:spPr>
            <a:xfrm>
              <a:off x="11201400" y="266700"/>
              <a:ext cx="609600" cy="609600"/>
            </a:xfrm>
            <a:prstGeom prst="rect">
              <a:avLst/>
            </a:prstGeom>
          </p:spPr>
        </p:pic>
      </p:grpSp>
      <p:grpSp>
        <p:nvGrpSpPr>
          <p:cNvPr id="9" name="phone-visual"/>
          <p:cNvGrpSpPr/>
          <p:nvPr/>
        </p:nvGrpSpPr>
        <p:grpSpPr>
          <a:xfrm>
            <a:off x="7924800" y="1104900"/>
            <a:ext cx="2438400" cy="4991100"/>
            <a:chOff x="7924800" y="1104900"/>
            <a:chExt cx="2438400" cy="4991100"/>
          </a:xfrm>
        </p:grpSpPr>
        <p:pic>
          <p:nvPicPr>
            <p:cNvPr id="8" name="Image 8"/>
            <p:cNvPicPr>
              <a:picLocks noChangeAspect="1"/>
            </p:cNvPicPr>
            <p:nvPr/>
          </p:nvPicPr>
          <p:blipFill>
            <a:blip r:embed="rId3"/>
            <a:stretch>
              <a:fillRect/>
            </a:stretch>
          </p:blipFill>
          <p:spPr>
            <a:xfrm>
              <a:off x="7924800" y="1104900"/>
              <a:ext cx="2438400" cy="4991100"/>
            </a:xfrm>
            <a:prstGeom prst="rect">
              <a:avLst/>
            </a:prstGeom>
            <a:effectLst>
              <a:outerShdw blurRad="228600" dist="76200" dir="5400000" algn="ctr" rotWithShape="0">
                <a:srgbClr val="000000">
                  <a:alpha val="22500"/>
                </a:srgbClr>
              </a:outerShdw>
            </a:effectLst>
          </p:spPr>
        </p:pic>
      </p:grpSp>
      <p:grpSp>
        <p:nvGrpSpPr>
          <p:cNvPr id="20" name="section-title"/>
          <p:cNvGrpSpPr/>
          <p:nvPr/>
        </p:nvGrpSpPr>
        <p:grpSpPr>
          <a:xfrm>
            <a:off x="590550" y="1974056"/>
            <a:ext cx="6002846" cy="3588544"/>
            <a:chOff x="590550" y="1974056"/>
            <a:chExt cx="6002846" cy="3588544"/>
          </a:xfrm>
        </p:grpSpPr>
        <p:sp>
          <p:nvSpPr>
            <p:cNvPr id="10" name="TextBox 10"/>
            <p:cNvSpPr txBox="1"/>
            <p:nvPr/>
          </p:nvSpPr>
          <p:spPr>
            <a:xfrm>
              <a:off x="603885" y="1974056"/>
              <a:ext cx="3148688" cy="220028"/>
            </a:xfrm>
            <a:prstGeom prst="rect">
              <a:avLst/>
            </a:prstGeom>
            <a:noFill/>
            <a:ln>
              <a:noFill/>
            </a:ln>
          </p:spPr>
          <p:txBody>
            <a:bodyPr wrap="square" lIns="0" tIns="0" rIns="0" bIns="0" anchor="t" anchorCtr="0">
              <a:spAutoFit/>
            </a:bodyPr>
            <a:lstStyle/>
            <a:p>
              <a:pPr algn="l"/>
              <a:r>
                <a:rPr lang="en" sz="1120" b="1" spc="112" dirty="0">
                  <a:solidFill>
                    <a:srgbClr val="F5B888"/>
                  </a:solidFill>
                  <a:latin typeface="+mn-lt"/>
                  <a:ea typeface="+mn-ea"/>
                  <a:cs typeface="+mn-cs"/>
                </a:rPr>
                <a:t>CMAS ON OPEN5GS + SRSRAN</a:t>
              </a:r>
            </a:p>
          </p:txBody>
        </p:sp>
        <p:sp>
          <p:nvSpPr>
            <p:cNvPr id="11" name="TextBox 11"/>
            <p:cNvSpPr txBox="1"/>
            <p:nvPr/>
          </p:nvSpPr>
          <p:spPr>
            <a:xfrm>
              <a:off x="590550" y="2367915"/>
              <a:ext cx="7503557" cy="2057400"/>
            </a:xfrm>
            <a:prstGeom prst="rect">
              <a:avLst/>
            </a:prstGeom>
            <a:noFill/>
            <a:ln>
              <a:noFill/>
            </a:ln>
          </p:spPr>
          <p:txBody>
            <a:bodyPr wrap="square" lIns="0" tIns="0" rIns="0" bIns="0" anchor="t" anchorCtr="0">
              <a:spAutoFit/>
            </a:bodyPr>
            <a:lstStyle/>
            <a:p>
              <a:pPr algn="l">
                <a:lnSpc>
                  <a:spcPts val="6600"/>
                </a:lnSpc>
              </a:pPr>
              <a:r>
                <a:rPr lang="en" sz="6300" b="1" dirty="0">
                  <a:solidFill>
                    <a:srgbClr val="FFFFFF"/>
                  </a:solidFill>
                  <a:latin typeface="Baloo 2"/>
                  <a:ea typeface="Baloo 2"/>
                  <a:cs typeface="Baloo 2"/>
                </a:rPr>
                <a:t>Live</a:t>
              </a:r>
              <a:br/>
              <a:r>
                <a:rPr lang="en" sz="6300" b="1" dirty="0">
                  <a:solidFill>
                    <a:srgbClr val="FFFFFF"/>
                  </a:solidFill>
                  <a:latin typeface="Baloo 2"/>
                  <a:ea typeface="Baloo 2"/>
                  <a:cs typeface="Baloo 2"/>
                </a:rPr>
                <a:t>demonstration</a:t>
              </a:r>
            </a:p>
          </p:txBody>
        </p:sp>
        <p:sp>
          <p:nvSpPr>
            <p:cNvPr id="12" name="TextBox 12"/>
            <p:cNvSpPr txBox="1"/>
            <p:nvPr/>
          </p:nvSpPr>
          <p:spPr>
            <a:xfrm>
              <a:off x="600456" y="4282440"/>
              <a:ext cx="6437947" cy="675894"/>
            </a:xfrm>
            <a:prstGeom prst="rect">
              <a:avLst/>
            </a:prstGeom>
            <a:noFill/>
            <a:ln>
              <a:noFill/>
            </a:ln>
          </p:spPr>
          <p:txBody>
            <a:bodyPr wrap="square" lIns="0" tIns="0" rIns="0" bIns="0" anchor="t" anchorCtr="0">
              <a:spAutoFit/>
            </a:bodyPr>
            <a:lstStyle/>
            <a:p>
              <a:pPr algn="l">
                <a:lnSpc>
                  <a:spcPts val="2550"/>
                </a:lnSpc>
              </a:pPr>
              <a:r>
                <a:rPr lang="en" sz="1800" dirty="0">
                  <a:solidFill>
                    <a:srgbClr val="C9D2E3"/>
                  </a:solidFill>
                  <a:latin typeface="+mn-lt"/>
                  <a:ea typeface="+mn-ea"/>
                  <a:cs typeface="+mn-cs"/>
                </a:rPr>
                <a:t>A real alert, broadcast from our Portable Lab</a:t>
              </a:r>
              <a:br/>
              <a:r>
                <a:rPr lang="en" sz="1800" dirty="0">
                  <a:solidFill>
                    <a:srgbClr val="C9D2E3"/>
                  </a:solidFill>
                  <a:latin typeface="+mn-lt"/>
                  <a:ea typeface="+mn-ea"/>
                  <a:cs typeface="+mn-cs"/>
                </a:rPr>
                <a:t>to a test phone.</a:t>
              </a:r>
            </a:p>
          </p:txBody>
        </p:sp>
        <p:grpSp>
          <p:nvGrpSpPr>
            <p:cNvPr id="19" name="Group 19"/>
            <p:cNvGrpSpPr/>
            <p:nvPr/>
          </p:nvGrpSpPr>
          <p:grpSpPr>
            <a:xfrm>
              <a:off x="609600" y="5143500"/>
              <a:ext cx="3886200" cy="419100"/>
              <a:chOff x="609600" y="5143500"/>
              <a:chExt cx="3886200" cy="419100"/>
            </a:xfrm>
          </p:grpSpPr>
          <p:sp>
            <p:nvSpPr>
              <p:cNvPr id="13" name="Rectangle 13"/>
              <p:cNvSpPr/>
              <p:nvPr/>
            </p:nvSpPr>
            <p:spPr>
              <a:xfrm>
                <a:off x="609600" y="5143500"/>
                <a:ext cx="1428750" cy="419100"/>
              </a:xfrm>
              <a:prstGeom prst="roundRect">
                <a:avLst>
                  <a:gd name="adj" fmla="val 50000"/>
                </a:avLst>
              </a:prstGeom>
              <a:noFill/>
              <a:ln w="19050">
                <a:solidFill>
                  <a:srgbClr val="EC8236"/>
                </a:solidFill>
              </a:ln>
            </p:spPr>
          </p:sp>
          <p:sp>
            <p:nvSpPr>
              <p:cNvPr id="14" name="TextBox 14"/>
              <p:cNvSpPr txBox="1"/>
              <p:nvPr/>
            </p:nvSpPr>
            <p:spPr>
              <a:xfrm>
                <a:off x="614412" y="5264468"/>
                <a:ext cx="1419126" cy="264033"/>
              </a:xfrm>
              <a:prstGeom prst="rect">
                <a:avLst/>
              </a:prstGeom>
              <a:noFill/>
              <a:ln>
                <a:noFill/>
              </a:ln>
            </p:spPr>
            <p:txBody>
              <a:bodyPr wrap="square" lIns="0" tIns="0" rIns="0" bIns="0" anchor="t" anchorCtr="0">
                <a:spAutoFit/>
              </a:bodyPr>
              <a:lstStyle/>
              <a:p>
                <a:pPr algn="ctr"/>
                <a:r>
                  <a:rPr lang="en" sz="1350" b="1" dirty="0">
                    <a:solidFill>
                      <a:srgbClr val="F5B888"/>
                    </a:solidFill>
                    <a:latin typeface="+mn-lt"/>
                    <a:ea typeface="+mn-ea"/>
                    <a:cs typeface="+mn-cs"/>
                  </a:rPr>
                  <a:t>Presidential</a:t>
                </a:r>
              </a:p>
            </p:txBody>
          </p:sp>
          <p:sp>
            <p:nvSpPr>
              <p:cNvPr id="15" name="Rectangle 15"/>
              <p:cNvSpPr/>
              <p:nvPr/>
            </p:nvSpPr>
            <p:spPr>
              <a:xfrm>
                <a:off x="2171700" y="5143500"/>
                <a:ext cx="1143000" cy="419100"/>
              </a:xfrm>
              <a:prstGeom prst="roundRect">
                <a:avLst>
                  <a:gd name="adj" fmla="val 50000"/>
                </a:avLst>
              </a:prstGeom>
              <a:noFill/>
              <a:ln w="19050">
                <a:solidFill>
                  <a:srgbClr val="EC8236"/>
                </a:solidFill>
              </a:ln>
            </p:spPr>
          </p:sp>
          <p:sp>
            <p:nvSpPr>
              <p:cNvPr id="16" name="TextBox 16"/>
              <p:cNvSpPr txBox="1"/>
              <p:nvPr/>
            </p:nvSpPr>
            <p:spPr>
              <a:xfrm>
                <a:off x="2324645" y="5264468"/>
                <a:ext cx="837110" cy="264033"/>
              </a:xfrm>
              <a:prstGeom prst="rect">
                <a:avLst/>
              </a:prstGeom>
              <a:noFill/>
              <a:ln>
                <a:noFill/>
              </a:ln>
            </p:spPr>
            <p:txBody>
              <a:bodyPr wrap="square" lIns="0" tIns="0" rIns="0" bIns="0" anchor="t" anchorCtr="0">
                <a:spAutoFit/>
              </a:bodyPr>
              <a:lstStyle/>
              <a:p>
                <a:pPr algn="ctr"/>
                <a:r>
                  <a:rPr lang="en" sz="1350" b="1" dirty="0">
                    <a:solidFill>
                      <a:srgbClr val="F5B888"/>
                    </a:solidFill>
                    <a:latin typeface="+mn-lt"/>
                    <a:ea typeface="+mn-ea"/>
                    <a:cs typeface="+mn-cs"/>
                  </a:rPr>
                  <a:t>AMBER</a:t>
                </a:r>
              </a:p>
            </p:txBody>
          </p:sp>
          <p:sp>
            <p:nvSpPr>
              <p:cNvPr id="17" name="Rectangle 17"/>
              <p:cNvSpPr/>
              <p:nvPr/>
            </p:nvSpPr>
            <p:spPr>
              <a:xfrm>
                <a:off x="3448050" y="5143500"/>
                <a:ext cx="1047750" cy="419100"/>
              </a:xfrm>
              <a:prstGeom prst="roundRect">
                <a:avLst>
                  <a:gd name="adj" fmla="val 50000"/>
                </a:avLst>
              </a:prstGeom>
              <a:noFill/>
              <a:ln w="19050">
                <a:solidFill>
                  <a:srgbClr val="EC8236"/>
                </a:solidFill>
              </a:ln>
            </p:spPr>
          </p:sp>
          <p:sp>
            <p:nvSpPr>
              <p:cNvPr id="18" name="TextBox 18"/>
              <p:cNvSpPr txBox="1"/>
              <p:nvPr/>
            </p:nvSpPr>
            <p:spPr>
              <a:xfrm>
                <a:off x="3608817" y="5264468"/>
                <a:ext cx="726216" cy="264033"/>
              </a:xfrm>
              <a:prstGeom prst="rect">
                <a:avLst/>
              </a:prstGeom>
              <a:noFill/>
              <a:ln>
                <a:noFill/>
              </a:ln>
            </p:spPr>
            <p:txBody>
              <a:bodyPr wrap="square" lIns="0" tIns="0" rIns="0" bIns="0" anchor="t" anchorCtr="0">
                <a:spAutoFit/>
              </a:bodyPr>
              <a:lstStyle/>
              <a:p>
                <a:pPr algn="ctr"/>
                <a:r>
                  <a:rPr lang="en" sz="1350" b="1" dirty="0">
                    <a:solidFill>
                      <a:srgbClr val="F5B888"/>
                    </a:solidFill>
                    <a:latin typeface="+mn-lt"/>
                    <a:ea typeface="+mn-ea"/>
                    <a:cs typeface="+mn-cs"/>
                  </a:rPr>
                  <a:t>ETWS</a:t>
                </a:r>
              </a:p>
            </p:txBody>
          </p:sp>
        </p:grpSp>
      </p:grpSp>
      <p:grpSp>
        <p:nvGrpSpPr>
          <p:cNvPr id="24" name="footer"/>
          <p:cNvGrpSpPr/>
          <p:nvPr/>
        </p:nvGrpSpPr>
        <p:grpSpPr>
          <a:xfrm>
            <a:off x="604838" y="6551295"/>
            <a:ext cx="10982324" cy="176212"/>
            <a:chOff x="604838" y="6551295"/>
            <a:chExt cx="10982324" cy="176212"/>
          </a:xfrm>
        </p:grpSpPr>
        <p:sp>
          <p:nvSpPr>
            <p:cNvPr id="21" name="TextBox 21"/>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A8B4CC"/>
                  </a:solidFill>
                  <a:latin typeface="+mn-lt"/>
                  <a:ea typeface="+mn-ea"/>
                  <a:cs typeface="+mn-cs"/>
                </a:rPr>
                <a:t>F2G Solutions Inc</a:t>
              </a:r>
            </a:p>
          </p:txBody>
        </p:sp>
        <p:sp>
          <p:nvSpPr>
            <p:cNvPr id="22" name="TextBox 22"/>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A8B4CC"/>
                  </a:solidFill>
                  <a:latin typeface="+mn-lt"/>
                  <a:ea typeface="+mn-ea"/>
                  <a:cs typeface="+mn-cs"/>
                </a:rPr>
                <a:t>KFOKAM48 Telecommunication Academy</a:t>
              </a:r>
            </a:p>
          </p:txBody>
        </p:sp>
        <p:sp>
          <p:nvSpPr>
            <p:cNvPr id="23"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FFFFFF"/>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1F3864"/>
            </a:gs>
            <a:gs pos="100000">
              <a:srgbClr val="132644"/>
            </a:gs>
          </a:gsLst>
          <a:lin ang="2700000" scaled="1"/>
        </a:gradFill>
        <a:effectLst/>
      </p:bgPr>
    </p:bg>
    <p:spTree>
      <p:nvGrpSpPr>
        <p:cNvPr id="1" name=""/>
        <p:cNvGrpSpPr/>
        <p:nvPr/>
      </p:nvGrpSpPr>
      <p:grpSpPr>
        <a:xfrm>
          <a:off x="0" y="0"/>
          <a:ext cx="0" cy="0"/>
          <a:chOff x="0" y="0"/>
          <a:chExt cx="0" cy="0"/>
        </a:xfrm>
      </p:grpSpPr>
      <p:sp>
        <p:nvSpPr>
          <p:cNvPr id="2" name="ripple-1"/>
          <p:cNvSpPr/>
          <p:nvPr/>
        </p:nvSpPr>
        <p:spPr>
          <a:xfrm>
            <a:off x="-1905000" y="4953000"/>
            <a:ext cx="3810000" cy="3810000"/>
          </a:xfrm>
          <a:prstGeom prst="ellipse">
            <a:avLst/>
          </a:prstGeom>
          <a:noFill/>
          <a:ln w="19050">
            <a:solidFill>
              <a:srgbClr val="EC8236">
                <a:alpha val="40000"/>
              </a:srgbClr>
            </a:solidFill>
          </a:ln>
        </p:spPr>
      </p:sp>
      <p:sp>
        <p:nvSpPr>
          <p:cNvPr id="3" name="ripple-2"/>
          <p:cNvSpPr/>
          <p:nvPr/>
        </p:nvSpPr>
        <p:spPr>
          <a:xfrm>
            <a:off x="-2762250" y="4095750"/>
            <a:ext cx="5524500" cy="5524500"/>
          </a:xfrm>
          <a:prstGeom prst="ellipse">
            <a:avLst/>
          </a:prstGeom>
          <a:noFill/>
          <a:ln w="19050">
            <a:solidFill>
              <a:srgbClr val="EC8236">
                <a:alpha val="22000"/>
              </a:srgbClr>
            </a:solidFill>
          </a:ln>
        </p:spPr>
      </p:sp>
      <p:grpSp>
        <p:nvGrpSpPr>
          <p:cNvPr id="6" name="logo"/>
          <p:cNvGrpSpPr/>
          <p:nvPr/>
        </p:nvGrpSpPr>
        <p:grpSpPr>
          <a:xfrm>
            <a:off x="11125200" y="190500"/>
            <a:ext cx="762000" cy="762000"/>
            <a:chOff x="11125200" y="190500"/>
            <a:chExt cx="762000" cy="762000"/>
          </a:xfrm>
        </p:grpSpPr>
        <p:sp>
          <p:nvSpPr>
            <p:cNvPr id="4" name="Rectangle 4"/>
            <p:cNvSpPr/>
            <p:nvPr/>
          </p:nvSpPr>
          <p:spPr>
            <a:xfrm>
              <a:off x="11125200" y="190500"/>
              <a:ext cx="762000" cy="762000"/>
            </a:xfrm>
            <a:prstGeom prst="roundRect">
              <a:avLst>
                <a:gd name="adj" fmla="val 20000"/>
              </a:avLst>
            </a:prstGeom>
            <a:solidFill>
              <a:srgbClr val="FFFFFF"/>
            </a:solidFill>
            <a:ln>
              <a:noFill/>
            </a:ln>
          </p:spPr>
        </p:sp>
        <p:pic>
          <p:nvPicPr>
            <p:cNvPr id="5" name="Image 5"/>
            <p:cNvPicPr>
              <a:picLocks noChangeAspect="1"/>
            </p:cNvPicPr>
            <p:nvPr/>
          </p:nvPicPr>
          <p:blipFill>
            <a:blip r:embed="rId2"/>
            <a:stretch>
              <a:fillRect/>
            </a:stretch>
          </p:blipFill>
          <p:spPr>
            <a:xfrm>
              <a:off x="11201400" y="266700"/>
              <a:ext cx="609600" cy="609600"/>
            </a:xfrm>
            <a:prstGeom prst="rect">
              <a:avLst/>
            </a:prstGeom>
          </p:spPr>
        </p:pic>
      </p:grpSp>
      <p:grpSp>
        <p:nvGrpSpPr>
          <p:cNvPr id="10" name="section-title"/>
          <p:cNvGrpSpPr/>
          <p:nvPr/>
        </p:nvGrpSpPr>
        <p:grpSpPr>
          <a:xfrm>
            <a:off x="590550" y="1974056"/>
            <a:ext cx="4399870" cy="2590133"/>
            <a:chOff x="590550" y="1974056"/>
            <a:chExt cx="4399870" cy="2590133"/>
          </a:xfrm>
        </p:grpSpPr>
        <p:sp>
          <p:nvSpPr>
            <p:cNvPr id="7" name="TextBox 7"/>
            <p:cNvSpPr txBox="1"/>
            <p:nvPr/>
          </p:nvSpPr>
          <p:spPr>
            <a:xfrm>
              <a:off x="603885" y="1974056"/>
              <a:ext cx="1045734" cy="220028"/>
            </a:xfrm>
            <a:prstGeom prst="rect">
              <a:avLst/>
            </a:prstGeom>
            <a:noFill/>
            <a:ln>
              <a:noFill/>
            </a:ln>
          </p:spPr>
          <p:txBody>
            <a:bodyPr wrap="square" lIns="0" tIns="0" rIns="0" bIns="0" anchor="t" anchorCtr="0">
              <a:spAutoFit/>
            </a:bodyPr>
            <a:lstStyle/>
            <a:p>
              <a:pPr algn="l"/>
              <a:r>
                <a:rPr lang="en" sz="1120" b="1" spc="112" dirty="0">
                  <a:solidFill>
                    <a:srgbClr val="F5B888"/>
                  </a:solidFill>
                  <a:latin typeface="+mn-lt"/>
                  <a:ea typeface="+mn-ea"/>
                  <a:cs typeface="+mn-cs"/>
                </a:rPr>
                <a:t>APPENDIX</a:t>
              </a:r>
            </a:p>
          </p:txBody>
        </p:sp>
        <p:sp>
          <p:nvSpPr>
            <p:cNvPr id="8" name="TextBox 8"/>
            <p:cNvSpPr txBox="1"/>
            <p:nvPr/>
          </p:nvSpPr>
          <p:spPr>
            <a:xfrm>
              <a:off x="590550" y="2367915"/>
              <a:ext cx="4720708" cy="2057400"/>
            </a:xfrm>
            <a:prstGeom prst="rect">
              <a:avLst/>
            </a:prstGeom>
            <a:noFill/>
            <a:ln>
              <a:noFill/>
            </a:ln>
          </p:spPr>
          <p:txBody>
            <a:bodyPr wrap="square" lIns="0" tIns="0" rIns="0" bIns="0" anchor="t" anchorCtr="0">
              <a:spAutoFit/>
            </a:bodyPr>
            <a:lstStyle/>
            <a:p>
              <a:pPr algn="l">
                <a:lnSpc>
                  <a:spcPts val="6600"/>
                </a:lnSpc>
              </a:pPr>
              <a:r>
                <a:rPr lang="en" sz="6300" b="1" dirty="0">
                  <a:solidFill>
                    <a:srgbClr val="FFFFFF"/>
                  </a:solidFill>
                  <a:latin typeface="Baloo 2"/>
                  <a:ea typeface="Baloo 2"/>
                  <a:cs typeface="Baloo 2"/>
                </a:rPr>
                <a:t>Technical</a:t>
              </a:r>
              <a:br/>
              <a:r>
                <a:rPr lang="en" sz="6300" b="1" dirty="0">
                  <a:solidFill>
                    <a:srgbClr val="FFFFFF"/>
                  </a:solidFill>
                  <a:latin typeface="Baloo 2"/>
                  <a:ea typeface="Baloo 2"/>
                  <a:cs typeface="Baloo 2"/>
                </a:rPr>
                <a:t>appendix</a:t>
              </a:r>
            </a:p>
          </p:txBody>
        </p:sp>
        <p:sp>
          <p:nvSpPr>
            <p:cNvPr id="9" name="TextBox 9"/>
            <p:cNvSpPr txBox="1"/>
            <p:nvPr/>
          </p:nvSpPr>
          <p:spPr>
            <a:xfrm>
              <a:off x="601218" y="4241482"/>
              <a:ext cx="5486502" cy="322707"/>
            </a:xfrm>
            <a:prstGeom prst="rect">
              <a:avLst/>
            </a:prstGeom>
            <a:noFill/>
            <a:ln>
              <a:noFill/>
            </a:ln>
          </p:spPr>
          <p:txBody>
            <a:bodyPr wrap="square" lIns="0" tIns="0" rIns="0" bIns="0" anchor="t" anchorCtr="0">
              <a:spAutoFit/>
            </a:bodyPr>
            <a:lstStyle/>
            <a:p>
              <a:pPr algn="l"/>
              <a:r>
                <a:rPr lang="en" sz="1650" dirty="0">
                  <a:solidFill>
                    <a:srgbClr val="C9D2E3"/>
                  </a:solidFill>
                  <a:latin typeface="+mn-lt"/>
                  <a:ea typeface="+mn-ea"/>
                  <a:cs typeface="+mn-cs"/>
                </a:rPr>
                <a:t>Standards, architecture, call flow, hub</a:t>
              </a:r>
            </a:p>
          </p:txBody>
        </p:sp>
      </p:grpSp>
      <p:grpSp>
        <p:nvGrpSpPr>
          <p:cNvPr id="27" name="appendix-contents"/>
          <p:cNvGrpSpPr/>
          <p:nvPr/>
        </p:nvGrpSpPr>
        <p:grpSpPr>
          <a:xfrm>
            <a:off x="6733794" y="1865948"/>
            <a:ext cx="3621776" cy="3581781"/>
            <a:chOff x="6733794" y="1865948"/>
            <a:chExt cx="3621776" cy="3581781"/>
          </a:xfrm>
        </p:grpSpPr>
        <p:grpSp>
          <p:nvGrpSpPr>
            <p:cNvPr id="18" name="Group 18"/>
            <p:cNvGrpSpPr/>
            <p:nvPr/>
          </p:nvGrpSpPr>
          <p:grpSpPr>
            <a:xfrm>
              <a:off x="6733794" y="1865948"/>
              <a:ext cx="323010" cy="3581781"/>
              <a:chOff x="6733794" y="1865948"/>
              <a:chExt cx="323010" cy="3581781"/>
            </a:xfrm>
          </p:grpSpPr>
          <p:sp>
            <p:nvSpPr>
              <p:cNvPr id="11" name="TextBox 11"/>
              <p:cNvSpPr txBox="1"/>
              <p:nvPr/>
            </p:nvSpPr>
            <p:spPr>
              <a:xfrm>
                <a:off x="6733794" y="18659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18</a:t>
                </a:r>
              </a:p>
            </p:txBody>
          </p:sp>
          <p:sp>
            <p:nvSpPr>
              <p:cNvPr id="12" name="TextBox 12"/>
              <p:cNvSpPr txBox="1"/>
              <p:nvPr/>
            </p:nvSpPr>
            <p:spPr>
              <a:xfrm>
                <a:off x="6733794" y="23993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19</a:t>
                </a:r>
              </a:p>
            </p:txBody>
          </p:sp>
          <p:sp>
            <p:nvSpPr>
              <p:cNvPr id="13" name="TextBox 13"/>
              <p:cNvSpPr txBox="1"/>
              <p:nvPr/>
            </p:nvSpPr>
            <p:spPr>
              <a:xfrm>
                <a:off x="6733794" y="29327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20</a:t>
                </a:r>
              </a:p>
            </p:txBody>
          </p:sp>
          <p:sp>
            <p:nvSpPr>
              <p:cNvPr id="14" name="TextBox 14"/>
              <p:cNvSpPr txBox="1"/>
              <p:nvPr/>
            </p:nvSpPr>
            <p:spPr>
              <a:xfrm>
                <a:off x="6733794" y="34661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21</a:t>
                </a:r>
              </a:p>
            </p:txBody>
          </p:sp>
          <p:sp>
            <p:nvSpPr>
              <p:cNvPr id="15" name="TextBox 15"/>
              <p:cNvSpPr txBox="1"/>
              <p:nvPr/>
            </p:nvSpPr>
            <p:spPr>
              <a:xfrm>
                <a:off x="6733794" y="39995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22</a:t>
                </a:r>
              </a:p>
            </p:txBody>
          </p:sp>
          <p:sp>
            <p:nvSpPr>
              <p:cNvPr id="16" name="TextBox 16"/>
              <p:cNvSpPr txBox="1"/>
              <p:nvPr/>
            </p:nvSpPr>
            <p:spPr>
              <a:xfrm>
                <a:off x="6733794" y="45329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23</a:t>
                </a:r>
              </a:p>
            </p:txBody>
          </p:sp>
          <p:sp>
            <p:nvSpPr>
              <p:cNvPr id="17" name="TextBox 17"/>
              <p:cNvSpPr txBox="1"/>
              <p:nvPr/>
            </p:nvSpPr>
            <p:spPr>
              <a:xfrm>
                <a:off x="6733794" y="5066348"/>
                <a:ext cx="551610" cy="381381"/>
              </a:xfrm>
              <a:prstGeom prst="rect">
                <a:avLst/>
              </a:prstGeom>
              <a:noFill/>
              <a:ln>
                <a:noFill/>
              </a:ln>
            </p:spPr>
            <p:txBody>
              <a:bodyPr wrap="square" lIns="0" tIns="0" rIns="0" bIns="0" anchor="t" anchorCtr="0">
                <a:spAutoFit/>
              </a:bodyPr>
              <a:lstStyle/>
              <a:p>
                <a:pPr algn="l"/>
                <a:r>
                  <a:rPr lang="en" sz="1950" b="1" dirty="0">
                    <a:solidFill>
                      <a:srgbClr val="EC8236"/>
                    </a:solidFill>
                    <a:latin typeface="Baloo 2"/>
                    <a:ea typeface="Baloo 2"/>
                    <a:cs typeface="Baloo 2"/>
                  </a:rPr>
                  <a:t>24</a:t>
                </a:r>
              </a:p>
            </p:txBody>
          </p:sp>
        </p:grpSp>
        <p:grpSp>
          <p:nvGrpSpPr>
            <p:cNvPr id="26" name="Group 26"/>
            <p:cNvGrpSpPr/>
            <p:nvPr/>
          </p:nvGrpSpPr>
          <p:grpSpPr>
            <a:xfrm>
              <a:off x="7306818" y="1879282"/>
              <a:ext cx="3048752" cy="3523107"/>
              <a:chOff x="7306818" y="1879282"/>
              <a:chExt cx="3048752" cy="3523107"/>
            </a:xfrm>
          </p:grpSpPr>
          <p:sp>
            <p:nvSpPr>
              <p:cNvPr id="19" name="TextBox 19"/>
              <p:cNvSpPr txBox="1"/>
              <p:nvPr/>
            </p:nvSpPr>
            <p:spPr>
              <a:xfrm>
                <a:off x="7306818" y="1879282"/>
                <a:ext cx="2678713"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What is CMAS / PWS</a:t>
                </a:r>
              </a:p>
            </p:txBody>
          </p:sp>
          <p:sp>
            <p:nvSpPr>
              <p:cNvPr id="20" name="TextBox 20"/>
              <p:cNvSpPr txBox="1"/>
              <p:nvPr/>
            </p:nvSpPr>
            <p:spPr>
              <a:xfrm>
                <a:off x="7306818" y="2412682"/>
                <a:ext cx="3263943"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International standards</a:t>
                </a:r>
              </a:p>
            </p:txBody>
          </p:sp>
          <p:sp>
            <p:nvSpPr>
              <p:cNvPr id="21" name="TextBox 21"/>
              <p:cNvSpPr txBox="1"/>
              <p:nvPr/>
            </p:nvSpPr>
            <p:spPr>
              <a:xfrm>
                <a:off x="7306818" y="2946082"/>
                <a:ext cx="3810940"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Alert types and message IDs</a:t>
                </a:r>
              </a:p>
            </p:txBody>
          </p:sp>
          <p:sp>
            <p:nvSpPr>
              <p:cNvPr id="22" name="TextBox 22"/>
              <p:cNvSpPr txBox="1"/>
              <p:nvPr/>
            </p:nvSpPr>
            <p:spPr>
              <a:xfrm>
                <a:off x="7306818" y="3479482"/>
                <a:ext cx="2506008"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3GPP architecture</a:t>
                </a:r>
              </a:p>
            </p:txBody>
          </p:sp>
          <p:sp>
            <p:nvSpPr>
              <p:cNvPr id="23" name="TextBox 23"/>
              <p:cNvSpPr txBox="1"/>
              <p:nvPr/>
            </p:nvSpPr>
            <p:spPr>
              <a:xfrm>
                <a:off x="7306818" y="4012882"/>
                <a:ext cx="2793383"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End-to-end call flow</a:t>
                </a:r>
              </a:p>
            </p:txBody>
          </p:sp>
          <p:sp>
            <p:nvSpPr>
              <p:cNvPr id="24" name="TextBox 24"/>
              <p:cNvSpPr txBox="1"/>
              <p:nvPr/>
            </p:nvSpPr>
            <p:spPr>
              <a:xfrm>
                <a:off x="7306818" y="4546282"/>
                <a:ext cx="2348112"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The alert journey</a:t>
                </a:r>
              </a:p>
            </p:txBody>
          </p:sp>
          <p:sp>
            <p:nvSpPr>
              <p:cNvPr id="25" name="TextBox 25"/>
              <p:cNvSpPr txBox="1"/>
              <p:nvPr/>
            </p:nvSpPr>
            <p:spPr>
              <a:xfrm>
                <a:off x="7306818" y="5079682"/>
                <a:ext cx="2398037" cy="322707"/>
              </a:xfrm>
              <a:prstGeom prst="rect">
                <a:avLst/>
              </a:prstGeom>
              <a:noFill/>
              <a:ln>
                <a:noFill/>
              </a:ln>
            </p:spPr>
            <p:txBody>
              <a:bodyPr wrap="square" lIns="0" tIns="0" rIns="0" bIns="0" anchor="t" anchorCtr="0">
                <a:spAutoFit/>
              </a:bodyPr>
              <a:lstStyle/>
              <a:p>
                <a:pPr algn="l"/>
                <a:r>
                  <a:rPr lang="en" sz="1650" dirty="0">
                    <a:solidFill>
                      <a:srgbClr val="FFFFFF"/>
                    </a:solidFill>
                    <a:latin typeface="+mn-lt"/>
                    <a:ea typeface="+mn-ea"/>
                    <a:cs typeface="+mn-cs"/>
                  </a:rPr>
                  <a:t>The F2G CMAS Hub</a:t>
                </a:r>
              </a:p>
            </p:txBody>
          </p:sp>
        </p:grpSp>
      </p:grpSp>
      <p:grpSp>
        <p:nvGrpSpPr>
          <p:cNvPr id="31" name="footer"/>
          <p:cNvGrpSpPr/>
          <p:nvPr/>
        </p:nvGrpSpPr>
        <p:grpSpPr>
          <a:xfrm>
            <a:off x="604838" y="6551295"/>
            <a:ext cx="10982324" cy="176212"/>
            <a:chOff x="604838" y="6551295"/>
            <a:chExt cx="10982324" cy="176212"/>
          </a:xfrm>
        </p:grpSpPr>
        <p:sp>
          <p:nvSpPr>
            <p:cNvPr id="28" name="TextBox 28"/>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A8B4CC"/>
                  </a:solidFill>
                  <a:latin typeface="+mn-lt"/>
                  <a:ea typeface="+mn-ea"/>
                  <a:cs typeface="+mn-cs"/>
                </a:rPr>
                <a:t>F2G Solutions Inc</a:t>
              </a:r>
            </a:p>
          </p:txBody>
        </p:sp>
        <p:sp>
          <p:nvSpPr>
            <p:cNvPr id="29" name="TextBox 29"/>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A8B4CC"/>
                  </a:solidFill>
                  <a:latin typeface="+mn-lt"/>
                  <a:ea typeface="+mn-ea"/>
                  <a:cs typeface="+mn-cs"/>
                </a:rPr>
                <a:t>KFOKAM48 Telecommunication Academy</a:t>
              </a:r>
            </a:p>
          </p:txBody>
        </p:sp>
        <p:sp>
          <p:nvSpPr>
            <p:cNvPr id="30"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FFFFFF"/>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9037582" cy="917734"/>
            <a:chOff x="594360" y="640556"/>
            <a:chExt cx="9037582" cy="917734"/>
          </a:xfrm>
        </p:grpSpPr>
        <p:sp>
          <p:nvSpPr>
            <p:cNvPr id="3" name="TextBox 3"/>
            <p:cNvSpPr txBox="1"/>
            <p:nvPr/>
          </p:nvSpPr>
          <p:spPr>
            <a:xfrm>
              <a:off x="603885" y="640556"/>
              <a:ext cx="3614168"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APPENDIX · WHAT IS CMAS / PWS</a:t>
              </a:r>
            </a:p>
          </p:txBody>
        </p:sp>
        <p:sp>
          <p:nvSpPr>
            <p:cNvPr id="4" name="TextBox 4"/>
            <p:cNvSpPr txBox="1"/>
            <p:nvPr/>
          </p:nvSpPr>
          <p:spPr>
            <a:xfrm>
              <a:off x="594360" y="971550"/>
              <a:ext cx="11296977"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Cell broadcast reaches an area; SMS, a list</a:t>
              </a:r>
            </a:p>
          </p:txBody>
        </p:sp>
      </p:grpSp>
      <p:grpSp>
        <p:nvGrpSpPr>
          <p:cNvPr id="55" name="cell-broadcast"/>
          <p:cNvGrpSpPr/>
          <p:nvPr/>
        </p:nvGrpSpPr>
        <p:grpSpPr>
          <a:xfrm>
            <a:off x="604266" y="1848802"/>
            <a:ext cx="5116783" cy="4174999"/>
            <a:chOff x="604266" y="1848802"/>
            <a:chExt cx="5116783" cy="4174999"/>
          </a:xfrm>
        </p:grpSpPr>
        <p:sp>
          <p:nvSpPr>
            <p:cNvPr id="6" name="TextBox 6"/>
            <p:cNvSpPr txBox="1"/>
            <p:nvPr/>
          </p:nvSpPr>
          <p:spPr>
            <a:xfrm>
              <a:off x="604266" y="1848802"/>
              <a:ext cx="2631195"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CELL BROADCAST (CMAS)</a:t>
              </a:r>
            </a:p>
          </p:txBody>
        </p:sp>
        <p:grpSp>
          <p:nvGrpSpPr>
            <p:cNvPr id="13" name="Group 13"/>
            <p:cNvGrpSpPr/>
            <p:nvPr/>
          </p:nvGrpSpPr>
          <p:grpSpPr>
            <a:xfrm>
              <a:off x="1181100" y="2781300"/>
              <a:ext cx="4191000" cy="1104900"/>
              <a:chOff x="1181100" y="2781300"/>
              <a:chExt cx="4191000" cy="1104900"/>
            </a:xfrm>
          </p:grpSpPr>
          <p:sp>
            <p:nvSpPr>
              <p:cNvPr id="7" name="Line 7"/>
              <p:cNvSpPr/>
              <p:nvPr/>
            </p:nvSpPr>
            <p:spPr>
              <a:xfrm>
                <a:off x="1181100" y="2781300"/>
                <a:ext cx="2095500" cy="1104900"/>
              </a:xfrm>
              <a:custGeom>
                <a:avLst/>
                <a:gdLst/>
                <a:ahLst/>
                <a:cxnLst/>
                <a:rect l="l" t="t" r="r" b="b"/>
                <a:pathLst>
                  <a:path w="2095500" h="1104900">
                    <a:moveTo>
                      <a:pt x="2095500" y="0"/>
                    </a:moveTo>
                    <a:lnTo>
                      <a:pt x="0" y="1104900"/>
                    </a:lnTo>
                  </a:path>
                </a:pathLst>
              </a:custGeom>
              <a:noFill/>
              <a:ln w="19050">
                <a:solidFill>
                  <a:srgbClr val="EC8236"/>
                </a:solidFill>
              </a:ln>
            </p:spPr>
          </p:sp>
          <p:sp>
            <p:nvSpPr>
              <p:cNvPr id="8" name="Line 8"/>
              <p:cNvSpPr/>
              <p:nvPr/>
            </p:nvSpPr>
            <p:spPr>
              <a:xfrm>
                <a:off x="2019300" y="2781300"/>
                <a:ext cx="1257300" cy="1104900"/>
              </a:xfrm>
              <a:custGeom>
                <a:avLst/>
                <a:gdLst/>
                <a:ahLst/>
                <a:cxnLst/>
                <a:rect l="l" t="t" r="r" b="b"/>
                <a:pathLst>
                  <a:path w="1257300" h="1104900">
                    <a:moveTo>
                      <a:pt x="1257300" y="0"/>
                    </a:moveTo>
                    <a:lnTo>
                      <a:pt x="0" y="1104900"/>
                    </a:lnTo>
                  </a:path>
                </a:pathLst>
              </a:custGeom>
              <a:noFill/>
              <a:ln w="19050">
                <a:solidFill>
                  <a:srgbClr val="EC8236"/>
                </a:solidFill>
              </a:ln>
            </p:spPr>
          </p:sp>
          <p:sp>
            <p:nvSpPr>
              <p:cNvPr id="9" name="Line 9"/>
              <p:cNvSpPr/>
              <p:nvPr/>
            </p:nvSpPr>
            <p:spPr>
              <a:xfrm>
                <a:off x="2857500" y="2781300"/>
                <a:ext cx="419100" cy="1104900"/>
              </a:xfrm>
              <a:custGeom>
                <a:avLst/>
                <a:gdLst/>
                <a:ahLst/>
                <a:cxnLst/>
                <a:rect l="l" t="t" r="r" b="b"/>
                <a:pathLst>
                  <a:path w="419100" h="1104900">
                    <a:moveTo>
                      <a:pt x="419100" y="0"/>
                    </a:moveTo>
                    <a:lnTo>
                      <a:pt x="0" y="1104900"/>
                    </a:lnTo>
                  </a:path>
                </a:pathLst>
              </a:custGeom>
              <a:noFill/>
              <a:ln w="19050">
                <a:solidFill>
                  <a:srgbClr val="EC8236"/>
                </a:solidFill>
              </a:ln>
            </p:spPr>
          </p:sp>
          <p:sp>
            <p:nvSpPr>
              <p:cNvPr id="10" name="Line 10"/>
              <p:cNvSpPr/>
              <p:nvPr/>
            </p:nvSpPr>
            <p:spPr>
              <a:xfrm>
                <a:off x="3276600" y="2781300"/>
                <a:ext cx="419100" cy="1104900"/>
              </a:xfrm>
              <a:custGeom>
                <a:avLst/>
                <a:gdLst/>
                <a:ahLst/>
                <a:cxnLst/>
                <a:rect l="l" t="t" r="r" b="b"/>
                <a:pathLst>
                  <a:path w="419100" h="1104900">
                    <a:moveTo>
                      <a:pt x="0" y="0"/>
                    </a:moveTo>
                    <a:lnTo>
                      <a:pt x="419100" y="1104900"/>
                    </a:lnTo>
                  </a:path>
                </a:pathLst>
              </a:custGeom>
              <a:noFill/>
              <a:ln w="19050">
                <a:solidFill>
                  <a:srgbClr val="EC8236"/>
                </a:solidFill>
              </a:ln>
            </p:spPr>
          </p:sp>
          <p:sp>
            <p:nvSpPr>
              <p:cNvPr id="11" name="Line 11"/>
              <p:cNvSpPr/>
              <p:nvPr/>
            </p:nvSpPr>
            <p:spPr>
              <a:xfrm>
                <a:off x="3276600" y="2781300"/>
                <a:ext cx="1257300" cy="1104900"/>
              </a:xfrm>
              <a:custGeom>
                <a:avLst/>
                <a:gdLst/>
                <a:ahLst/>
                <a:cxnLst/>
                <a:rect l="l" t="t" r="r" b="b"/>
                <a:pathLst>
                  <a:path w="1257300" h="1104900">
                    <a:moveTo>
                      <a:pt x="0" y="0"/>
                    </a:moveTo>
                    <a:lnTo>
                      <a:pt x="1257300" y="1104900"/>
                    </a:lnTo>
                  </a:path>
                </a:pathLst>
              </a:custGeom>
              <a:noFill/>
              <a:ln w="19050">
                <a:solidFill>
                  <a:srgbClr val="EC8236"/>
                </a:solidFill>
              </a:ln>
            </p:spPr>
          </p:sp>
          <p:sp>
            <p:nvSpPr>
              <p:cNvPr id="12" name="Line 12"/>
              <p:cNvSpPr/>
              <p:nvPr/>
            </p:nvSpPr>
            <p:spPr>
              <a:xfrm>
                <a:off x="3276600" y="2781300"/>
                <a:ext cx="2095500" cy="1104900"/>
              </a:xfrm>
              <a:custGeom>
                <a:avLst/>
                <a:gdLst/>
                <a:ahLst/>
                <a:cxnLst/>
                <a:rect l="l" t="t" r="r" b="b"/>
                <a:pathLst>
                  <a:path w="2095500" h="1104900">
                    <a:moveTo>
                      <a:pt x="0" y="0"/>
                    </a:moveTo>
                    <a:lnTo>
                      <a:pt x="2095500" y="1104900"/>
                    </a:lnTo>
                  </a:path>
                </a:pathLst>
              </a:custGeom>
              <a:noFill/>
              <a:ln w="19050">
                <a:solidFill>
                  <a:srgbClr val="EC8236"/>
                </a:solidFill>
              </a:ln>
            </p:spPr>
          </p:sp>
        </p:grpSp>
        <p:sp>
          <p:nvSpPr>
            <p:cNvPr id="14" name="Ellipse 14"/>
            <p:cNvSpPr/>
            <p:nvPr/>
          </p:nvSpPr>
          <p:spPr>
            <a:xfrm>
              <a:off x="2895600" y="2171700"/>
              <a:ext cx="762000" cy="762000"/>
            </a:xfrm>
            <a:prstGeom prst="ellipse">
              <a:avLst/>
            </a:prstGeom>
            <a:solidFill>
              <a:srgbClr val="1F3864"/>
            </a:solidFill>
            <a:ln>
              <a:noFill/>
            </a:ln>
          </p:spPr>
        </p:sp>
        <p:grpSp>
          <p:nvGrpSpPr>
            <p:cNvPr id="20" name="Group 20"/>
            <p:cNvGrpSpPr/>
            <p:nvPr/>
          </p:nvGrpSpPr>
          <p:grpSpPr>
            <a:xfrm>
              <a:off x="3088448" y="2369549"/>
              <a:ext cx="376286" cy="354601"/>
              <a:chOff x="3088448" y="2369549"/>
              <a:chExt cx="376286" cy="354601"/>
            </a:xfrm>
          </p:grpSpPr>
          <p:sp>
            <p:nvSpPr>
              <p:cNvPr id="15" name="Freeform 15"/>
              <p:cNvSpPr/>
              <p:nvPr/>
            </p:nvSpPr>
            <p:spPr>
              <a:xfrm>
                <a:off x="3257550" y="25336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38100">
                <a:solidFill>
                  <a:srgbClr val="FFFFFF"/>
                </a:solidFill>
              </a:ln>
            </p:spPr>
          </p:sp>
          <p:sp>
            <p:nvSpPr>
              <p:cNvPr id="16" name="Freeform 16"/>
              <p:cNvSpPr/>
              <p:nvPr/>
            </p:nvSpPr>
            <p:spPr>
              <a:xfrm>
                <a:off x="3172093" y="2450874"/>
                <a:ext cx="209051" cy="138478"/>
              </a:xfrm>
              <a:custGeom>
                <a:avLst/>
                <a:gdLst/>
                <a:ahLst/>
                <a:cxnLst/>
                <a:rect l="l" t="t" r="r" b="b"/>
                <a:pathLst>
                  <a:path w="209051" h="138478">
                    <a:moveTo>
                      <a:pt x="192441" y="138478"/>
                    </a:moveTo>
                    <a:cubicBezTo>
                      <a:pt x="209051" y="98637"/>
                      <a:pt x="196793" y="52606"/>
                      <a:pt x="162568" y="26303"/>
                    </a:cubicBezTo>
                    <a:cubicBezTo>
                      <a:pt x="128343" y="0"/>
                      <a:pt x="80708" y="0"/>
                      <a:pt x="46483" y="26303"/>
                    </a:cubicBezTo>
                    <a:cubicBezTo>
                      <a:pt x="12258" y="52606"/>
                      <a:pt x="0" y="98637"/>
                      <a:pt x="16610" y="138478"/>
                    </a:cubicBezTo>
                  </a:path>
                </a:pathLst>
              </a:custGeom>
              <a:noFill/>
              <a:ln w="38100">
                <a:solidFill>
                  <a:srgbClr val="FFFFFF"/>
                </a:solidFill>
              </a:ln>
            </p:spPr>
          </p:sp>
          <p:sp>
            <p:nvSpPr>
              <p:cNvPr id="17" name="Freeform 17"/>
              <p:cNvSpPr/>
              <p:nvPr/>
            </p:nvSpPr>
            <p:spPr>
              <a:xfrm>
                <a:off x="3088448" y="2369549"/>
                <a:ext cx="376286" cy="249236"/>
              </a:xfrm>
              <a:custGeom>
                <a:avLst/>
                <a:gdLst/>
                <a:ahLst/>
                <a:cxnLst/>
                <a:rect l="l" t="t" r="r" b="b"/>
                <a:pathLst>
                  <a:path w="376286" h="249236">
                    <a:moveTo>
                      <a:pt x="346401" y="249236"/>
                    </a:moveTo>
                    <a:cubicBezTo>
                      <a:pt x="376286" y="177523"/>
                      <a:pt x="354214" y="94678"/>
                      <a:pt x="292612" y="47339"/>
                    </a:cubicBezTo>
                    <a:cubicBezTo>
                      <a:pt x="231010" y="0"/>
                      <a:pt x="145275" y="0"/>
                      <a:pt x="83673" y="47339"/>
                    </a:cubicBezTo>
                    <a:cubicBezTo>
                      <a:pt x="22071" y="94678"/>
                      <a:pt x="0" y="177523"/>
                      <a:pt x="29885" y="249236"/>
                    </a:cubicBezTo>
                  </a:path>
                </a:pathLst>
              </a:custGeom>
              <a:noFill/>
              <a:ln w="38100">
                <a:solidFill>
                  <a:srgbClr val="FFFFFF"/>
                </a:solidFill>
              </a:ln>
            </p:spPr>
          </p:sp>
          <p:sp>
            <p:nvSpPr>
              <p:cNvPr id="18" name="Freeform 18"/>
              <p:cNvSpPr/>
              <p:nvPr/>
            </p:nvSpPr>
            <p:spPr>
              <a:xfrm>
                <a:off x="3219450" y="2552700"/>
                <a:ext cx="114300" cy="171450"/>
              </a:xfrm>
              <a:custGeom>
                <a:avLst/>
                <a:gdLst/>
                <a:ahLst/>
                <a:cxnLst/>
                <a:rect l="l" t="t" r="r" b="b"/>
                <a:pathLst>
                  <a:path w="114300" h="171450">
                    <a:moveTo>
                      <a:pt x="0" y="171450"/>
                    </a:moveTo>
                    <a:lnTo>
                      <a:pt x="57150" y="0"/>
                    </a:lnTo>
                    <a:lnTo>
                      <a:pt x="114300" y="171450"/>
                    </a:lnTo>
                  </a:path>
                </a:pathLst>
              </a:custGeom>
              <a:noFill/>
              <a:ln w="38100">
                <a:solidFill>
                  <a:srgbClr val="FFFFFF"/>
                </a:solidFill>
              </a:ln>
            </p:spPr>
          </p:sp>
          <p:sp>
            <p:nvSpPr>
              <p:cNvPr id="19" name="Freeform 19"/>
              <p:cNvSpPr/>
              <p:nvPr/>
            </p:nvSpPr>
            <p:spPr>
              <a:xfrm>
                <a:off x="3238500" y="2686050"/>
                <a:ext cx="76200" cy="9525"/>
              </a:xfrm>
              <a:custGeom>
                <a:avLst/>
                <a:gdLst/>
                <a:ahLst/>
                <a:cxnLst/>
                <a:rect l="l" t="t" r="r" b="b"/>
                <a:pathLst>
                  <a:path w="76200" h="9525">
                    <a:moveTo>
                      <a:pt x="0" y="0"/>
                    </a:moveTo>
                    <a:lnTo>
                      <a:pt x="76200" y="0"/>
                    </a:lnTo>
                  </a:path>
                </a:pathLst>
              </a:custGeom>
              <a:noFill/>
              <a:ln w="38100">
                <a:solidFill>
                  <a:srgbClr val="FFFFFF"/>
                </a:solidFill>
              </a:ln>
            </p:spPr>
          </p:sp>
        </p:grpSp>
        <p:grpSp>
          <p:nvGrpSpPr>
            <p:cNvPr id="45" name="Group 45"/>
            <p:cNvGrpSpPr/>
            <p:nvPr/>
          </p:nvGrpSpPr>
          <p:grpSpPr>
            <a:xfrm>
              <a:off x="1085850" y="3952875"/>
              <a:ext cx="4381500" cy="285751"/>
              <a:chOff x="1085850" y="3952875"/>
              <a:chExt cx="4381500" cy="285751"/>
            </a:xfrm>
          </p:grpSpPr>
          <p:grpSp>
            <p:nvGrpSpPr>
              <p:cNvPr id="24" name="Group 24"/>
              <p:cNvGrpSpPr/>
              <p:nvPr/>
            </p:nvGrpSpPr>
            <p:grpSpPr>
              <a:xfrm>
                <a:off x="1085850" y="3952875"/>
                <a:ext cx="190500" cy="285751"/>
                <a:chOff x="1085850" y="3952875"/>
                <a:chExt cx="190500" cy="285751"/>
              </a:xfrm>
            </p:grpSpPr>
            <p:sp>
              <p:nvSpPr>
                <p:cNvPr id="21" name="Freeform 21"/>
                <p:cNvSpPr/>
                <p:nvPr/>
              </p:nvSpPr>
              <p:spPr>
                <a:xfrm>
                  <a:off x="1085850" y="39528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C6508"/>
                  </a:solidFill>
                </a:ln>
              </p:spPr>
            </p:sp>
            <p:sp>
              <p:nvSpPr>
                <p:cNvPr id="22" name="Freeform 22"/>
                <p:cNvSpPr/>
                <p:nvPr/>
              </p:nvSpPr>
              <p:spPr>
                <a:xfrm>
                  <a:off x="1165225" y="3968750"/>
                  <a:ext cx="31750" cy="9525"/>
                </a:xfrm>
                <a:custGeom>
                  <a:avLst/>
                  <a:gdLst/>
                  <a:ahLst/>
                  <a:cxnLst/>
                  <a:rect l="l" t="t" r="r" b="b"/>
                  <a:pathLst>
                    <a:path w="31750" h="9525">
                      <a:moveTo>
                        <a:pt x="0" y="0"/>
                      </a:moveTo>
                      <a:lnTo>
                        <a:pt x="31750" y="0"/>
                      </a:lnTo>
                    </a:path>
                  </a:pathLst>
                </a:custGeom>
                <a:noFill/>
                <a:ln w="31750">
                  <a:solidFill>
                    <a:srgbClr val="CC6508"/>
                  </a:solidFill>
                </a:ln>
              </p:spPr>
            </p:sp>
            <p:sp>
              <p:nvSpPr>
                <p:cNvPr id="23" name="Freeform 23"/>
                <p:cNvSpPr/>
                <p:nvPr/>
              </p:nvSpPr>
              <p:spPr>
                <a:xfrm>
                  <a:off x="1181100" y="4175126"/>
                  <a:ext cx="9525" cy="9525"/>
                </a:xfrm>
                <a:custGeom>
                  <a:avLst/>
                  <a:gdLst/>
                  <a:ahLst/>
                  <a:cxnLst/>
                  <a:rect l="l" t="t" r="r" b="b"/>
                  <a:pathLst>
                    <a:path w="9525" h="9525">
                      <a:moveTo>
                        <a:pt x="0" y="0"/>
                      </a:moveTo>
                      <a:lnTo>
                        <a:pt x="0" y="159"/>
                      </a:lnTo>
                    </a:path>
                  </a:pathLst>
                </a:custGeom>
                <a:noFill/>
                <a:ln w="31750">
                  <a:solidFill>
                    <a:srgbClr val="CC6508"/>
                  </a:solidFill>
                </a:ln>
              </p:spPr>
            </p:sp>
          </p:grpSp>
          <p:grpSp>
            <p:nvGrpSpPr>
              <p:cNvPr id="28" name="Group 28"/>
              <p:cNvGrpSpPr/>
              <p:nvPr/>
            </p:nvGrpSpPr>
            <p:grpSpPr>
              <a:xfrm>
                <a:off x="1924050" y="3952875"/>
                <a:ext cx="190500" cy="285751"/>
                <a:chOff x="1924050" y="3952875"/>
                <a:chExt cx="190500" cy="285751"/>
              </a:xfrm>
            </p:grpSpPr>
            <p:sp>
              <p:nvSpPr>
                <p:cNvPr id="25" name="Freeform 25"/>
                <p:cNvSpPr/>
                <p:nvPr/>
              </p:nvSpPr>
              <p:spPr>
                <a:xfrm>
                  <a:off x="1924050" y="39528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C6508"/>
                  </a:solidFill>
                </a:ln>
              </p:spPr>
            </p:sp>
            <p:sp>
              <p:nvSpPr>
                <p:cNvPr id="26" name="Freeform 26"/>
                <p:cNvSpPr/>
                <p:nvPr/>
              </p:nvSpPr>
              <p:spPr>
                <a:xfrm>
                  <a:off x="2003425" y="3968750"/>
                  <a:ext cx="31750" cy="9525"/>
                </a:xfrm>
                <a:custGeom>
                  <a:avLst/>
                  <a:gdLst/>
                  <a:ahLst/>
                  <a:cxnLst/>
                  <a:rect l="l" t="t" r="r" b="b"/>
                  <a:pathLst>
                    <a:path w="31750" h="9525">
                      <a:moveTo>
                        <a:pt x="0" y="0"/>
                      </a:moveTo>
                      <a:lnTo>
                        <a:pt x="31750" y="0"/>
                      </a:lnTo>
                    </a:path>
                  </a:pathLst>
                </a:custGeom>
                <a:noFill/>
                <a:ln w="31750">
                  <a:solidFill>
                    <a:srgbClr val="CC6508"/>
                  </a:solidFill>
                </a:ln>
              </p:spPr>
            </p:sp>
            <p:sp>
              <p:nvSpPr>
                <p:cNvPr id="27" name="Freeform 27"/>
                <p:cNvSpPr/>
                <p:nvPr/>
              </p:nvSpPr>
              <p:spPr>
                <a:xfrm>
                  <a:off x="2019300" y="4175126"/>
                  <a:ext cx="9525" cy="9525"/>
                </a:xfrm>
                <a:custGeom>
                  <a:avLst/>
                  <a:gdLst/>
                  <a:ahLst/>
                  <a:cxnLst/>
                  <a:rect l="l" t="t" r="r" b="b"/>
                  <a:pathLst>
                    <a:path w="9525" h="9525">
                      <a:moveTo>
                        <a:pt x="0" y="0"/>
                      </a:moveTo>
                      <a:lnTo>
                        <a:pt x="0" y="159"/>
                      </a:lnTo>
                    </a:path>
                  </a:pathLst>
                </a:custGeom>
                <a:noFill/>
                <a:ln w="31750">
                  <a:solidFill>
                    <a:srgbClr val="CC6508"/>
                  </a:solidFill>
                </a:ln>
              </p:spPr>
            </p:sp>
          </p:grpSp>
          <p:grpSp>
            <p:nvGrpSpPr>
              <p:cNvPr id="32" name="Group 32"/>
              <p:cNvGrpSpPr/>
              <p:nvPr/>
            </p:nvGrpSpPr>
            <p:grpSpPr>
              <a:xfrm>
                <a:off x="2762250" y="3952875"/>
                <a:ext cx="190500" cy="285751"/>
                <a:chOff x="2762250" y="3952875"/>
                <a:chExt cx="190500" cy="285751"/>
              </a:xfrm>
            </p:grpSpPr>
            <p:sp>
              <p:nvSpPr>
                <p:cNvPr id="29" name="Freeform 29"/>
                <p:cNvSpPr/>
                <p:nvPr/>
              </p:nvSpPr>
              <p:spPr>
                <a:xfrm>
                  <a:off x="2762250" y="39528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C6508"/>
                  </a:solidFill>
                </a:ln>
              </p:spPr>
            </p:sp>
            <p:sp>
              <p:nvSpPr>
                <p:cNvPr id="30" name="Freeform 30"/>
                <p:cNvSpPr/>
                <p:nvPr/>
              </p:nvSpPr>
              <p:spPr>
                <a:xfrm>
                  <a:off x="2841625" y="3968750"/>
                  <a:ext cx="31750" cy="9525"/>
                </a:xfrm>
                <a:custGeom>
                  <a:avLst/>
                  <a:gdLst/>
                  <a:ahLst/>
                  <a:cxnLst/>
                  <a:rect l="l" t="t" r="r" b="b"/>
                  <a:pathLst>
                    <a:path w="31750" h="9525">
                      <a:moveTo>
                        <a:pt x="0" y="0"/>
                      </a:moveTo>
                      <a:lnTo>
                        <a:pt x="31750" y="0"/>
                      </a:lnTo>
                    </a:path>
                  </a:pathLst>
                </a:custGeom>
                <a:noFill/>
                <a:ln w="31750">
                  <a:solidFill>
                    <a:srgbClr val="CC6508"/>
                  </a:solidFill>
                </a:ln>
              </p:spPr>
            </p:sp>
            <p:sp>
              <p:nvSpPr>
                <p:cNvPr id="31" name="Freeform 31"/>
                <p:cNvSpPr/>
                <p:nvPr/>
              </p:nvSpPr>
              <p:spPr>
                <a:xfrm>
                  <a:off x="2857500" y="4175126"/>
                  <a:ext cx="9525" cy="9525"/>
                </a:xfrm>
                <a:custGeom>
                  <a:avLst/>
                  <a:gdLst/>
                  <a:ahLst/>
                  <a:cxnLst/>
                  <a:rect l="l" t="t" r="r" b="b"/>
                  <a:pathLst>
                    <a:path w="9525" h="9525">
                      <a:moveTo>
                        <a:pt x="0" y="0"/>
                      </a:moveTo>
                      <a:lnTo>
                        <a:pt x="0" y="159"/>
                      </a:lnTo>
                    </a:path>
                  </a:pathLst>
                </a:custGeom>
                <a:noFill/>
                <a:ln w="31750">
                  <a:solidFill>
                    <a:srgbClr val="CC6508"/>
                  </a:solidFill>
                </a:ln>
              </p:spPr>
            </p:sp>
          </p:grpSp>
          <p:grpSp>
            <p:nvGrpSpPr>
              <p:cNvPr id="36" name="Group 36"/>
              <p:cNvGrpSpPr/>
              <p:nvPr/>
            </p:nvGrpSpPr>
            <p:grpSpPr>
              <a:xfrm>
                <a:off x="3600450" y="3952875"/>
                <a:ext cx="190500" cy="285751"/>
                <a:chOff x="3600450" y="3952875"/>
                <a:chExt cx="190500" cy="285751"/>
              </a:xfrm>
            </p:grpSpPr>
            <p:sp>
              <p:nvSpPr>
                <p:cNvPr id="33" name="Freeform 33"/>
                <p:cNvSpPr/>
                <p:nvPr/>
              </p:nvSpPr>
              <p:spPr>
                <a:xfrm>
                  <a:off x="3600450" y="39528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C6508"/>
                  </a:solidFill>
                </a:ln>
              </p:spPr>
            </p:sp>
            <p:sp>
              <p:nvSpPr>
                <p:cNvPr id="34" name="Freeform 34"/>
                <p:cNvSpPr/>
                <p:nvPr/>
              </p:nvSpPr>
              <p:spPr>
                <a:xfrm>
                  <a:off x="3679825" y="3968750"/>
                  <a:ext cx="31750" cy="9525"/>
                </a:xfrm>
                <a:custGeom>
                  <a:avLst/>
                  <a:gdLst/>
                  <a:ahLst/>
                  <a:cxnLst/>
                  <a:rect l="l" t="t" r="r" b="b"/>
                  <a:pathLst>
                    <a:path w="31750" h="9525">
                      <a:moveTo>
                        <a:pt x="0" y="0"/>
                      </a:moveTo>
                      <a:lnTo>
                        <a:pt x="31750" y="0"/>
                      </a:lnTo>
                    </a:path>
                  </a:pathLst>
                </a:custGeom>
                <a:noFill/>
                <a:ln w="31750">
                  <a:solidFill>
                    <a:srgbClr val="CC6508"/>
                  </a:solidFill>
                </a:ln>
              </p:spPr>
            </p:sp>
            <p:sp>
              <p:nvSpPr>
                <p:cNvPr id="35" name="Freeform 35"/>
                <p:cNvSpPr/>
                <p:nvPr/>
              </p:nvSpPr>
              <p:spPr>
                <a:xfrm>
                  <a:off x="3695700" y="4175126"/>
                  <a:ext cx="9525" cy="9525"/>
                </a:xfrm>
                <a:custGeom>
                  <a:avLst/>
                  <a:gdLst/>
                  <a:ahLst/>
                  <a:cxnLst/>
                  <a:rect l="l" t="t" r="r" b="b"/>
                  <a:pathLst>
                    <a:path w="9525" h="9525">
                      <a:moveTo>
                        <a:pt x="0" y="0"/>
                      </a:moveTo>
                      <a:lnTo>
                        <a:pt x="0" y="159"/>
                      </a:lnTo>
                    </a:path>
                  </a:pathLst>
                </a:custGeom>
                <a:noFill/>
                <a:ln w="31750">
                  <a:solidFill>
                    <a:srgbClr val="CC6508"/>
                  </a:solidFill>
                </a:ln>
              </p:spPr>
            </p:sp>
          </p:grpSp>
          <p:grpSp>
            <p:nvGrpSpPr>
              <p:cNvPr id="40" name="Group 40"/>
              <p:cNvGrpSpPr/>
              <p:nvPr/>
            </p:nvGrpSpPr>
            <p:grpSpPr>
              <a:xfrm>
                <a:off x="4438650" y="3952875"/>
                <a:ext cx="190500" cy="285751"/>
                <a:chOff x="4438650" y="3952875"/>
                <a:chExt cx="190500" cy="285751"/>
              </a:xfrm>
            </p:grpSpPr>
            <p:sp>
              <p:nvSpPr>
                <p:cNvPr id="37" name="Freeform 37"/>
                <p:cNvSpPr/>
                <p:nvPr/>
              </p:nvSpPr>
              <p:spPr>
                <a:xfrm>
                  <a:off x="4438650" y="39528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C6508"/>
                  </a:solidFill>
                </a:ln>
              </p:spPr>
            </p:sp>
            <p:sp>
              <p:nvSpPr>
                <p:cNvPr id="38" name="Freeform 38"/>
                <p:cNvSpPr/>
                <p:nvPr/>
              </p:nvSpPr>
              <p:spPr>
                <a:xfrm>
                  <a:off x="4518025" y="3968750"/>
                  <a:ext cx="31750" cy="9525"/>
                </a:xfrm>
                <a:custGeom>
                  <a:avLst/>
                  <a:gdLst/>
                  <a:ahLst/>
                  <a:cxnLst/>
                  <a:rect l="l" t="t" r="r" b="b"/>
                  <a:pathLst>
                    <a:path w="31750" h="9525">
                      <a:moveTo>
                        <a:pt x="0" y="0"/>
                      </a:moveTo>
                      <a:lnTo>
                        <a:pt x="31750" y="0"/>
                      </a:lnTo>
                    </a:path>
                  </a:pathLst>
                </a:custGeom>
                <a:noFill/>
                <a:ln w="31750">
                  <a:solidFill>
                    <a:srgbClr val="CC6508"/>
                  </a:solidFill>
                </a:ln>
              </p:spPr>
            </p:sp>
            <p:sp>
              <p:nvSpPr>
                <p:cNvPr id="39" name="Freeform 39"/>
                <p:cNvSpPr/>
                <p:nvPr/>
              </p:nvSpPr>
              <p:spPr>
                <a:xfrm>
                  <a:off x="4533900" y="4175126"/>
                  <a:ext cx="9525" cy="9525"/>
                </a:xfrm>
                <a:custGeom>
                  <a:avLst/>
                  <a:gdLst/>
                  <a:ahLst/>
                  <a:cxnLst/>
                  <a:rect l="l" t="t" r="r" b="b"/>
                  <a:pathLst>
                    <a:path w="9525" h="9525">
                      <a:moveTo>
                        <a:pt x="0" y="0"/>
                      </a:moveTo>
                      <a:lnTo>
                        <a:pt x="0" y="159"/>
                      </a:lnTo>
                    </a:path>
                  </a:pathLst>
                </a:custGeom>
                <a:noFill/>
                <a:ln w="31750">
                  <a:solidFill>
                    <a:srgbClr val="CC6508"/>
                  </a:solidFill>
                </a:ln>
              </p:spPr>
            </p:sp>
          </p:grpSp>
          <p:grpSp>
            <p:nvGrpSpPr>
              <p:cNvPr id="44" name="Group 44"/>
              <p:cNvGrpSpPr/>
              <p:nvPr/>
            </p:nvGrpSpPr>
            <p:grpSpPr>
              <a:xfrm>
                <a:off x="5276850" y="3952875"/>
                <a:ext cx="190500" cy="285751"/>
                <a:chOff x="5276850" y="3952875"/>
                <a:chExt cx="190500" cy="285751"/>
              </a:xfrm>
            </p:grpSpPr>
            <p:sp>
              <p:nvSpPr>
                <p:cNvPr id="41" name="Freeform 41"/>
                <p:cNvSpPr/>
                <p:nvPr/>
              </p:nvSpPr>
              <p:spPr>
                <a:xfrm>
                  <a:off x="5276850" y="39528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C6508"/>
                  </a:solidFill>
                </a:ln>
              </p:spPr>
            </p:sp>
            <p:sp>
              <p:nvSpPr>
                <p:cNvPr id="42" name="Freeform 42"/>
                <p:cNvSpPr/>
                <p:nvPr/>
              </p:nvSpPr>
              <p:spPr>
                <a:xfrm>
                  <a:off x="5356225" y="3968750"/>
                  <a:ext cx="31750" cy="9525"/>
                </a:xfrm>
                <a:custGeom>
                  <a:avLst/>
                  <a:gdLst/>
                  <a:ahLst/>
                  <a:cxnLst/>
                  <a:rect l="l" t="t" r="r" b="b"/>
                  <a:pathLst>
                    <a:path w="31750" h="9525">
                      <a:moveTo>
                        <a:pt x="0" y="0"/>
                      </a:moveTo>
                      <a:lnTo>
                        <a:pt x="31750" y="0"/>
                      </a:lnTo>
                    </a:path>
                  </a:pathLst>
                </a:custGeom>
                <a:noFill/>
                <a:ln w="31750">
                  <a:solidFill>
                    <a:srgbClr val="CC6508"/>
                  </a:solidFill>
                </a:ln>
              </p:spPr>
            </p:sp>
            <p:sp>
              <p:nvSpPr>
                <p:cNvPr id="43" name="Freeform 43"/>
                <p:cNvSpPr/>
                <p:nvPr/>
              </p:nvSpPr>
              <p:spPr>
                <a:xfrm>
                  <a:off x="5372100" y="4175126"/>
                  <a:ext cx="9525" cy="9525"/>
                </a:xfrm>
                <a:custGeom>
                  <a:avLst/>
                  <a:gdLst/>
                  <a:ahLst/>
                  <a:cxnLst/>
                  <a:rect l="l" t="t" r="r" b="b"/>
                  <a:pathLst>
                    <a:path w="9525" h="9525">
                      <a:moveTo>
                        <a:pt x="0" y="0"/>
                      </a:moveTo>
                      <a:lnTo>
                        <a:pt x="0" y="159"/>
                      </a:lnTo>
                    </a:path>
                  </a:pathLst>
                </a:custGeom>
                <a:noFill/>
                <a:ln w="31750">
                  <a:solidFill>
                    <a:srgbClr val="CC6508"/>
                  </a:solidFill>
                </a:ln>
              </p:spPr>
            </p:sp>
          </p:grpSp>
        </p:grpSp>
        <p:sp>
          <p:nvSpPr>
            <p:cNvPr id="46" name="TextBox 46"/>
            <p:cNvSpPr txBox="1"/>
            <p:nvPr/>
          </p:nvSpPr>
          <p:spPr>
            <a:xfrm>
              <a:off x="221038" y="4505325"/>
              <a:ext cx="6111123"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One message, every phone in the cells, at once</a:t>
              </a:r>
            </a:p>
          </p:txBody>
        </p:sp>
        <p:grpSp>
          <p:nvGrpSpPr>
            <p:cNvPr id="50" name="Group 50"/>
            <p:cNvGrpSpPr/>
            <p:nvPr/>
          </p:nvGrpSpPr>
          <p:grpSpPr>
            <a:xfrm>
              <a:off x="907542" y="5073968"/>
              <a:ext cx="3154594" cy="949833"/>
              <a:chOff x="907542" y="5073968"/>
              <a:chExt cx="3154594" cy="949833"/>
            </a:xfrm>
          </p:grpSpPr>
          <p:sp>
            <p:nvSpPr>
              <p:cNvPr id="47" name="TextBox 47"/>
              <p:cNvSpPr txBox="1"/>
              <p:nvPr/>
            </p:nvSpPr>
            <p:spPr>
              <a:xfrm>
                <a:off x="907542" y="5073968"/>
                <a:ext cx="3230273" cy="264033"/>
              </a:xfrm>
              <a:prstGeom prst="rect">
                <a:avLst/>
              </a:prstGeom>
              <a:noFill/>
              <a:ln>
                <a:noFill/>
              </a:ln>
            </p:spPr>
            <p:txBody>
              <a:bodyPr wrap="square" lIns="0" tIns="0" rIns="0" bIns="0" anchor="t" anchorCtr="0">
                <a:spAutoFit/>
              </a:bodyPr>
              <a:lstStyle/>
              <a:p>
                <a:pPr algn="l"/>
                <a:r>
                  <a:rPr lang="en" sz="1350" dirty="0">
                    <a:solidFill>
                      <a:srgbClr val="1F3864"/>
                    </a:solidFill>
                    <a:latin typeface="+mn-lt"/>
                    <a:ea typeface="+mn-ea"/>
                    <a:cs typeface="+mn-cs"/>
                  </a:rPr>
                  <a:t>No numbers, no SIM database</a:t>
                </a:r>
              </a:p>
            </p:txBody>
          </p:sp>
          <p:sp>
            <p:nvSpPr>
              <p:cNvPr id="48" name="TextBox 48"/>
              <p:cNvSpPr txBox="1"/>
              <p:nvPr/>
            </p:nvSpPr>
            <p:spPr>
              <a:xfrm>
                <a:off x="907542" y="5416868"/>
                <a:ext cx="3671181" cy="264033"/>
              </a:xfrm>
              <a:prstGeom prst="rect">
                <a:avLst/>
              </a:prstGeom>
              <a:noFill/>
              <a:ln>
                <a:noFill/>
              </a:ln>
            </p:spPr>
            <p:txBody>
              <a:bodyPr wrap="square" lIns="0" tIns="0" rIns="0" bIns="0" anchor="t" anchorCtr="0">
                <a:spAutoFit/>
              </a:bodyPr>
              <a:lstStyle/>
              <a:p>
                <a:pPr algn="l"/>
                <a:r>
                  <a:rPr lang="en" sz="1350" dirty="0">
                    <a:solidFill>
                      <a:srgbClr val="1F3864"/>
                    </a:solidFill>
                    <a:latin typeface="+mn-lt"/>
                    <a:ea typeface="+mn-ea"/>
                    <a:cs typeface="+mn-cs"/>
                  </a:rPr>
                  <a:t>Under 4 seconds, unlimited reach</a:t>
                </a:r>
              </a:p>
            </p:txBody>
          </p:sp>
          <p:sp>
            <p:nvSpPr>
              <p:cNvPr id="49" name="TextBox 49"/>
              <p:cNvSpPr txBox="1"/>
              <p:nvPr/>
            </p:nvSpPr>
            <p:spPr>
              <a:xfrm>
                <a:off x="907542" y="5759768"/>
                <a:ext cx="3943242" cy="264033"/>
              </a:xfrm>
              <a:prstGeom prst="rect">
                <a:avLst/>
              </a:prstGeom>
              <a:noFill/>
              <a:ln>
                <a:noFill/>
              </a:ln>
            </p:spPr>
            <p:txBody>
              <a:bodyPr wrap="square" lIns="0" tIns="0" rIns="0" bIns="0" anchor="t" anchorCtr="0">
                <a:spAutoFit/>
              </a:bodyPr>
              <a:lstStyle/>
              <a:p>
                <a:pPr algn="l"/>
                <a:r>
                  <a:rPr lang="en" sz="1350" dirty="0">
                    <a:solidFill>
                      <a:srgbClr val="1F3864"/>
                    </a:solidFill>
                    <a:latin typeface="+mn-lt"/>
                    <a:ea typeface="+mn-ea"/>
                    <a:cs typeface="+mn-cs"/>
                  </a:rPr>
                  <a:t>Full-screen popup and special sound</a:t>
                </a:r>
              </a:p>
            </p:txBody>
          </p:sp>
        </p:grpSp>
        <p:grpSp>
          <p:nvGrpSpPr>
            <p:cNvPr id="54" name="Group 54"/>
            <p:cNvGrpSpPr/>
            <p:nvPr/>
          </p:nvGrpSpPr>
          <p:grpSpPr>
            <a:xfrm>
              <a:off x="695325" y="5114925"/>
              <a:ext cx="95250" cy="781050"/>
              <a:chOff x="695325" y="5114925"/>
              <a:chExt cx="95250" cy="781050"/>
            </a:xfrm>
          </p:grpSpPr>
          <p:sp>
            <p:nvSpPr>
              <p:cNvPr id="51" name="Ellipse 51"/>
              <p:cNvSpPr/>
              <p:nvPr/>
            </p:nvSpPr>
            <p:spPr>
              <a:xfrm>
                <a:off x="695325" y="5114925"/>
                <a:ext cx="95250" cy="95250"/>
              </a:xfrm>
              <a:prstGeom prst="ellipse">
                <a:avLst/>
              </a:prstGeom>
              <a:solidFill>
                <a:srgbClr val="CC6508"/>
              </a:solidFill>
              <a:ln>
                <a:noFill/>
              </a:ln>
            </p:spPr>
          </p:sp>
          <p:sp>
            <p:nvSpPr>
              <p:cNvPr id="52" name="Ellipse 52"/>
              <p:cNvSpPr/>
              <p:nvPr/>
            </p:nvSpPr>
            <p:spPr>
              <a:xfrm>
                <a:off x="695325" y="5457825"/>
                <a:ext cx="95250" cy="95250"/>
              </a:xfrm>
              <a:prstGeom prst="ellipse">
                <a:avLst/>
              </a:prstGeom>
              <a:solidFill>
                <a:srgbClr val="CC6508"/>
              </a:solidFill>
              <a:ln>
                <a:noFill/>
              </a:ln>
            </p:spPr>
          </p:sp>
          <p:sp>
            <p:nvSpPr>
              <p:cNvPr id="53" name="Ellipse 53"/>
              <p:cNvSpPr/>
              <p:nvPr/>
            </p:nvSpPr>
            <p:spPr>
              <a:xfrm>
                <a:off x="695325" y="5800725"/>
                <a:ext cx="95250" cy="95250"/>
              </a:xfrm>
              <a:prstGeom prst="ellipse">
                <a:avLst/>
              </a:prstGeom>
              <a:solidFill>
                <a:srgbClr val="CC6508"/>
              </a:solidFill>
              <a:ln>
                <a:noFill/>
              </a:ln>
            </p:spPr>
          </p:sp>
        </p:grpSp>
      </p:grpSp>
      <p:sp>
        <p:nvSpPr>
          <p:cNvPr id="56" name="Line 56"/>
          <p:cNvSpPr/>
          <p:nvPr/>
        </p:nvSpPr>
        <p:spPr>
          <a:xfrm>
            <a:off x="6096000" y="1866900"/>
            <a:ext cx="9525" cy="4229100"/>
          </a:xfrm>
          <a:custGeom>
            <a:avLst/>
            <a:gdLst/>
            <a:ahLst/>
            <a:cxnLst/>
            <a:rect l="l" t="t" r="r" b="b"/>
            <a:pathLst>
              <a:path w="9525" h="4229100">
                <a:moveTo>
                  <a:pt x="0" y="0"/>
                </a:moveTo>
                <a:lnTo>
                  <a:pt x="0" y="4229100"/>
                </a:lnTo>
              </a:path>
            </a:pathLst>
          </a:custGeom>
          <a:noFill/>
          <a:ln w="19050">
            <a:solidFill>
              <a:srgbClr val="E3DCD2"/>
            </a:solidFill>
          </a:ln>
        </p:spPr>
      </p:sp>
      <p:grpSp>
        <p:nvGrpSpPr>
          <p:cNvPr id="101" name="classic-sms"/>
          <p:cNvGrpSpPr/>
          <p:nvPr/>
        </p:nvGrpSpPr>
        <p:grpSpPr>
          <a:xfrm>
            <a:off x="6471666" y="1848802"/>
            <a:ext cx="4958334" cy="4174999"/>
            <a:chOff x="6471666" y="1848802"/>
            <a:chExt cx="4958334" cy="4174999"/>
          </a:xfrm>
        </p:grpSpPr>
        <p:sp>
          <p:nvSpPr>
            <p:cNvPr id="57" name="TextBox 57"/>
            <p:cNvSpPr txBox="1"/>
            <p:nvPr/>
          </p:nvSpPr>
          <p:spPr>
            <a:xfrm>
              <a:off x="6471666" y="1848802"/>
              <a:ext cx="1327166" cy="205359"/>
            </a:xfrm>
            <a:prstGeom prst="rect">
              <a:avLst/>
            </a:prstGeom>
            <a:noFill/>
            <a:ln>
              <a:noFill/>
            </a:ln>
          </p:spPr>
          <p:txBody>
            <a:bodyPr wrap="square" lIns="0" tIns="0" rIns="0" bIns="0" anchor="t" anchorCtr="0">
              <a:spAutoFit/>
            </a:bodyPr>
            <a:lstStyle/>
            <a:p>
              <a:pPr algn="l"/>
              <a:r>
                <a:rPr lang="en" sz="1050" b="1" spc="105" dirty="0">
                  <a:solidFill>
                    <a:srgbClr val="5B6477"/>
                  </a:solidFill>
                  <a:latin typeface="+mn-lt"/>
                  <a:ea typeface="+mn-ea"/>
                  <a:cs typeface="+mn-cs"/>
                </a:rPr>
                <a:t>CLASSIC SMS</a:t>
              </a:r>
            </a:p>
          </p:txBody>
        </p:sp>
        <p:sp>
          <p:nvSpPr>
            <p:cNvPr id="58" name="Ellipse 58"/>
            <p:cNvSpPr/>
            <p:nvPr/>
          </p:nvSpPr>
          <p:spPr>
            <a:xfrm>
              <a:off x="6515100" y="2800350"/>
              <a:ext cx="685800" cy="685800"/>
            </a:xfrm>
            <a:prstGeom prst="ellipse">
              <a:avLst/>
            </a:prstGeom>
            <a:solidFill>
              <a:srgbClr val="E3DCD2"/>
            </a:solidFill>
            <a:ln>
              <a:noFill/>
            </a:ln>
          </p:spPr>
        </p:sp>
        <p:grpSp>
          <p:nvGrpSpPr>
            <p:cNvPr id="63" name="Group 63"/>
            <p:cNvGrpSpPr/>
            <p:nvPr/>
          </p:nvGrpSpPr>
          <p:grpSpPr>
            <a:xfrm>
              <a:off x="6715125" y="3016250"/>
              <a:ext cx="285751" cy="254000"/>
              <a:chOff x="6715125" y="3016250"/>
              <a:chExt cx="285751" cy="254000"/>
            </a:xfrm>
          </p:grpSpPr>
          <p:sp>
            <p:nvSpPr>
              <p:cNvPr id="59" name="Freeform 59"/>
              <p:cNvSpPr/>
              <p:nvPr/>
            </p:nvSpPr>
            <p:spPr>
              <a:xfrm>
                <a:off x="6715125" y="3016250"/>
                <a:ext cx="285751" cy="127000"/>
              </a:xfrm>
              <a:custGeom>
                <a:avLst/>
                <a:gdLst/>
                <a:ahLst/>
                <a:cxnLst/>
                <a:rect l="l" t="t" r="r" b="b"/>
                <a:pathLst>
                  <a:path w="285751" h="127000">
                    <a:moveTo>
                      <a:pt x="0" y="47625"/>
                    </a:moveTo>
                    <a:cubicBezTo>
                      <a:pt x="0" y="21322"/>
                      <a:pt x="21322" y="0"/>
                      <a:pt x="47625" y="0"/>
                    </a:cubicBezTo>
                    <a:lnTo>
                      <a:pt x="238125" y="0"/>
                    </a:lnTo>
                    <a:cubicBezTo>
                      <a:pt x="264428" y="0"/>
                      <a:pt x="285751" y="21322"/>
                      <a:pt x="285751" y="47625"/>
                    </a:cubicBezTo>
                    <a:lnTo>
                      <a:pt x="285751" y="79375"/>
                    </a:lnTo>
                    <a:cubicBezTo>
                      <a:pt x="285751" y="105678"/>
                      <a:pt x="264428" y="127000"/>
                      <a:pt x="238125" y="127000"/>
                    </a:cubicBezTo>
                    <a:lnTo>
                      <a:pt x="47625" y="127000"/>
                    </a:lnTo>
                    <a:cubicBezTo>
                      <a:pt x="21322" y="127000"/>
                      <a:pt x="0" y="105678"/>
                      <a:pt x="0" y="79375"/>
                    </a:cubicBezTo>
                    <a:lnTo>
                      <a:pt x="0" y="47625"/>
                    </a:lnTo>
                  </a:path>
                </a:pathLst>
              </a:custGeom>
              <a:noFill/>
              <a:ln w="31750">
                <a:solidFill>
                  <a:srgbClr val="1F3864"/>
                </a:solidFill>
              </a:ln>
            </p:spPr>
          </p:sp>
          <p:sp>
            <p:nvSpPr>
              <p:cNvPr id="60" name="Freeform 60"/>
              <p:cNvSpPr/>
              <p:nvPr/>
            </p:nvSpPr>
            <p:spPr>
              <a:xfrm>
                <a:off x="6715125" y="3143250"/>
                <a:ext cx="285751" cy="127000"/>
              </a:xfrm>
              <a:custGeom>
                <a:avLst/>
                <a:gdLst/>
                <a:ahLst/>
                <a:cxnLst/>
                <a:rect l="l" t="t" r="r" b="b"/>
                <a:pathLst>
                  <a:path w="285751" h="127000">
                    <a:moveTo>
                      <a:pt x="0" y="47625"/>
                    </a:moveTo>
                    <a:cubicBezTo>
                      <a:pt x="0" y="21322"/>
                      <a:pt x="21322" y="0"/>
                      <a:pt x="47625" y="0"/>
                    </a:cubicBezTo>
                    <a:lnTo>
                      <a:pt x="238125" y="0"/>
                    </a:lnTo>
                    <a:cubicBezTo>
                      <a:pt x="264428" y="0"/>
                      <a:pt x="285751" y="21322"/>
                      <a:pt x="285751" y="47625"/>
                    </a:cubicBezTo>
                    <a:lnTo>
                      <a:pt x="285751" y="79375"/>
                    </a:lnTo>
                    <a:cubicBezTo>
                      <a:pt x="285751" y="105678"/>
                      <a:pt x="264428" y="127000"/>
                      <a:pt x="238125" y="127000"/>
                    </a:cubicBezTo>
                    <a:lnTo>
                      <a:pt x="47625" y="127000"/>
                    </a:lnTo>
                    <a:cubicBezTo>
                      <a:pt x="21322" y="127000"/>
                      <a:pt x="0" y="105678"/>
                      <a:pt x="0" y="79375"/>
                    </a:cubicBezTo>
                    <a:lnTo>
                      <a:pt x="0" y="47625"/>
                    </a:lnTo>
                  </a:path>
                </a:pathLst>
              </a:custGeom>
              <a:noFill/>
              <a:ln w="31750">
                <a:solidFill>
                  <a:srgbClr val="1F3864"/>
                </a:solidFill>
              </a:ln>
            </p:spPr>
          </p:sp>
          <p:sp>
            <p:nvSpPr>
              <p:cNvPr id="61" name="Freeform 61"/>
              <p:cNvSpPr/>
              <p:nvPr/>
            </p:nvSpPr>
            <p:spPr>
              <a:xfrm>
                <a:off x="6778625" y="3079750"/>
                <a:ext cx="9525" cy="9525"/>
              </a:xfrm>
              <a:custGeom>
                <a:avLst/>
                <a:gdLst/>
                <a:ahLst/>
                <a:cxnLst/>
                <a:rect l="l" t="t" r="r" b="b"/>
                <a:pathLst>
                  <a:path w="9525" h="9525">
                    <a:moveTo>
                      <a:pt x="0" y="0"/>
                    </a:moveTo>
                    <a:lnTo>
                      <a:pt x="0" y="159"/>
                    </a:lnTo>
                  </a:path>
                </a:pathLst>
              </a:custGeom>
              <a:noFill/>
              <a:ln w="31750">
                <a:solidFill>
                  <a:srgbClr val="1F3864"/>
                </a:solidFill>
              </a:ln>
            </p:spPr>
          </p:sp>
          <p:sp>
            <p:nvSpPr>
              <p:cNvPr id="62" name="Freeform 62"/>
              <p:cNvSpPr/>
              <p:nvPr/>
            </p:nvSpPr>
            <p:spPr>
              <a:xfrm>
                <a:off x="6778625" y="3206751"/>
                <a:ext cx="9525" cy="9525"/>
              </a:xfrm>
              <a:custGeom>
                <a:avLst/>
                <a:gdLst/>
                <a:ahLst/>
                <a:cxnLst/>
                <a:rect l="l" t="t" r="r" b="b"/>
                <a:pathLst>
                  <a:path w="9525" h="9525">
                    <a:moveTo>
                      <a:pt x="0" y="0"/>
                    </a:moveTo>
                    <a:lnTo>
                      <a:pt x="0" y="159"/>
                    </a:lnTo>
                  </a:path>
                </a:pathLst>
              </a:custGeom>
              <a:noFill/>
              <a:ln w="31750">
                <a:solidFill>
                  <a:srgbClr val="1F3864"/>
                </a:solidFill>
              </a:ln>
            </p:spPr>
          </p:sp>
        </p:grpSp>
        <p:sp>
          <p:nvSpPr>
            <p:cNvPr id="64" name="Line 64"/>
            <p:cNvSpPr/>
            <p:nvPr/>
          </p:nvSpPr>
          <p:spPr>
            <a:xfrm>
              <a:off x="7258050" y="3143250"/>
              <a:ext cx="4171950" cy="9525"/>
            </a:xfrm>
            <a:custGeom>
              <a:avLst/>
              <a:gdLst/>
              <a:ahLst/>
              <a:cxnLst/>
              <a:rect l="l" t="t" r="r" b="b"/>
              <a:pathLst>
                <a:path w="4171950" h="9525">
                  <a:moveTo>
                    <a:pt x="0" y="0"/>
                  </a:moveTo>
                  <a:lnTo>
                    <a:pt x="4171950" y="0"/>
                  </a:lnTo>
                </a:path>
              </a:pathLst>
            </a:custGeom>
            <a:noFill/>
            <a:ln w="19050">
              <a:solidFill>
                <a:srgbClr val="8FA0C0"/>
              </a:solidFill>
              <a:prstDash val="dash"/>
            </a:ln>
          </p:spPr>
        </p:sp>
        <p:grpSp>
          <p:nvGrpSpPr>
            <p:cNvPr id="85" name="Group 85"/>
            <p:cNvGrpSpPr/>
            <p:nvPr/>
          </p:nvGrpSpPr>
          <p:grpSpPr>
            <a:xfrm>
              <a:off x="7524750" y="3381375"/>
              <a:ext cx="3238500" cy="285751"/>
              <a:chOff x="7524750" y="3381375"/>
              <a:chExt cx="3238500" cy="285751"/>
            </a:xfrm>
          </p:grpSpPr>
          <p:grpSp>
            <p:nvGrpSpPr>
              <p:cNvPr id="68" name="Group 68"/>
              <p:cNvGrpSpPr/>
              <p:nvPr/>
            </p:nvGrpSpPr>
            <p:grpSpPr>
              <a:xfrm>
                <a:off x="7524750" y="3381375"/>
                <a:ext cx="190500" cy="285751"/>
                <a:chOff x="7524750" y="3381375"/>
                <a:chExt cx="190500" cy="285751"/>
              </a:xfrm>
            </p:grpSpPr>
            <p:sp>
              <p:nvSpPr>
                <p:cNvPr id="65" name="Freeform 65"/>
                <p:cNvSpPr/>
                <p:nvPr/>
              </p:nvSpPr>
              <p:spPr>
                <a:xfrm>
                  <a:off x="7524750" y="33813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1F3864"/>
                  </a:solidFill>
                </a:ln>
              </p:spPr>
            </p:sp>
            <p:sp>
              <p:nvSpPr>
                <p:cNvPr id="66" name="Freeform 66"/>
                <p:cNvSpPr/>
                <p:nvPr/>
              </p:nvSpPr>
              <p:spPr>
                <a:xfrm>
                  <a:off x="7604125" y="3397250"/>
                  <a:ext cx="31750" cy="9525"/>
                </a:xfrm>
                <a:custGeom>
                  <a:avLst/>
                  <a:gdLst/>
                  <a:ahLst/>
                  <a:cxnLst/>
                  <a:rect l="l" t="t" r="r" b="b"/>
                  <a:pathLst>
                    <a:path w="31750" h="9525">
                      <a:moveTo>
                        <a:pt x="0" y="0"/>
                      </a:moveTo>
                      <a:lnTo>
                        <a:pt x="31750" y="0"/>
                      </a:lnTo>
                    </a:path>
                  </a:pathLst>
                </a:custGeom>
                <a:noFill/>
                <a:ln w="31750">
                  <a:solidFill>
                    <a:srgbClr val="1F3864"/>
                  </a:solidFill>
                </a:ln>
              </p:spPr>
            </p:sp>
            <p:sp>
              <p:nvSpPr>
                <p:cNvPr id="67" name="Freeform 67"/>
                <p:cNvSpPr/>
                <p:nvPr/>
              </p:nvSpPr>
              <p:spPr>
                <a:xfrm>
                  <a:off x="7620000" y="3603626"/>
                  <a:ext cx="9525" cy="9525"/>
                </a:xfrm>
                <a:custGeom>
                  <a:avLst/>
                  <a:gdLst/>
                  <a:ahLst/>
                  <a:cxnLst/>
                  <a:rect l="l" t="t" r="r" b="b"/>
                  <a:pathLst>
                    <a:path w="9525" h="9525">
                      <a:moveTo>
                        <a:pt x="0" y="0"/>
                      </a:moveTo>
                      <a:lnTo>
                        <a:pt x="0" y="159"/>
                      </a:lnTo>
                    </a:path>
                  </a:pathLst>
                </a:custGeom>
                <a:noFill/>
                <a:ln w="31750">
                  <a:solidFill>
                    <a:srgbClr val="1F3864"/>
                  </a:solidFill>
                </a:ln>
              </p:spPr>
            </p:sp>
          </p:grpSp>
          <p:grpSp>
            <p:nvGrpSpPr>
              <p:cNvPr id="72" name="Group 72"/>
              <p:cNvGrpSpPr/>
              <p:nvPr/>
            </p:nvGrpSpPr>
            <p:grpSpPr>
              <a:xfrm>
                <a:off x="8286750" y="3381375"/>
                <a:ext cx="190500" cy="285751"/>
                <a:chOff x="8286750" y="3381375"/>
                <a:chExt cx="190500" cy="285751"/>
              </a:xfrm>
            </p:grpSpPr>
            <p:sp>
              <p:nvSpPr>
                <p:cNvPr id="69" name="Freeform 69"/>
                <p:cNvSpPr/>
                <p:nvPr/>
              </p:nvSpPr>
              <p:spPr>
                <a:xfrm>
                  <a:off x="8286750" y="33813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5B6477"/>
                  </a:solidFill>
                </a:ln>
              </p:spPr>
            </p:sp>
            <p:sp>
              <p:nvSpPr>
                <p:cNvPr id="70" name="Freeform 70"/>
                <p:cNvSpPr/>
                <p:nvPr/>
              </p:nvSpPr>
              <p:spPr>
                <a:xfrm>
                  <a:off x="8366125" y="3397250"/>
                  <a:ext cx="31750" cy="9525"/>
                </a:xfrm>
                <a:custGeom>
                  <a:avLst/>
                  <a:gdLst/>
                  <a:ahLst/>
                  <a:cxnLst/>
                  <a:rect l="l" t="t" r="r" b="b"/>
                  <a:pathLst>
                    <a:path w="31750" h="9525">
                      <a:moveTo>
                        <a:pt x="0" y="0"/>
                      </a:moveTo>
                      <a:lnTo>
                        <a:pt x="31750" y="0"/>
                      </a:lnTo>
                    </a:path>
                  </a:pathLst>
                </a:custGeom>
                <a:noFill/>
                <a:ln w="31750">
                  <a:solidFill>
                    <a:srgbClr val="5B6477"/>
                  </a:solidFill>
                </a:ln>
              </p:spPr>
            </p:sp>
            <p:sp>
              <p:nvSpPr>
                <p:cNvPr id="71" name="Freeform 71"/>
                <p:cNvSpPr/>
                <p:nvPr/>
              </p:nvSpPr>
              <p:spPr>
                <a:xfrm>
                  <a:off x="8382000" y="3603626"/>
                  <a:ext cx="9525" cy="9525"/>
                </a:xfrm>
                <a:custGeom>
                  <a:avLst/>
                  <a:gdLst/>
                  <a:ahLst/>
                  <a:cxnLst/>
                  <a:rect l="l" t="t" r="r" b="b"/>
                  <a:pathLst>
                    <a:path w="9525" h="9525">
                      <a:moveTo>
                        <a:pt x="0" y="0"/>
                      </a:moveTo>
                      <a:lnTo>
                        <a:pt x="0" y="159"/>
                      </a:lnTo>
                    </a:path>
                  </a:pathLst>
                </a:custGeom>
                <a:noFill/>
                <a:ln w="31750">
                  <a:solidFill>
                    <a:srgbClr val="5B6477"/>
                  </a:solidFill>
                </a:ln>
              </p:spPr>
            </p:sp>
          </p:grpSp>
          <p:grpSp>
            <p:nvGrpSpPr>
              <p:cNvPr id="76" name="Group 76"/>
              <p:cNvGrpSpPr/>
              <p:nvPr/>
            </p:nvGrpSpPr>
            <p:grpSpPr>
              <a:xfrm>
                <a:off x="9048750" y="3381375"/>
                <a:ext cx="190500" cy="285751"/>
                <a:chOff x="9048750" y="3381375"/>
                <a:chExt cx="190500" cy="285751"/>
              </a:xfrm>
            </p:grpSpPr>
            <p:sp>
              <p:nvSpPr>
                <p:cNvPr id="73" name="Freeform 73"/>
                <p:cNvSpPr/>
                <p:nvPr/>
              </p:nvSpPr>
              <p:spPr>
                <a:xfrm>
                  <a:off x="9048750" y="33813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8FA0C0"/>
                  </a:solidFill>
                </a:ln>
              </p:spPr>
            </p:sp>
            <p:sp>
              <p:nvSpPr>
                <p:cNvPr id="74" name="Freeform 74"/>
                <p:cNvSpPr/>
                <p:nvPr/>
              </p:nvSpPr>
              <p:spPr>
                <a:xfrm>
                  <a:off x="9128125" y="3397250"/>
                  <a:ext cx="31750" cy="9525"/>
                </a:xfrm>
                <a:custGeom>
                  <a:avLst/>
                  <a:gdLst/>
                  <a:ahLst/>
                  <a:cxnLst/>
                  <a:rect l="l" t="t" r="r" b="b"/>
                  <a:pathLst>
                    <a:path w="31750" h="9525">
                      <a:moveTo>
                        <a:pt x="0" y="0"/>
                      </a:moveTo>
                      <a:lnTo>
                        <a:pt x="31750" y="0"/>
                      </a:lnTo>
                    </a:path>
                  </a:pathLst>
                </a:custGeom>
                <a:noFill/>
                <a:ln w="31750">
                  <a:solidFill>
                    <a:srgbClr val="8FA0C0"/>
                  </a:solidFill>
                </a:ln>
              </p:spPr>
            </p:sp>
            <p:sp>
              <p:nvSpPr>
                <p:cNvPr id="75" name="Freeform 75"/>
                <p:cNvSpPr/>
                <p:nvPr/>
              </p:nvSpPr>
              <p:spPr>
                <a:xfrm>
                  <a:off x="9144000" y="3603626"/>
                  <a:ext cx="9525" cy="9525"/>
                </a:xfrm>
                <a:custGeom>
                  <a:avLst/>
                  <a:gdLst/>
                  <a:ahLst/>
                  <a:cxnLst/>
                  <a:rect l="l" t="t" r="r" b="b"/>
                  <a:pathLst>
                    <a:path w="9525" h="9525">
                      <a:moveTo>
                        <a:pt x="0" y="0"/>
                      </a:moveTo>
                      <a:lnTo>
                        <a:pt x="0" y="159"/>
                      </a:lnTo>
                    </a:path>
                  </a:pathLst>
                </a:custGeom>
                <a:noFill/>
                <a:ln w="31750">
                  <a:solidFill>
                    <a:srgbClr val="8FA0C0"/>
                  </a:solidFill>
                </a:ln>
              </p:spPr>
            </p:sp>
          </p:grpSp>
          <p:grpSp>
            <p:nvGrpSpPr>
              <p:cNvPr id="80" name="Group 80"/>
              <p:cNvGrpSpPr/>
              <p:nvPr/>
            </p:nvGrpSpPr>
            <p:grpSpPr>
              <a:xfrm>
                <a:off x="9810750" y="3381375"/>
                <a:ext cx="190500" cy="285751"/>
                <a:chOff x="9810750" y="3381375"/>
                <a:chExt cx="190500" cy="285751"/>
              </a:xfrm>
            </p:grpSpPr>
            <p:sp>
              <p:nvSpPr>
                <p:cNvPr id="77" name="Freeform 77"/>
                <p:cNvSpPr/>
                <p:nvPr/>
              </p:nvSpPr>
              <p:spPr>
                <a:xfrm>
                  <a:off x="9810750" y="33813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A8B4CC"/>
                  </a:solidFill>
                </a:ln>
              </p:spPr>
            </p:sp>
            <p:sp>
              <p:nvSpPr>
                <p:cNvPr id="78" name="Freeform 78"/>
                <p:cNvSpPr/>
                <p:nvPr/>
              </p:nvSpPr>
              <p:spPr>
                <a:xfrm>
                  <a:off x="9890125" y="3397250"/>
                  <a:ext cx="31750" cy="9525"/>
                </a:xfrm>
                <a:custGeom>
                  <a:avLst/>
                  <a:gdLst/>
                  <a:ahLst/>
                  <a:cxnLst/>
                  <a:rect l="l" t="t" r="r" b="b"/>
                  <a:pathLst>
                    <a:path w="31750" h="9525">
                      <a:moveTo>
                        <a:pt x="0" y="0"/>
                      </a:moveTo>
                      <a:lnTo>
                        <a:pt x="31750" y="0"/>
                      </a:lnTo>
                    </a:path>
                  </a:pathLst>
                </a:custGeom>
                <a:noFill/>
                <a:ln w="31750">
                  <a:solidFill>
                    <a:srgbClr val="A8B4CC"/>
                  </a:solidFill>
                </a:ln>
              </p:spPr>
            </p:sp>
            <p:sp>
              <p:nvSpPr>
                <p:cNvPr id="79" name="Freeform 79"/>
                <p:cNvSpPr/>
                <p:nvPr/>
              </p:nvSpPr>
              <p:spPr>
                <a:xfrm>
                  <a:off x="9906000" y="3603626"/>
                  <a:ext cx="9525" cy="9525"/>
                </a:xfrm>
                <a:custGeom>
                  <a:avLst/>
                  <a:gdLst/>
                  <a:ahLst/>
                  <a:cxnLst/>
                  <a:rect l="l" t="t" r="r" b="b"/>
                  <a:pathLst>
                    <a:path w="9525" h="9525">
                      <a:moveTo>
                        <a:pt x="0" y="0"/>
                      </a:moveTo>
                      <a:lnTo>
                        <a:pt x="0" y="159"/>
                      </a:lnTo>
                    </a:path>
                  </a:pathLst>
                </a:custGeom>
                <a:noFill/>
                <a:ln w="31750">
                  <a:solidFill>
                    <a:srgbClr val="A8B4CC"/>
                  </a:solidFill>
                </a:ln>
              </p:spPr>
            </p:sp>
          </p:grpSp>
          <p:grpSp>
            <p:nvGrpSpPr>
              <p:cNvPr id="84" name="Group 84"/>
              <p:cNvGrpSpPr/>
              <p:nvPr/>
            </p:nvGrpSpPr>
            <p:grpSpPr>
              <a:xfrm>
                <a:off x="10572750" y="3381375"/>
                <a:ext cx="190500" cy="285751"/>
                <a:chOff x="10572750" y="3381375"/>
                <a:chExt cx="190500" cy="285751"/>
              </a:xfrm>
            </p:grpSpPr>
            <p:sp>
              <p:nvSpPr>
                <p:cNvPr id="81" name="Freeform 81"/>
                <p:cNvSpPr/>
                <p:nvPr/>
              </p:nvSpPr>
              <p:spPr>
                <a:xfrm>
                  <a:off x="10572750" y="33813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C9D2E3"/>
                  </a:solidFill>
                </a:ln>
              </p:spPr>
            </p:sp>
            <p:sp>
              <p:nvSpPr>
                <p:cNvPr id="82" name="Freeform 82"/>
                <p:cNvSpPr/>
                <p:nvPr/>
              </p:nvSpPr>
              <p:spPr>
                <a:xfrm>
                  <a:off x="10652125" y="3397250"/>
                  <a:ext cx="31750" cy="9525"/>
                </a:xfrm>
                <a:custGeom>
                  <a:avLst/>
                  <a:gdLst/>
                  <a:ahLst/>
                  <a:cxnLst/>
                  <a:rect l="l" t="t" r="r" b="b"/>
                  <a:pathLst>
                    <a:path w="31750" h="9525">
                      <a:moveTo>
                        <a:pt x="0" y="0"/>
                      </a:moveTo>
                      <a:lnTo>
                        <a:pt x="31750" y="0"/>
                      </a:lnTo>
                    </a:path>
                  </a:pathLst>
                </a:custGeom>
                <a:noFill/>
                <a:ln w="31750">
                  <a:solidFill>
                    <a:srgbClr val="C9D2E3"/>
                  </a:solidFill>
                </a:ln>
              </p:spPr>
            </p:sp>
            <p:sp>
              <p:nvSpPr>
                <p:cNvPr id="83" name="Freeform 83"/>
                <p:cNvSpPr/>
                <p:nvPr/>
              </p:nvSpPr>
              <p:spPr>
                <a:xfrm>
                  <a:off x="10668000" y="3603626"/>
                  <a:ext cx="9525" cy="9525"/>
                </a:xfrm>
                <a:custGeom>
                  <a:avLst/>
                  <a:gdLst/>
                  <a:ahLst/>
                  <a:cxnLst/>
                  <a:rect l="l" t="t" r="r" b="b"/>
                  <a:pathLst>
                    <a:path w="9525" h="9525">
                      <a:moveTo>
                        <a:pt x="0" y="0"/>
                      </a:moveTo>
                      <a:lnTo>
                        <a:pt x="0" y="159"/>
                      </a:lnTo>
                    </a:path>
                  </a:pathLst>
                </a:custGeom>
                <a:noFill/>
                <a:ln w="31750">
                  <a:solidFill>
                    <a:srgbClr val="C9D2E3"/>
                  </a:solidFill>
                </a:ln>
              </p:spPr>
            </p:sp>
          </p:grpSp>
        </p:grpSp>
        <p:grpSp>
          <p:nvGrpSpPr>
            <p:cNvPr id="91" name="Group 91"/>
            <p:cNvGrpSpPr/>
            <p:nvPr/>
          </p:nvGrpSpPr>
          <p:grpSpPr>
            <a:xfrm>
              <a:off x="7536923" y="3810952"/>
              <a:ext cx="3175282" cy="205359"/>
              <a:chOff x="7536923" y="3810952"/>
              <a:chExt cx="3175282" cy="205359"/>
            </a:xfrm>
          </p:grpSpPr>
          <p:sp>
            <p:nvSpPr>
              <p:cNvPr id="86" name="TextBox 86"/>
              <p:cNvSpPr txBox="1"/>
              <p:nvPr/>
            </p:nvSpPr>
            <p:spPr>
              <a:xfrm>
                <a:off x="7422623" y="3810952"/>
                <a:ext cx="394754"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#1</a:t>
                </a:r>
              </a:p>
            </p:txBody>
          </p:sp>
          <p:sp>
            <p:nvSpPr>
              <p:cNvPr id="87" name="TextBox 87"/>
              <p:cNvSpPr txBox="1"/>
              <p:nvPr/>
            </p:nvSpPr>
            <p:spPr>
              <a:xfrm>
                <a:off x="8184623" y="3810952"/>
                <a:ext cx="394754"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#2</a:t>
                </a:r>
              </a:p>
            </p:txBody>
          </p:sp>
          <p:sp>
            <p:nvSpPr>
              <p:cNvPr id="88" name="TextBox 88"/>
              <p:cNvSpPr txBox="1"/>
              <p:nvPr/>
            </p:nvSpPr>
            <p:spPr>
              <a:xfrm>
                <a:off x="8946623" y="3810952"/>
                <a:ext cx="394754"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#3</a:t>
                </a:r>
              </a:p>
            </p:txBody>
          </p:sp>
          <p:sp>
            <p:nvSpPr>
              <p:cNvPr id="89" name="TextBox 89"/>
              <p:cNvSpPr txBox="1"/>
              <p:nvPr/>
            </p:nvSpPr>
            <p:spPr>
              <a:xfrm>
                <a:off x="9708623" y="3810952"/>
                <a:ext cx="394754"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#4</a:t>
                </a:r>
              </a:p>
            </p:txBody>
          </p:sp>
          <p:sp>
            <p:nvSpPr>
              <p:cNvPr id="90" name="TextBox 90"/>
              <p:cNvSpPr txBox="1"/>
              <p:nvPr/>
            </p:nvSpPr>
            <p:spPr>
              <a:xfrm>
                <a:off x="10509494" y="3810952"/>
                <a:ext cx="317011"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a:t>
                </a:r>
              </a:p>
            </p:txBody>
          </p:sp>
        </p:grpSp>
        <p:sp>
          <p:nvSpPr>
            <p:cNvPr id="92" name="TextBox 92"/>
            <p:cNvSpPr txBox="1"/>
            <p:nvPr/>
          </p:nvSpPr>
          <p:spPr>
            <a:xfrm>
              <a:off x="6542135" y="4505325"/>
              <a:ext cx="4746530" cy="293370"/>
            </a:xfrm>
            <a:prstGeom prst="rect">
              <a:avLst/>
            </a:prstGeom>
            <a:noFill/>
            <a:ln>
              <a:noFill/>
            </a:ln>
          </p:spPr>
          <p:txBody>
            <a:bodyPr wrap="square" lIns="0" tIns="0" rIns="0" bIns="0" anchor="t" anchorCtr="0">
              <a:spAutoFit/>
            </a:bodyPr>
            <a:lstStyle/>
            <a:p>
              <a:pPr algn="ctr"/>
              <a:r>
                <a:rPr lang="en" sz="1500" b="1" dirty="0">
                  <a:solidFill>
                    <a:srgbClr val="1F3864"/>
                  </a:solidFill>
                  <a:latin typeface="+mn-lt"/>
                  <a:ea typeface="+mn-ea"/>
                  <a:cs typeface="+mn-cs"/>
                </a:rPr>
                <a:t>One message per number, one by one</a:t>
              </a:r>
            </a:p>
          </p:txBody>
        </p:sp>
        <p:grpSp>
          <p:nvGrpSpPr>
            <p:cNvPr id="96" name="Group 96"/>
            <p:cNvGrpSpPr/>
            <p:nvPr/>
          </p:nvGrpSpPr>
          <p:grpSpPr>
            <a:xfrm>
              <a:off x="6774942" y="5073968"/>
              <a:ext cx="2872969" cy="949833"/>
              <a:chOff x="6774942" y="5073968"/>
              <a:chExt cx="2872969" cy="949833"/>
            </a:xfrm>
          </p:grpSpPr>
          <p:sp>
            <p:nvSpPr>
              <p:cNvPr id="93" name="TextBox 93"/>
              <p:cNvSpPr txBox="1"/>
              <p:nvPr/>
            </p:nvSpPr>
            <p:spPr>
              <a:xfrm>
                <a:off x="6774942" y="5073968"/>
                <a:ext cx="3284433"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Needs every recipient number</a:t>
                </a:r>
              </a:p>
            </p:txBody>
          </p:sp>
          <p:sp>
            <p:nvSpPr>
              <p:cNvPr id="94" name="TextBox 94"/>
              <p:cNvSpPr txBox="1"/>
              <p:nvPr/>
            </p:nvSpPr>
            <p:spPr>
              <a:xfrm>
                <a:off x="6774942" y="5416868"/>
                <a:ext cx="2853050"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Minutes to hours at scale</a:t>
                </a:r>
              </a:p>
            </p:txBody>
          </p:sp>
          <p:sp>
            <p:nvSpPr>
              <p:cNvPr id="95" name="TextBox 95"/>
              <p:cNvSpPr txBox="1"/>
              <p:nvPr/>
            </p:nvSpPr>
            <p:spPr>
              <a:xfrm>
                <a:off x="6774942" y="5759768"/>
                <a:ext cx="3591211" cy="264033"/>
              </a:xfrm>
              <a:prstGeom prst="rect">
                <a:avLst/>
              </a:prstGeom>
              <a:noFill/>
              <a:ln>
                <a:noFill/>
              </a:ln>
            </p:spPr>
            <p:txBody>
              <a:bodyPr wrap="square" lIns="0" tIns="0" rIns="0" bIns="0" anchor="t" anchorCtr="0">
                <a:spAutoFit/>
              </a:bodyPr>
              <a:lstStyle/>
              <a:p>
                <a:pPr algn="l"/>
                <a:r>
                  <a:rPr lang="en" sz="1350" dirty="0">
                    <a:solidFill>
                      <a:srgbClr val="5B6477"/>
                    </a:solidFill>
                    <a:latin typeface="+mn-lt"/>
                    <a:ea typeface="+mn-ea"/>
                    <a:cs typeface="+mn-cs"/>
                  </a:rPr>
                  <a:t>Easily missed among other texts</a:t>
                </a:r>
              </a:p>
            </p:txBody>
          </p:sp>
        </p:grpSp>
        <p:grpSp>
          <p:nvGrpSpPr>
            <p:cNvPr id="100" name="Group 100"/>
            <p:cNvGrpSpPr/>
            <p:nvPr/>
          </p:nvGrpSpPr>
          <p:grpSpPr>
            <a:xfrm>
              <a:off x="6562725" y="5114925"/>
              <a:ext cx="95250" cy="781050"/>
              <a:chOff x="6562725" y="5114925"/>
              <a:chExt cx="95250" cy="781050"/>
            </a:xfrm>
          </p:grpSpPr>
          <p:sp>
            <p:nvSpPr>
              <p:cNvPr id="97" name="Ellipse 97"/>
              <p:cNvSpPr/>
              <p:nvPr/>
            </p:nvSpPr>
            <p:spPr>
              <a:xfrm>
                <a:off x="6562725" y="5114925"/>
                <a:ext cx="95250" cy="95250"/>
              </a:xfrm>
              <a:prstGeom prst="ellipse">
                <a:avLst/>
              </a:prstGeom>
              <a:solidFill>
                <a:srgbClr val="8FA0C0"/>
              </a:solidFill>
              <a:ln>
                <a:noFill/>
              </a:ln>
            </p:spPr>
          </p:sp>
          <p:sp>
            <p:nvSpPr>
              <p:cNvPr id="98" name="Ellipse 98"/>
              <p:cNvSpPr/>
              <p:nvPr/>
            </p:nvSpPr>
            <p:spPr>
              <a:xfrm>
                <a:off x="6562725" y="5457825"/>
                <a:ext cx="95250" cy="95250"/>
              </a:xfrm>
              <a:prstGeom prst="ellipse">
                <a:avLst/>
              </a:prstGeom>
              <a:solidFill>
                <a:srgbClr val="8FA0C0"/>
              </a:solidFill>
              <a:ln>
                <a:noFill/>
              </a:ln>
            </p:spPr>
          </p:sp>
          <p:sp>
            <p:nvSpPr>
              <p:cNvPr id="99" name="Ellipse 99"/>
              <p:cNvSpPr/>
              <p:nvPr/>
            </p:nvSpPr>
            <p:spPr>
              <a:xfrm>
                <a:off x="6562725" y="5800725"/>
                <a:ext cx="95250" cy="95250"/>
              </a:xfrm>
              <a:prstGeom prst="ellipse">
                <a:avLst/>
              </a:prstGeom>
              <a:solidFill>
                <a:srgbClr val="8FA0C0"/>
              </a:solidFill>
              <a:ln>
                <a:noFill/>
              </a:ln>
            </p:spPr>
          </p:sp>
        </p:grpSp>
      </p:grpSp>
      <p:grpSp>
        <p:nvGrpSpPr>
          <p:cNvPr id="105" name="footer"/>
          <p:cNvGrpSpPr/>
          <p:nvPr/>
        </p:nvGrpSpPr>
        <p:grpSpPr>
          <a:xfrm>
            <a:off x="604838" y="6551295"/>
            <a:ext cx="10982324" cy="176212"/>
            <a:chOff x="604838" y="6551295"/>
            <a:chExt cx="10982324" cy="176212"/>
          </a:xfrm>
        </p:grpSpPr>
        <p:sp>
          <p:nvSpPr>
            <p:cNvPr id="102" name="TextBox 102"/>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103" name="TextBox 103"/>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104"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10042017" cy="917734"/>
            <a:chOff x="594360" y="640556"/>
            <a:chExt cx="10042017" cy="917734"/>
          </a:xfrm>
        </p:grpSpPr>
        <p:sp>
          <p:nvSpPr>
            <p:cNvPr id="3" name="TextBox 3"/>
            <p:cNvSpPr txBox="1"/>
            <p:nvPr/>
          </p:nvSpPr>
          <p:spPr>
            <a:xfrm>
              <a:off x="603885" y="640556"/>
              <a:ext cx="4309651"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APPENDIX · INTERNATIONAL STANDARDS</a:t>
              </a:r>
            </a:p>
          </p:txBody>
        </p:sp>
        <p:sp>
          <p:nvSpPr>
            <p:cNvPr id="4" name="TextBox 4"/>
            <p:cNvSpPr txBox="1"/>
            <p:nvPr/>
          </p:nvSpPr>
          <p:spPr>
            <a:xfrm>
              <a:off x="594360" y="971550"/>
              <a:ext cx="12552521"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Cameroon would join WEA, EU-Alert, ETWS, KPAS</a:t>
              </a:r>
            </a:p>
          </p:txBody>
        </p:sp>
      </p:grpSp>
      <p:grpSp>
        <p:nvGrpSpPr>
          <p:cNvPr id="10" name="std-us"/>
          <p:cNvGrpSpPr/>
          <p:nvPr/>
        </p:nvGrpSpPr>
        <p:grpSpPr>
          <a:xfrm>
            <a:off x="591312" y="2000250"/>
            <a:ext cx="1951101" cy="2378678"/>
            <a:chOff x="591312" y="2000250"/>
            <a:chExt cx="1951101" cy="2378678"/>
          </a:xfrm>
        </p:grpSpPr>
        <p:pic>
          <p:nvPicPr>
            <p:cNvPr id="6" name="Image 6"/>
            <p:cNvPicPr>
              <a:picLocks noChangeAspect="1"/>
            </p:cNvPicPr>
            <p:nvPr/>
          </p:nvPicPr>
          <p:blipFill>
            <a:blip r:embed="rId3"/>
            <a:stretch>
              <a:fillRect/>
            </a:stretch>
          </p:blipFill>
          <p:spPr>
            <a:xfrm>
              <a:off x="609600" y="2000250"/>
              <a:ext cx="1143000" cy="704850"/>
            </a:xfrm>
            <a:prstGeom prst="rect">
              <a:avLst/>
            </a:prstGeom>
          </p:spPr>
        </p:pic>
        <p:sp>
          <p:nvSpPr>
            <p:cNvPr id="7" name="TextBox 7"/>
            <p:cNvSpPr txBox="1"/>
            <p:nvPr/>
          </p:nvSpPr>
          <p:spPr>
            <a:xfrm>
              <a:off x="591312" y="2964180"/>
              <a:ext cx="1289075" cy="704088"/>
            </a:xfrm>
            <a:prstGeom prst="rect">
              <a:avLst/>
            </a:prstGeom>
            <a:noFill/>
            <a:ln>
              <a:noFill/>
            </a:ln>
          </p:spPr>
          <p:txBody>
            <a:bodyPr wrap="square" lIns="0" tIns="0" rIns="0" bIns="0" anchor="t" anchorCtr="0">
              <a:spAutoFit/>
            </a:bodyPr>
            <a:lstStyle/>
            <a:p>
              <a:pPr algn="l"/>
              <a:r>
                <a:rPr lang="en" sz="3600" b="1" dirty="0">
                  <a:solidFill>
                    <a:srgbClr val="1F3864"/>
                  </a:solidFill>
                  <a:latin typeface="Baloo 2"/>
                  <a:ea typeface="Baloo 2"/>
                  <a:cs typeface="Baloo 2"/>
                </a:rPr>
                <a:t>WEA</a:t>
              </a:r>
            </a:p>
          </p:txBody>
        </p:sp>
        <p:sp>
          <p:nvSpPr>
            <p:cNvPr id="8" name="TextBox 8"/>
            <p:cNvSpPr txBox="1"/>
            <p:nvPr/>
          </p:nvSpPr>
          <p:spPr>
            <a:xfrm>
              <a:off x="602742" y="3530918"/>
              <a:ext cx="1618332" cy="264033"/>
            </a:xfrm>
            <a:prstGeom prst="rect">
              <a:avLst/>
            </a:prstGeom>
            <a:noFill/>
            <a:ln>
              <a:noFill/>
            </a:ln>
          </p:spPr>
          <p:txBody>
            <a:bodyPr wrap="square" lIns="0" tIns="0" rIns="0" bIns="0" anchor="t" anchorCtr="0">
              <a:spAutoFit/>
            </a:bodyPr>
            <a:lstStyle/>
            <a:p>
              <a:pPr algn="l"/>
              <a:r>
                <a:rPr lang="en" sz="1350" b="1" dirty="0">
                  <a:solidFill>
                    <a:srgbClr val="A94E00"/>
                  </a:solidFill>
                  <a:latin typeface="+mn-lt"/>
                  <a:ea typeface="+mn-ea"/>
                  <a:cs typeface="+mn-cs"/>
                </a:rPr>
                <a:t>United States</a:t>
              </a:r>
            </a:p>
          </p:txBody>
        </p:sp>
        <p:sp>
          <p:nvSpPr>
            <p:cNvPr id="9" name="TextBox 9"/>
            <p:cNvSpPr txBox="1"/>
            <p:nvPr/>
          </p:nvSpPr>
          <p:spPr>
            <a:xfrm>
              <a:off x="603123" y="3900964"/>
              <a:ext cx="2424112" cy="477964"/>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Presidential, Imminent</a:t>
              </a:r>
              <a:br/>
              <a:r>
                <a:rPr lang="en" sz="1280" dirty="0">
                  <a:solidFill>
                    <a:srgbClr val="5B6477"/>
                  </a:solidFill>
                  <a:latin typeface="+mn-lt"/>
                  <a:ea typeface="+mn-ea"/>
                  <a:cs typeface="+mn-cs"/>
                </a:rPr>
                <a:t>Threat and AMBER alerts</a:t>
              </a:r>
            </a:p>
          </p:txBody>
        </p:sp>
      </p:grpSp>
      <p:grpSp>
        <p:nvGrpSpPr>
          <p:cNvPr id="15" name="std-eu"/>
          <p:cNvGrpSpPr/>
          <p:nvPr/>
        </p:nvGrpSpPr>
        <p:grpSpPr>
          <a:xfrm>
            <a:off x="3372612" y="2000250"/>
            <a:ext cx="2199589" cy="2378678"/>
            <a:chOff x="3372612" y="2000250"/>
            <a:chExt cx="2199589" cy="2378678"/>
          </a:xfrm>
        </p:grpSpPr>
        <p:pic>
          <p:nvPicPr>
            <p:cNvPr id="11" name="Image 11"/>
            <p:cNvPicPr>
              <a:picLocks noChangeAspect="1"/>
            </p:cNvPicPr>
            <p:nvPr/>
          </p:nvPicPr>
          <p:blipFill>
            <a:blip r:embed="rId4"/>
            <a:stretch>
              <a:fillRect/>
            </a:stretch>
          </p:blipFill>
          <p:spPr>
            <a:xfrm>
              <a:off x="3390900" y="2000250"/>
              <a:ext cx="1143000" cy="704850"/>
            </a:xfrm>
            <a:prstGeom prst="rect">
              <a:avLst/>
            </a:prstGeom>
          </p:spPr>
        </p:pic>
        <p:sp>
          <p:nvSpPr>
            <p:cNvPr id="12" name="TextBox 12"/>
            <p:cNvSpPr txBox="1"/>
            <p:nvPr/>
          </p:nvSpPr>
          <p:spPr>
            <a:xfrm>
              <a:off x="3372612" y="2964180"/>
              <a:ext cx="2749486" cy="704088"/>
            </a:xfrm>
            <a:prstGeom prst="rect">
              <a:avLst/>
            </a:prstGeom>
            <a:noFill/>
            <a:ln>
              <a:noFill/>
            </a:ln>
          </p:spPr>
          <p:txBody>
            <a:bodyPr wrap="square" lIns="0" tIns="0" rIns="0" bIns="0" anchor="t" anchorCtr="0">
              <a:spAutoFit/>
            </a:bodyPr>
            <a:lstStyle/>
            <a:p>
              <a:pPr algn="l"/>
              <a:r>
                <a:rPr lang="en" sz="3600" b="1" dirty="0">
                  <a:solidFill>
                    <a:srgbClr val="1F3864"/>
                  </a:solidFill>
                  <a:latin typeface="Baloo 2"/>
                  <a:ea typeface="Baloo 2"/>
                  <a:cs typeface="Baloo 2"/>
                </a:rPr>
                <a:t>EU-Alert</a:t>
              </a:r>
            </a:p>
          </p:txBody>
        </p:sp>
        <p:sp>
          <p:nvSpPr>
            <p:cNvPr id="13" name="TextBox 13"/>
            <p:cNvSpPr txBox="1"/>
            <p:nvPr/>
          </p:nvSpPr>
          <p:spPr>
            <a:xfrm>
              <a:off x="3384042" y="3530918"/>
              <a:ext cx="1749515" cy="264033"/>
            </a:xfrm>
            <a:prstGeom prst="rect">
              <a:avLst/>
            </a:prstGeom>
            <a:noFill/>
            <a:ln>
              <a:noFill/>
            </a:ln>
          </p:spPr>
          <p:txBody>
            <a:bodyPr wrap="square" lIns="0" tIns="0" rIns="0" bIns="0" anchor="t" anchorCtr="0">
              <a:spAutoFit/>
            </a:bodyPr>
            <a:lstStyle/>
            <a:p>
              <a:pPr algn="l"/>
              <a:r>
                <a:rPr lang="en" sz="1350" b="1" dirty="0">
                  <a:solidFill>
                    <a:srgbClr val="A94E00"/>
                  </a:solidFill>
                  <a:latin typeface="+mn-lt"/>
                  <a:ea typeface="+mn-ea"/>
                  <a:cs typeface="+mn-cs"/>
                </a:rPr>
                <a:t>European Union</a:t>
              </a:r>
            </a:p>
          </p:txBody>
        </p:sp>
        <p:sp>
          <p:nvSpPr>
            <p:cNvPr id="14" name="TextBox 14"/>
            <p:cNvSpPr txBox="1"/>
            <p:nvPr/>
          </p:nvSpPr>
          <p:spPr>
            <a:xfrm>
              <a:off x="3384423" y="3900964"/>
              <a:ext cx="2495232" cy="477964"/>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Public warning under</a:t>
              </a:r>
              <a:br/>
              <a:r>
                <a:rPr lang="en" sz="1280" dirty="0">
                  <a:solidFill>
                    <a:srgbClr val="5B6477"/>
                  </a:solidFill>
                  <a:latin typeface="+mn-lt"/>
                  <a:ea typeface="+mn-ea"/>
                  <a:cs typeface="+mn-cs"/>
                </a:rPr>
                <a:t>Directive (EU) 2018/1972</a:t>
              </a:r>
            </a:p>
          </p:txBody>
        </p:sp>
      </p:grpSp>
      <p:grpSp>
        <p:nvGrpSpPr>
          <p:cNvPr id="20" name="std-jp"/>
          <p:cNvGrpSpPr/>
          <p:nvPr/>
        </p:nvGrpSpPr>
        <p:grpSpPr>
          <a:xfrm>
            <a:off x="6153912" y="2000250"/>
            <a:ext cx="1326977" cy="2378678"/>
            <a:chOff x="6153912" y="2000250"/>
            <a:chExt cx="1326977" cy="2378678"/>
          </a:xfrm>
        </p:grpSpPr>
        <p:pic>
          <p:nvPicPr>
            <p:cNvPr id="16" name="Image 16"/>
            <p:cNvPicPr>
              <a:picLocks noChangeAspect="1"/>
            </p:cNvPicPr>
            <p:nvPr/>
          </p:nvPicPr>
          <p:blipFill>
            <a:blip r:embed="rId5"/>
            <a:stretch>
              <a:fillRect/>
            </a:stretch>
          </p:blipFill>
          <p:spPr>
            <a:xfrm>
              <a:off x="6172200" y="2000250"/>
              <a:ext cx="1143000" cy="704850"/>
            </a:xfrm>
            <a:prstGeom prst="rect">
              <a:avLst/>
            </a:prstGeom>
          </p:spPr>
        </p:pic>
        <p:sp>
          <p:nvSpPr>
            <p:cNvPr id="17" name="TextBox 17"/>
            <p:cNvSpPr txBox="1"/>
            <p:nvPr/>
          </p:nvSpPr>
          <p:spPr>
            <a:xfrm>
              <a:off x="6153912" y="2964180"/>
              <a:ext cx="1658721" cy="704088"/>
            </a:xfrm>
            <a:prstGeom prst="rect">
              <a:avLst/>
            </a:prstGeom>
            <a:noFill/>
            <a:ln>
              <a:noFill/>
            </a:ln>
          </p:spPr>
          <p:txBody>
            <a:bodyPr wrap="square" lIns="0" tIns="0" rIns="0" bIns="0" anchor="t" anchorCtr="0">
              <a:spAutoFit/>
            </a:bodyPr>
            <a:lstStyle/>
            <a:p>
              <a:pPr algn="l"/>
              <a:r>
                <a:rPr lang="en" sz="3600" b="1" dirty="0">
                  <a:solidFill>
                    <a:srgbClr val="1F3864"/>
                  </a:solidFill>
                  <a:latin typeface="Baloo 2"/>
                  <a:ea typeface="Baloo 2"/>
                  <a:cs typeface="Baloo 2"/>
                </a:rPr>
                <a:t>ETWS</a:t>
              </a:r>
            </a:p>
          </p:txBody>
        </p:sp>
        <p:sp>
          <p:nvSpPr>
            <p:cNvPr id="18" name="TextBox 18"/>
            <p:cNvSpPr txBox="1"/>
            <p:nvPr/>
          </p:nvSpPr>
          <p:spPr>
            <a:xfrm>
              <a:off x="6165342" y="3530918"/>
              <a:ext cx="773022" cy="264033"/>
            </a:xfrm>
            <a:prstGeom prst="rect">
              <a:avLst/>
            </a:prstGeom>
            <a:noFill/>
            <a:ln>
              <a:noFill/>
            </a:ln>
          </p:spPr>
          <p:txBody>
            <a:bodyPr wrap="square" lIns="0" tIns="0" rIns="0" bIns="0" anchor="t" anchorCtr="0">
              <a:spAutoFit/>
            </a:bodyPr>
            <a:lstStyle/>
            <a:p>
              <a:pPr algn="l"/>
              <a:r>
                <a:rPr lang="en" sz="1350" b="1" dirty="0">
                  <a:solidFill>
                    <a:srgbClr val="A94E00"/>
                  </a:solidFill>
                  <a:latin typeface="+mn-lt"/>
                  <a:ea typeface="+mn-ea"/>
                  <a:cs typeface="+mn-cs"/>
                </a:rPr>
                <a:t>Japan</a:t>
              </a:r>
            </a:p>
          </p:txBody>
        </p:sp>
        <p:sp>
          <p:nvSpPr>
            <p:cNvPr id="19" name="TextBox 19"/>
            <p:cNvSpPr txBox="1"/>
            <p:nvPr/>
          </p:nvSpPr>
          <p:spPr>
            <a:xfrm>
              <a:off x="6165723" y="3900964"/>
              <a:ext cx="1621472" cy="477964"/>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Earthquake and</a:t>
              </a:r>
              <a:br/>
              <a:r>
                <a:rPr lang="en" sz="1280" dirty="0">
                  <a:solidFill>
                    <a:srgbClr val="5B6477"/>
                  </a:solidFill>
                  <a:latin typeface="+mn-lt"/>
                  <a:ea typeface="+mn-ea"/>
                  <a:cs typeface="+mn-cs"/>
                </a:rPr>
                <a:t>tsunami warning</a:t>
              </a:r>
            </a:p>
          </p:txBody>
        </p:sp>
      </p:grpSp>
      <p:grpSp>
        <p:nvGrpSpPr>
          <p:cNvPr id="25" name="std-kr"/>
          <p:cNvGrpSpPr/>
          <p:nvPr/>
        </p:nvGrpSpPr>
        <p:grpSpPr>
          <a:xfrm>
            <a:off x="8935212" y="2000250"/>
            <a:ext cx="2089277" cy="2378678"/>
            <a:chOff x="8935212" y="2000250"/>
            <a:chExt cx="2089277" cy="2378678"/>
          </a:xfrm>
        </p:grpSpPr>
        <p:pic>
          <p:nvPicPr>
            <p:cNvPr id="21" name="Image 21"/>
            <p:cNvPicPr>
              <a:picLocks noChangeAspect="1"/>
            </p:cNvPicPr>
            <p:nvPr/>
          </p:nvPicPr>
          <p:blipFill>
            <a:blip r:embed="rId6"/>
            <a:stretch>
              <a:fillRect/>
            </a:stretch>
          </p:blipFill>
          <p:spPr>
            <a:xfrm>
              <a:off x="8953500" y="2000250"/>
              <a:ext cx="1143000" cy="704850"/>
            </a:xfrm>
            <a:prstGeom prst="rect">
              <a:avLst/>
            </a:prstGeom>
          </p:spPr>
        </p:pic>
        <p:sp>
          <p:nvSpPr>
            <p:cNvPr id="22" name="TextBox 22"/>
            <p:cNvSpPr txBox="1"/>
            <p:nvPr/>
          </p:nvSpPr>
          <p:spPr>
            <a:xfrm>
              <a:off x="8935212" y="2964180"/>
              <a:ext cx="1524305" cy="704088"/>
            </a:xfrm>
            <a:prstGeom prst="rect">
              <a:avLst/>
            </a:prstGeom>
            <a:noFill/>
            <a:ln>
              <a:noFill/>
            </a:ln>
          </p:spPr>
          <p:txBody>
            <a:bodyPr wrap="square" lIns="0" tIns="0" rIns="0" bIns="0" anchor="t" anchorCtr="0">
              <a:spAutoFit/>
            </a:bodyPr>
            <a:lstStyle/>
            <a:p>
              <a:pPr algn="l"/>
              <a:r>
                <a:rPr lang="en" sz="3600" b="1" dirty="0">
                  <a:solidFill>
                    <a:srgbClr val="1F3864"/>
                  </a:solidFill>
                  <a:latin typeface="Baloo 2"/>
                  <a:ea typeface="Baloo 2"/>
                  <a:cs typeface="Baloo 2"/>
                </a:rPr>
                <a:t>KPAS</a:t>
              </a:r>
            </a:p>
          </p:txBody>
        </p:sp>
        <p:sp>
          <p:nvSpPr>
            <p:cNvPr id="23" name="TextBox 23"/>
            <p:cNvSpPr txBox="1"/>
            <p:nvPr/>
          </p:nvSpPr>
          <p:spPr>
            <a:xfrm>
              <a:off x="8946642" y="3530918"/>
              <a:ext cx="1416280" cy="264033"/>
            </a:xfrm>
            <a:prstGeom prst="rect">
              <a:avLst/>
            </a:prstGeom>
            <a:noFill/>
            <a:ln>
              <a:noFill/>
            </a:ln>
          </p:spPr>
          <p:txBody>
            <a:bodyPr wrap="square" lIns="0" tIns="0" rIns="0" bIns="0" anchor="t" anchorCtr="0">
              <a:spAutoFit/>
            </a:bodyPr>
            <a:lstStyle/>
            <a:p>
              <a:pPr algn="l"/>
              <a:r>
                <a:rPr lang="en" sz="1350" b="1" dirty="0">
                  <a:solidFill>
                    <a:srgbClr val="A94E00"/>
                  </a:solidFill>
                  <a:latin typeface="+mn-lt"/>
                  <a:ea typeface="+mn-ea"/>
                  <a:cs typeface="+mn-cs"/>
                </a:rPr>
                <a:t>South Korea</a:t>
              </a:r>
            </a:p>
          </p:txBody>
        </p:sp>
        <p:sp>
          <p:nvSpPr>
            <p:cNvPr id="24" name="TextBox 24"/>
            <p:cNvSpPr txBox="1"/>
            <p:nvPr/>
          </p:nvSpPr>
          <p:spPr>
            <a:xfrm>
              <a:off x="8947023" y="3900964"/>
              <a:ext cx="2596832" cy="477964"/>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Nationwide cell-broadcast</a:t>
              </a:r>
              <a:br/>
              <a:r>
                <a:rPr lang="en" sz="1280" dirty="0">
                  <a:solidFill>
                    <a:srgbClr val="5B6477"/>
                  </a:solidFill>
                  <a:latin typeface="+mn-lt"/>
                  <a:ea typeface="+mn-ea"/>
                  <a:cs typeface="+mn-cs"/>
                </a:rPr>
                <a:t>disaster alerts</a:t>
              </a:r>
            </a:p>
          </p:txBody>
        </p:sp>
      </p:grpSp>
      <p:grpSp>
        <p:nvGrpSpPr>
          <p:cNvPr id="35" name="common-base"/>
          <p:cNvGrpSpPr/>
          <p:nvPr/>
        </p:nvGrpSpPr>
        <p:grpSpPr>
          <a:xfrm>
            <a:off x="609600" y="5143500"/>
            <a:ext cx="10972800" cy="990600"/>
            <a:chOff x="609600" y="5143500"/>
            <a:chExt cx="10972800" cy="990600"/>
          </a:xfrm>
        </p:grpSpPr>
        <p:sp>
          <p:nvSpPr>
            <p:cNvPr id="26" name="Rectangle 26"/>
            <p:cNvSpPr/>
            <p:nvPr/>
          </p:nvSpPr>
          <p:spPr>
            <a:xfrm>
              <a:off x="609600" y="5143500"/>
              <a:ext cx="10972800" cy="990600"/>
            </a:xfrm>
            <a:prstGeom prst="roundRect">
              <a:avLst>
                <a:gd name="adj" fmla="val 23077"/>
              </a:avLst>
            </a:prstGeom>
            <a:solidFill>
              <a:srgbClr val="1F3864"/>
            </a:solidFill>
            <a:ln>
              <a:noFill/>
            </a:ln>
          </p:spPr>
        </p:sp>
        <p:grpSp>
          <p:nvGrpSpPr>
            <p:cNvPr id="32" name="Group 32"/>
            <p:cNvGrpSpPr/>
            <p:nvPr/>
          </p:nvGrpSpPr>
          <p:grpSpPr>
            <a:xfrm>
              <a:off x="1047750" y="5467350"/>
              <a:ext cx="342900" cy="342900"/>
              <a:chOff x="1047750" y="5467350"/>
              <a:chExt cx="342900" cy="342900"/>
            </a:xfrm>
          </p:grpSpPr>
          <p:sp>
            <p:nvSpPr>
              <p:cNvPr id="27" name="Freeform 27"/>
              <p:cNvSpPr/>
              <p:nvPr/>
            </p:nvSpPr>
            <p:spPr>
              <a:xfrm>
                <a:off x="1047750" y="5467350"/>
                <a:ext cx="342900" cy="342900"/>
              </a:xfrm>
              <a:custGeom>
                <a:avLst/>
                <a:gdLst/>
                <a:ahLst/>
                <a:cxnLst/>
                <a:rect l="l" t="t" r="r" b="b"/>
                <a:pathLst>
                  <a:path w="342900" h="342900">
                    <a:moveTo>
                      <a:pt x="0" y="171450"/>
                    </a:moveTo>
                    <a:cubicBezTo>
                      <a:pt x="0" y="266139"/>
                      <a:pt x="76761" y="342900"/>
                      <a:pt x="171450" y="342900"/>
                    </a:cubicBezTo>
                    <a:cubicBezTo>
                      <a:pt x="266139" y="342900"/>
                      <a:pt x="342900" y="266139"/>
                      <a:pt x="342900" y="171450"/>
                    </a:cubicBezTo>
                    <a:cubicBezTo>
                      <a:pt x="342900" y="76761"/>
                      <a:pt x="266139" y="0"/>
                      <a:pt x="171450" y="0"/>
                    </a:cubicBezTo>
                    <a:cubicBezTo>
                      <a:pt x="76761" y="0"/>
                      <a:pt x="0" y="76761"/>
                      <a:pt x="0" y="171450"/>
                    </a:cubicBezTo>
                  </a:path>
                </a:pathLst>
              </a:custGeom>
              <a:noFill/>
              <a:ln w="38100">
                <a:solidFill>
                  <a:srgbClr val="EC8236"/>
                </a:solidFill>
              </a:ln>
            </p:spPr>
          </p:sp>
          <p:sp>
            <p:nvSpPr>
              <p:cNvPr id="28" name="Freeform 28"/>
              <p:cNvSpPr/>
              <p:nvPr/>
            </p:nvSpPr>
            <p:spPr>
              <a:xfrm>
                <a:off x="1059180" y="5581650"/>
                <a:ext cx="320040" cy="9525"/>
              </a:xfrm>
              <a:custGeom>
                <a:avLst/>
                <a:gdLst/>
                <a:ahLst/>
                <a:cxnLst/>
                <a:rect l="l" t="t" r="r" b="b"/>
                <a:pathLst>
                  <a:path w="320040" h="9525">
                    <a:moveTo>
                      <a:pt x="0" y="0"/>
                    </a:moveTo>
                    <a:lnTo>
                      <a:pt x="320040" y="0"/>
                    </a:lnTo>
                  </a:path>
                </a:pathLst>
              </a:custGeom>
              <a:noFill/>
              <a:ln w="38100">
                <a:solidFill>
                  <a:srgbClr val="EC8236"/>
                </a:solidFill>
              </a:ln>
            </p:spPr>
          </p:sp>
          <p:sp>
            <p:nvSpPr>
              <p:cNvPr id="29" name="Freeform 29"/>
              <p:cNvSpPr/>
              <p:nvPr/>
            </p:nvSpPr>
            <p:spPr>
              <a:xfrm>
                <a:off x="1059180" y="5695950"/>
                <a:ext cx="320040" cy="9525"/>
              </a:xfrm>
              <a:custGeom>
                <a:avLst/>
                <a:gdLst/>
                <a:ahLst/>
                <a:cxnLst/>
                <a:rect l="l" t="t" r="r" b="b"/>
                <a:pathLst>
                  <a:path w="320040" h="9525">
                    <a:moveTo>
                      <a:pt x="0" y="0"/>
                    </a:moveTo>
                    <a:lnTo>
                      <a:pt x="320040" y="0"/>
                    </a:lnTo>
                  </a:path>
                </a:pathLst>
              </a:custGeom>
              <a:noFill/>
              <a:ln w="38100">
                <a:solidFill>
                  <a:srgbClr val="EC8236"/>
                </a:solidFill>
              </a:ln>
            </p:spPr>
          </p:sp>
          <p:sp>
            <p:nvSpPr>
              <p:cNvPr id="30" name="Freeform 30"/>
              <p:cNvSpPr/>
              <p:nvPr/>
            </p:nvSpPr>
            <p:spPr>
              <a:xfrm>
                <a:off x="1144199" y="5467350"/>
                <a:ext cx="65476" cy="342900"/>
              </a:xfrm>
              <a:custGeom>
                <a:avLst/>
                <a:gdLst/>
                <a:ahLst/>
                <a:cxnLst/>
                <a:rect l="l" t="t" r="r" b="b"/>
                <a:pathLst>
                  <a:path w="65476" h="342900">
                    <a:moveTo>
                      <a:pt x="65476" y="0"/>
                    </a:moveTo>
                    <a:cubicBezTo>
                      <a:pt x="0" y="104923"/>
                      <a:pt x="0" y="237977"/>
                      <a:pt x="65476" y="342900"/>
                    </a:cubicBezTo>
                  </a:path>
                </a:pathLst>
              </a:custGeom>
              <a:noFill/>
              <a:ln w="38100">
                <a:solidFill>
                  <a:srgbClr val="EC8236"/>
                </a:solidFill>
              </a:ln>
            </p:spPr>
          </p:sp>
          <p:sp>
            <p:nvSpPr>
              <p:cNvPr id="31" name="Freeform 31"/>
              <p:cNvSpPr/>
              <p:nvPr/>
            </p:nvSpPr>
            <p:spPr>
              <a:xfrm>
                <a:off x="1228725" y="5467350"/>
                <a:ext cx="65476" cy="342900"/>
              </a:xfrm>
              <a:custGeom>
                <a:avLst/>
                <a:gdLst/>
                <a:ahLst/>
                <a:cxnLst/>
                <a:rect l="l" t="t" r="r" b="b"/>
                <a:pathLst>
                  <a:path w="65476" h="342900">
                    <a:moveTo>
                      <a:pt x="0" y="0"/>
                    </a:moveTo>
                    <a:cubicBezTo>
                      <a:pt x="65476" y="104923"/>
                      <a:pt x="65476" y="237977"/>
                      <a:pt x="0" y="342900"/>
                    </a:cubicBezTo>
                  </a:path>
                </a:pathLst>
              </a:custGeom>
              <a:noFill/>
              <a:ln w="38100">
                <a:solidFill>
                  <a:srgbClr val="EC8236"/>
                </a:solidFill>
              </a:ln>
            </p:spPr>
          </p:sp>
        </p:grpSp>
        <p:sp>
          <p:nvSpPr>
            <p:cNvPr id="33" name="TextBox 33"/>
            <p:cNvSpPr txBox="1"/>
            <p:nvPr/>
          </p:nvSpPr>
          <p:spPr>
            <a:xfrm>
              <a:off x="1667256" y="5368290"/>
              <a:ext cx="5393102" cy="352044"/>
            </a:xfrm>
            <a:prstGeom prst="rect">
              <a:avLst/>
            </a:prstGeom>
            <a:noFill/>
            <a:ln>
              <a:noFill/>
            </a:ln>
          </p:spPr>
          <p:txBody>
            <a:bodyPr wrap="square" lIns="0" tIns="0" rIns="0" bIns="0" anchor="t" anchorCtr="0">
              <a:spAutoFit/>
            </a:bodyPr>
            <a:lstStyle/>
            <a:p>
              <a:pPr algn="l"/>
              <a:r>
                <a:rPr lang="en" sz="1800" b="1" dirty="0">
                  <a:solidFill>
                    <a:srgbClr val="FFFFFF"/>
                  </a:solidFill>
                  <a:latin typeface="+mn-lt"/>
                  <a:ea typeface="+mn-ea"/>
                  <a:cs typeface="+mn-cs"/>
                </a:rPr>
                <a:t>All four run on 3GPP cell broadcast</a:t>
              </a:r>
            </a:p>
          </p:txBody>
        </p:sp>
        <p:sp>
          <p:nvSpPr>
            <p:cNvPr id="34" name="TextBox 34"/>
            <p:cNvSpPr txBox="1"/>
            <p:nvPr/>
          </p:nvSpPr>
          <p:spPr>
            <a:xfrm>
              <a:off x="1669542" y="5721668"/>
              <a:ext cx="7354182" cy="264033"/>
            </a:xfrm>
            <a:prstGeom prst="rect">
              <a:avLst/>
            </a:prstGeom>
            <a:noFill/>
            <a:ln>
              <a:noFill/>
            </a:ln>
          </p:spPr>
          <p:txBody>
            <a:bodyPr wrap="square" lIns="0" tIns="0" rIns="0" bIns="0" anchor="t" anchorCtr="0">
              <a:spAutoFit/>
            </a:bodyPr>
            <a:lstStyle/>
            <a:p>
              <a:pPr algn="l"/>
              <a:r>
                <a:rPr lang="en" sz="1350" dirty="0">
                  <a:solidFill>
                    <a:srgbClr val="C9D2E3"/>
                  </a:solidFill>
                  <a:latin typeface="+mn-lt"/>
                  <a:ea typeface="+mn-ea"/>
                  <a:cs typeface="+mn-cs"/>
                </a:rPr>
                <a:t>3GPP TS 23.041 · one core technology, one platform for Cameroon</a:t>
              </a:r>
            </a:p>
          </p:txBody>
        </p:sp>
      </p:grpSp>
      <p:grpSp>
        <p:nvGrpSpPr>
          <p:cNvPr id="39" name="footer"/>
          <p:cNvGrpSpPr/>
          <p:nvPr/>
        </p:nvGrpSpPr>
        <p:grpSpPr>
          <a:xfrm>
            <a:off x="604838" y="6551295"/>
            <a:ext cx="10982324" cy="176212"/>
            <a:chOff x="604838" y="6551295"/>
            <a:chExt cx="10982324" cy="176212"/>
          </a:xfrm>
        </p:grpSpPr>
        <p:sp>
          <p:nvSpPr>
            <p:cNvPr id="36" name="TextBox 36"/>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37" name="TextBox 37"/>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38"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9193271" cy="917734"/>
            <a:chOff x="594360" y="640556"/>
            <a:chExt cx="9193271" cy="917734"/>
          </a:xfrm>
        </p:grpSpPr>
        <p:sp>
          <p:nvSpPr>
            <p:cNvPr id="3" name="TextBox 3"/>
            <p:cNvSpPr txBox="1"/>
            <p:nvPr/>
          </p:nvSpPr>
          <p:spPr>
            <a:xfrm>
              <a:off x="603885" y="640556"/>
              <a:ext cx="2753403"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APPENDIX · ALERT TYPES</a:t>
              </a:r>
            </a:p>
          </p:txBody>
        </p:sp>
        <p:sp>
          <p:nvSpPr>
            <p:cNvPr id="4" name="TextBox 4"/>
            <p:cNvSpPr txBox="1"/>
            <p:nvPr/>
          </p:nvSpPr>
          <p:spPr>
            <a:xfrm>
              <a:off x="594360" y="971550"/>
              <a:ext cx="11491588"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Six alert classes, fixed by 3GPP message IDs</a:t>
              </a:r>
            </a:p>
          </p:txBody>
        </p:sp>
      </p:grpSp>
      <p:grpSp>
        <p:nvGrpSpPr>
          <p:cNvPr id="46" name="alert-table"/>
          <p:cNvGrpSpPr/>
          <p:nvPr/>
        </p:nvGrpSpPr>
        <p:grpSpPr>
          <a:xfrm>
            <a:off x="604266" y="1944052"/>
            <a:ext cx="10978134" cy="4301109"/>
            <a:chOff x="604266" y="1944052"/>
            <a:chExt cx="10978134" cy="4301109"/>
          </a:xfrm>
        </p:grpSpPr>
        <p:sp>
          <p:nvSpPr>
            <p:cNvPr id="6" name="Rectangle 6"/>
            <p:cNvSpPr/>
            <p:nvPr/>
          </p:nvSpPr>
          <p:spPr>
            <a:xfrm>
              <a:off x="609600" y="2247900"/>
              <a:ext cx="10972800" cy="609600"/>
            </a:xfrm>
            <a:prstGeom prst="roundRect">
              <a:avLst>
                <a:gd name="adj" fmla="val 18750"/>
              </a:avLst>
            </a:prstGeom>
            <a:solidFill>
              <a:srgbClr val="FBE3D0"/>
            </a:solidFill>
            <a:ln>
              <a:noFill/>
            </a:ln>
          </p:spPr>
        </p:sp>
        <p:grpSp>
          <p:nvGrpSpPr>
            <p:cNvPr id="10" name="Group 10"/>
            <p:cNvGrpSpPr/>
            <p:nvPr/>
          </p:nvGrpSpPr>
          <p:grpSpPr>
            <a:xfrm>
              <a:off x="1061466" y="1944052"/>
              <a:ext cx="6228733" cy="205359"/>
              <a:chOff x="1061466" y="1944052"/>
              <a:chExt cx="6228733" cy="205359"/>
            </a:xfrm>
          </p:grpSpPr>
          <p:sp>
            <p:nvSpPr>
              <p:cNvPr id="7" name="TextBox 7"/>
              <p:cNvSpPr txBox="1"/>
              <p:nvPr/>
            </p:nvSpPr>
            <p:spPr>
              <a:xfrm>
                <a:off x="1061466" y="1944052"/>
                <a:ext cx="1310297" cy="205359"/>
              </a:xfrm>
              <a:prstGeom prst="rect">
                <a:avLst/>
              </a:prstGeom>
              <a:noFill/>
              <a:ln>
                <a:noFill/>
              </a:ln>
            </p:spPr>
            <p:txBody>
              <a:bodyPr wrap="square" lIns="0" tIns="0" rIns="0" bIns="0" anchor="t" anchorCtr="0">
                <a:spAutoFit/>
              </a:bodyPr>
              <a:lstStyle/>
              <a:p>
                <a:pPr algn="l"/>
                <a:r>
                  <a:rPr lang="en" sz="1050" b="1" spc="90" dirty="0">
                    <a:solidFill>
                      <a:srgbClr val="5B6477"/>
                    </a:solidFill>
                    <a:latin typeface="+mn-lt"/>
                    <a:ea typeface="+mn-ea"/>
                    <a:cs typeface="+mn-cs"/>
                  </a:rPr>
                  <a:t>ALERT CLASS</a:t>
                </a:r>
              </a:p>
            </p:txBody>
          </p:sp>
          <p:sp>
            <p:nvSpPr>
              <p:cNvPr id="8" name="TextBox 8"/>
              <p:cNvSpPr txBox="1"/>
              <p:nvPr/>
            </p:nvSpPr>
            <p:spPr>
              <a:xfrm>
                <a:off x="3995166" y="1944052"/>
                <a:ext cx="1176680" cy="205359"/>
              </a:xfrm>
              <a:prstGeom prst="rect">
                <a:avLst/>
              </a:prstGeom>
              <a:noFill/>
              <a:ln>
                <a:noFill/>
              </a:ln>
            </p:spPr>
            <p:txBody>
              <a:bodyPr wrap="square" lIns="0" tIns="0" rIns="0" bIns="0" anchor="t" anchorCtr="0">
                <a:spAutoFit/>
              </a:bodyPr>
              <a:lstStyle/>
              <a:p>
                <a:pPr algn="l"/>
                <a:r>
                  <a:rPr lang="en" sz="1050" b="1" spc="90" dirty="0">
                    <a:solidFill>
                      <a:srgbClr val="5B6477"/>
                    </a:solidFill>
                    <a:latin typeface="+mn-lt"/>
                    <a:ea typeface="+mn-ea"/>
                    <a:cs typeface="+mn-cs"/>
                  </a:rPr>
                  <a:t>MESSAGE ID</a:t>
                </a:r>
              </a:p>
            </p:txBody>
          </p:sp>
          <p:sp>
            <p:nvSpPr>
              <p:cNvPr id="9" name="TextBox 9"/>
              <p:cNvSpPr txBox="1"/>
              <p:nvPr/>
            </p:nvSpPr>
            <p:spPr>
              <a:xfrm>
                <a:off x="6281166" y="1944052"/>
                <a:ext cx="1261291" cy="205359"/>
              </a:xfrm>
              <a:prstGeom prst="rect">
                <a:avLst/>
              </a:prstGeom>
              <a:noFill/>
              <a:ln>
                <a:noFill/>
              </a:ln>
            </p:spPr>
            <p:txBody>
              <a:bodyPr wrap="square" lIns="0" tIns="0" rIns="0" bIns="0" anchor="t" anchorCtr="0">
                <a:spAutoFit/>
              </a:bodyPr>
              <a:lstStyle/>
              <a:p>
                <a:pPr algn="l"/>
                <a:r>
                  <a:rPr lang="en" sz="1050" b="1" spc="90" dirty="0">
                    <a:solidFill>
                      <a:srgbClr val="5B6477"/>
                    </a:solidFill>
                    <a:latin typeface="+mn-lt"/>
                    <a:ea typeface="+mn-ea"/>
                    <a:cs typeface="+mn-cs"/>
                  </a:rPr>
                  <a:t>TYPICAL USE</a:t>
                </a:r>
              </a:p>
            </p:txBody>
          </p:sp>
        </p:grpSp>
        <p:grpSp>
          <p:nvGrpSpPr>
            <p:cNvPr id="15" name="Group 15"/>
            <p:cNvGrpSpPr/>
            <p:nvPr/>
          </p:nvGrpSpPr>
          <p:grpSpPr>
            <a:xfrm>
              <a:off x="609600" y="3467100"/>
              <a:ext cx="10972800" cy="1838325"/>
              <a:chOff x="609600" y="3467100"/>
              <a:chExt cx="10972800" cy="1838325"/>
            </a:xfrm>
          </p:grpSpPr>
          <p:sp>
            <p:nvSpPr>
              <p:cNvPr id="11" name="Line 11"/>
              <p:cNvSpPr/>
              <p:nvPr/>
            </p:nvSpPr>
            <p:spPr>
              <a:xfrm>
                <a:off x="609600" y="3467100"/>
                <a:ext cx="10972800" cy="9525"/>
              </a:xfrm>
              <a:custGeom>
                <a:avLst/>
                <a:gdLst/>
                <a:ahLst/>
                <a:cxnLst/>
                <a:rect l="l" t="t" r="r" b="b"/>
                <a:pathLst>
                  <a:path w="10972800" h="9525">
                    <a:moveTo>
                      <a:pt x="0" y="0"/>
                    </a:moveTo>
                    <a:lnTo>
                      <a:pt x="10972800" y="0"/>
                    </a:lnTo>
                  </a:path>
                </a:pathLst>
              </a:custGeom>
              <a:noFill/>
              <a:ln w="14288">
                <a:solidFill>
                  <a:srgbClr val="E3DCD2"/>
                </a:solidFill>
              </a:ln>
            </p:spPr>
          </p:sp>
          <p:sp>
            <p:nvSpPr>
              <p:cNvPr id="12" name="Line 12"/>
              <p:cNvSpPr/>
              <p:nvPr/>
            </p:nvSpPr>
            <p:spPr>
              <a:xfrm>
                <a:off x="609600" y="4076700"/>
                <a:ext cx="10972800" cy="9525"/>
              </a:xfrm>
              <a:custGeom>
                <a:avLst/>
                <a:gdLst/>
                <a:ahLst/>
                <a:cxnLst/>
                <a:rect l="l" t="t" r="r" b="b"/>
                <a:pathLst>
                  <a:path w="10972800" h="9525">
                    <a:moveTo>
                      <a:pt x="0" y="0"/>
                    </a:moveTo>
                    <a:lnTo>
                      <a:pt x="10972800" y="0"/>
                    </a:lnTo>
                  </a:path>
                </a:pathLst>
              </a:custGeom>
              <a:noFill/>
              <a:ln w="14288">
                <a:solidFill>
                  <a:srgbClr val="E3DCD2"/>
                </a:solidFill>
              </a:ln>
            </p:spPr>
          </p:sp>
          <p:sp>
            <p:nvSpPr>
              <p:cNvPr id="13" name="Line 13"/>
              <p:cNvSpPr/>
              <p:nvPr/>
            </p:nvSpPr>
            <p:spPr>
              <a:xfrm>
                <a:off x="609600" y="4686300"/>
                <a:ext cx="10972800" cy="9525"/>
              </a:xfrm>
              <a:custGeom>
                <a:avLst/>
                <a:gdLst/>
                <a:ahLst/>
                <a:cxnLst/>
                <a:rect l="l" t="t" r="r" b="b"/>
                <a:pathLst>
                  <a:path w="10972800" h="9525">
                    <a:moveTo>
                      <a:pt x="0" y="0"/>
                    </a:moveTo>
                    <a:lnTo>
                      <a:pt x="10972800" y="0"/>
                    </a:lnTo>
                  </a:path>
                </a:pathLst>
              </a:custGeom>
              <a:noFill/>
              <a:ln w="14288">
                <a:solidFill>
                  <a:srgbClr val="E3DCD2"/>
                </a:solidFill>
              </a:ln>
            </p:spPr>
          </p:sp>
          <p:sp>
            <p:nvSpPr>
              <p:cNvPr id="14" name="Line 14"/>
              <p:cNvSpPr/>
              <p:nvPr/>
            </p:nvSpPr>
            <p:spPr>
              <a:xfrm>
                <a:off x="609600" y="5295900"/>
                <a:ext cx="10972800" cy="9525"/>
              </a:xfrm>
              <a:custGeom>
                <a:avLst/>
                <a:gdLst/>
                <a:ahLst/>
                <a:cxnLst/>
                <a:rect l="l" t="t" r="r" b="b"/>
                <a:pathLst>
                  <a:path w="10972800" h="9525">
                    <a:moveTo>
                      <a:pt x="0" y="0"/>
                    </a:moveTo>
                    <a:lnTo>
                      <a:pt x="10972800" y="0"/>
                    </a:lnTo>
                  </a:path>
                </a:pathLst>
              </a:custGeom>
              <a:noFill/>
              <a:ln w="14288">
                <a:solidFill>
                  <a:srgbClr val="E3DCD2"/>
                </a:solidFill>
              </a:ln>
            </p:spPr>
          </p:sp>
        </p:grpSp>
        <p:sp>
          <p:nvSpPr>
            <p:cNvPr id="16" name="Ellipse 16"/>
            <p:cNvSpPr/>
            <p:nvPr/>
          </p:nvSpPr>
          <p:spPr>
            <a:xfrm>
              <a:off x="752475" y="2466975"/>
              <a:ext cx="171450" cy="171450"/>
            </a:xfrm>
            <a:prstGeom prst="ellipse">
              <a:avLst/>
            </a:prstGeom>
            <a:solidFill>
              <a:srgbClr val="1F3864"/>
            </a:solidFill>
            <a:ln>
              <a:noFill/>
            </a:ln>
          </p:spPr>
        </p:sp>
        <p:sp>
          <p:nvSpPr>
            <p:cNvPr id="17" name="Ellipse 17"/>
            <p:cNvSpPr/>
            <p:nvPr/>
          </p:nvSpPr>
          <p:spPr>
            <a:xfrm>
              <a:off x="752475" y="3076575"/>
              <a:ext cx="171450" cy="171450"/>
            </a:xfrm>
            <a:prstGeom prst="ellipse">
              <a:avLst/>
            </a:prstGeom>
            <a:solidFill>
              <a:srgbClr val="CC6508"/>
            </a:solidFill>
            <a:ln>
              <a:noFill/>
            </a:ln>
          </p:spPr>
        </p:sp>
        <p:sp>
          <p:nvSpPr>
            <p:cNvPr id="18" name="Ellipse 18"/>
            <p:cNvSpPr/>
            <p:nvPr/>
          </p:nvSpPr>
          <p:spPr>
            <a:xfrm>
              <a:off x="752475" y="3686175"/>
              <a:ext cx="171450" cy="171450"/>
            </a:xfrm>
            <a:prstGeom prst="ellipse">
              <a:avLst/>
            </a:prstGeom>
            <a:solidFill>
              <a:srgbClr val="EC8236"/>
            </a:solidFill>
            <a:ln>
              <a:noFill/>
            </a:ln>
          </p:spPr>
        </p:sp>
        <p:sp>
          <p:nvSpPr>
            <p:cNvPr id="19" name="Ellipse 19"/>
            <p:cNvSpPr/>
            <p:nvPr/>
          </p:nvSpPr>
          <p:spPr>
            <a:xfrm>
              <a:off x="752475" y="4295775"/>
              <a:ext cx="171450" cy="171450"/>
            </a:xfrm>
            <a:prstGeom prst="ellipse">
              <a:avLst/>
            </a:prstGeom>
            <a:solidFill>
              <a:srgbClr val="F2A56B"/>
            </a:solidFill>
            <a:ln>
              <a:noFill/>
            </a:ln>
          </p:spPr>
        </p:sp>
        <p:sp>
          <p:nvSpPr>
            <p:cNvPr id="20" name="Ellipse 20"/>
            <p:cNvSpPr/>
            <p:nvPr/>
          </p:nvSpPr>
          <p:spPr>
            <a:xfrm>
              <a:off x="752475" y="4905375"/>
              <a:ext cx="171450" cy="171450"/>
            </a:xfrm>
            <a:prstGeom prst="ellipse">
              <a:avLst/>
            </a:prstGeom>
            <a:solidFill>
              <a:srgbClr val="8FA0C0"/>
            </a:solidFill>
            <a:ln>
              <a:noFill/>
            </a:ln>
          </p:spPr>
        </p:sp>
        <p:sp>
          <p:nvSpPr>
            <p:cNvPr id="21" name="Ellipse 21"/>
            <p:cNvSpPr/>
            <p:nvPr/>
          </p:nvSpPr>
          <p:spPr>
            <a:xfrm>
              <a:off x="752475" y="5514975"/>
              <a:ext cx="171450" cy="171450"/>
            </a:xfrm>
            <a:prstGeom prst="ellipse">
              <a:avLst/>
            </a:prstGeom>
            <a:solidFill>
              <a:srgbClr val="C9D2E3"/>
            </a:solidFill>
            <a:ln>
              <a:noFill/>
            </a:ln>
          </p:spPr>
        </p:sp>
        <p:grpSp>
          <p:nvGrpSpPr>
            <p:cNvPr id="28" name="Group 28"/>
            <p:cNvGrpSpPr/>
            <p:nvPr/>
          </p:nvGrpSpPr>
          <p:grpSpPr>
            <a:xfrm>
              <a:off x="1058418" y="2450782"/>
              <a:ext cx="1387590" cy="3370707"/>
              <a:chOff x="1058418" y="2450782"/>
              <a:chExt cx="1387590" cy="3370707"/>
            </a:xfrm>
          </p:grpSpPr>
          <p:sp>
            <p:nvSpPr>
              <p:cNvPr id="22" name="TextBox 22"/>
              <p:cNvSpPr txBox="1"/>
              <p:nvPr/>
            </p:nvSpPr>
            <p:spPr>
              <a:xfrm>
                <a:off x="1058418" y="2450782"/>
                <a:ext cx="1734487"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Presidential</a:t>
                </a:r>
              </a:p>
            </p:txBody>
          </p:sp>
          <p:sp>
            <p:nvSpPr>
              <p:cNvPr id="23" name="TextBox 23"/>
              <p:cNvSpPr txBox="1"/>
              <p:nvPr/>
            </p:nvSpPr>
            <p:spPr>
              <a:xfrm>
                <a:off x="1058418" y="3060382"/>
                <a:ext cx="1211225"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Extreme</a:t>
                </a:r>
              </a:p>
            </p:txBody>
          </p:sp>
          <p:sp>
            <p:nvSpPr>
              <p:cNvPr id="24" name="TextBox 24"/>
              <p:cNvSpPr txBox="1"/>
              <p:nvPr/>
            </p:nvSpPr>
            <p:spPr>
              <a:xfrm>
                <a:off x="1058418" y="3669982"/>
                <a:ext cx="1022281"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Severe</a:t>
                </a:r>
              </a:p>
            </p:txBody>
          </p:sp>
          <p:sp>
            <p:nvSpPr>
              <p:cNvPr id="25" name="TextBox 25"/>
              <p:cNvSpPr txBox="1"/>
              <p:nvPr/>
            </p:nvSpPr>
            <p:spPr>
              <a:xfrm>
                <a:off x="1058418" y="4279582"/>
                <a:ext cx="972335"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AMBER</a:t>
                </a:r>
              </a:p>
            </p:txBody>
          </p:sp>
          <p:sp>
            <p:nvSpPr>
              <p:cNvPr id="26" name="TextBox 26"/>
              <p:cNvSpPr txBox="1"/>
              <p:nvPr/>
            </p:nvSpPr>
            <p:spPr>
              <a:xfrm>
                <a:off x="1058418" y="4889182"/>
                <a:ext cx="836798"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ETWS</a:t>
                </a:r>
              </a:p>
            </p:txBody>
          </p:sp>
          <p:sp>
            <p:nvSpPr>
              <p:cNvPr id="27" name="TextBox 27"/>
              <p:cNvSpPr txBox="1"/>
              <p:nvPr/>
            </p:nvSpPr>
            <p:spPr>
              <a:xfrm>
                <a:off x="1058418" y="5498782"/>
                <a:ext cx="765729" cy="322707"/>
              </a:xfrm>
              <a:prstGeom prst="rect">
                <a:avLst/>
              </a:prstGeom>
              <a:noFill/>
              <a:ln>
                <a:noFill/>
              </a:ln>
            </p:spPr>
            <p:txBody>
              <a:bodyPr wrap="square" lIns="0" tIns="0" rIns="0" bIns="0" anchor="t" anchorCtr="0">
                <a:spAutoFit/>
              </a:bodyPr>
              <a:lstStyle/>
              <a:p>
                <a:pPr algn="l"/>
                <a:r>
                  <a:rPr lang="en" sz="1650" b="1" dirty="0">
                    <a:solidFill>
                      <a:srgbClr val="1F3864"/>
                    </a:solidFill>
                    <a:latin typeface="+mn-lt"/>
                    <a:ea typeface="+mn-ea"/>
                    <a:cs typeface="+mn-cs"/>
                  </a:rPr>
                  <a:t>Test</a:t>
                </a:r>
              </a:p>
            </p:txBody>
          </p:sp>
        </p:grpSp>
        <p:grpSp>
          <p:nvGrpSpPr>
            <p:cNvPr id="35" name="Group 35"/>
            <p:cNvGrpSpPr/>
            <p:nvPr/>
          </p:nvGrpSpPr>
          <p:grpSpPr>
            <a:xfrm>
              <a:off x="3992118" y="2450782"/>
              <a:ext cx="1482776" cy="3370707"/>
              <a:chOff x="3992118" y="2450782"/>
              <a:chExt cx="1482776" cy="3370707"/>
            </a:xfrm>
          </p:grpSpPr>
          <p:sp>
            <p:nvSpPr>
              <p:cNvPr id="29" name="TextBox 29"/>
              <p:cNvSpPr txBox="1"/>
              <p:nvPr/>
            </p:nvSpPr>
            <p:spPr>
              <a:xfrm>
                <a:off x="3992118" y="2450782"/>
                <a:ext cx="778459" cy="322707"/>
              </a:xfrm>
              <a:prstGeom prst="rect">
                <a:avLst/>
              </a:prstGeom>
              <a:noFill/>
              <a:ln>
                <a:noFill/>
              </a:ln>
            </p:spPr>
            <p:txBody>
              <a:bodyPr wrap="square" lIns="0" tIns="0" rIns="0" bIns="0" anchor="t" anchorCtr="0">
                <a:spAutoFit/>
              </a:bodyPr>
              <a:lstStyle/>
              <a:p>
                <a:pPr algn="l"/>
                <a:r>
                  <a:rPr lang="en" sz="1650" b="1" dirty="0">
                    <a:solidFill>
                      <a:srgbClr val="A94E00"/>
                    </a:solidFill>
                    <a:latin typeface="IBM Plex Mono"/>
                    <a:ea typeface="IBM Plex Mono"/>
                    <a:cs typeface="IBM Plex Mono"/>
                  </a:rPr>
                  <a:t>4370</a:t>
                </a:r>
              </a:p>
            </p:txBody>
          </p:sp>
          <p:sp>
            <p:nvSpPr>
              <p:cNvPr id="30" name="TextBox 30"/>
              <p:cNvSpPr txBox="1"/>
              <p:nvPr/>
            </p:nvSpPr>
            <p:spPr>
              <a:xfrm>
                <a:off x="3992118" y="3060382"/>
                <a:ext cx="1520285" cy="322707"/>
              </a:xfrm>
              <a:prstGeom prst="rect">
                <a:avLst/>
              </a:prstGeom>
              <a:noFill/>
              <a:ln>
                <a:noFill/>
              </a:ln>
            </p:spPr>
            <p:txBody>
              <a:bodyPr wrap="square" lIns="0" tIns="0" rIns="0" bIns="0" anchor="t" anchorCtr="0">
                <a:spAutoFit/>
              </a:bodyPr>
              <a:lstStyle/>
              <a:p>
                <a:pPr algn="l"/>
                <a:r>
                  <a:rPr lang="en" sz="1650" b="1" dirty="0">
                    <a:solidFill>
                      <a:srgbClr val="A94E00"/>
                    </a:solidFill>
                    <a:latin typeface="IBM Plex Mono"/>
                    <a:ea typeface="IBM Plex Mono"/>
                    <a:cs typeface="IBM Plex Mono"/>
                  </a:rPr>
                  <a:t>4371–4372</a:t>
                </a:r>
              </a:p>
            </p:txBody>
          </p:sp>
          <p:sp>
            <p:nvSpPr>
              <p:cNvPr id="31" name="TextBox 31"/>
              <p:cNvSpPr txBox="1"/>
              <p:nvPr/>
            </p:nvSpPr>
            <p:spPr>
              <a:xfrm>
                <a:off x="3992118" y="3669982"/>
                <a:ext cx="1520285" cy="322707"/>
              </a:xfrm>
              <a:prstGeom prst="rect">
                <a:avLst/>
              </a:prstGeom>
              <a:noFill/>
              <a:ln>
                <a:noFill/>
              </a:ln>
            </p:spPr>
            <p:txBody>
              <a:bodyPr wrap="square" lIns="0" tIns="0" rIns="0" bIns="0" anchor="t" anchorCtr="0">
                <a:spAutoFit/>
              </a:bodyPr>
              <a:lstStyle/>
              <a:p>
                <a:pPr algn="l"/>
                <a:r>
                  <a:rPr lang="en" sz="1650" b="1" dirty="0">
                    <a:solidFill>
                      <a:srgbClr val="A94E00"/>
                    </a:solidFill>
                    <a:latin typeface="IBM Plex Mono"/>
                    <a:ea typeface="IBM Plex Mono"/>
                    <a:cs typeface="IBM Plex Mono"/>
                  </a:rPr>
                  <a:t>4373–4378</a:t>
                </a:r>
              </a:p>
            </p:txBody>
          </p:sp>
          <p:sp>
            <p:nvSpPr>
              <p:cNvPr id="32" name="TextBox 32"/>
              <p:cNvSpPr txBox="1"/>
              <p:nvPr/>
            </p:nvSpPr>
            <p:spPr>
              <a:xfrm>
                <a:off x="3992118" y="4279582"/>
                <a:ext cx="778459" cy="322707"/>
              </a:xfrm>
              <a:prstGeom prst="rect">
                <a:avLst/>
              </a:prstGeom>
              <a:noFill/>
              <a:ln>
                <a:noFill/>
              </a:ln>
            </p:spPr>
            <p:txBody>
              <a:bodyPr wrap="square" lIns="0" tIns="0" rIns="0" bIns="0" anchor="t" anchorCtr="0">
                <a:spAutoFit/>
              </a:bodyPr>
              <a:lstStyle/>
              <a:p>
                <a:pPr algn="l"/>
                <a:r>
                  <a:rPr lang="en" sz="1650" b="1" dirty="0">
                    <a:solidFill>
                      <a:srgbClr val="A94E00"/>
                    </a:solidFill>
                    <a:latin typeface="IBM Plex Mono"/>
                    <a:ea typeface="IBM Plex Mono"/>
                    <a:cs typeface="IBM Plex Mono"/>
                  </a:rPr>
                  <a:t>4379</a:t>
                </a:r>
              </a:p>
            </p:txBody>
          </p:sp>
          <p:sp>
            <p:nvSpPr>
              <p:cNvPr id="33" name="TextBox 33"/>
              <p:cNvSpPr txBox="1"/>
              <p:nvPr/>
            </p:nvSpPr>
            <p:spPr>
              <a:xfrm>
                <a:off x="3992118" y="4889182"/>
                <a:ext cx="1520285" cy="322707"/>
              </a:xfrm>
              <a:prstGeom prst="rect">
                <a:avLst/>
              </a:prstGeom>
              <a:noFill/>
              <a:ln>
                <a:noFill/>
              </a:ln>
            </p:spPr>
            <p:txBody>
              <a:bodyPr wrap="square" lIns="0" tIns="0" rIns="0" bIns="0" anchor="t" anchorCtr="0">
                <a:spAutoFit/>
              </a:bodyPr>
              <a:lstStyle/>
              <a:p>
                <a:pPr algn="l"/>
                <a:r>
                  <a:rPr lang="en" sz="1650" b="1" dirty="0">
                    <a:solidFill>
                      <a:srgbClr val="A94E00"/>
                    </a:solidFill>
                    <a:latin typeface="IBM Plex Mono"/>
                    <a:ea typeface="IBM Plex Mono"/>
                    <a:cs typeface="IBM Plex Mono"/>
                  </a:rPr>
                  <a:t>4352–4354</a:t>
                </a:r>
              </a:p>
            </p:txBody>
          </p:sp>
          <p:sp>
            <p:nvSpPr>
              <p:cNvPr id="34" name="TextBox 34"/>
              <p:cNvSpPr txBox="1"/>
              <p:nvPr/>
            </p:nvSpPr>
            <p:spPr>
              <a:xfrm>
                <a:off x="3992118" y="5498782"/>
                <a:ext cx="1853470" cy="322707"/>
              </a:xfrm>
              <a:prstGeom prst="rect">
                <a:avLst/>
              </a:prstGeom>
              <a:noFill/>
              <a:ln>
                <a:noFill/>
              </a:ln>
            </p:spPr>
            <p:txBody>
              <a:bodyPr wrap="square" lIns="0" tIns="0" rIns="0" bIns="0" anchor="t" anchorCtr="0">
                <a:spAutoFit/>
              </a:bodyPr>
              <a:lstStyle/>
              <a:p>
                <a:pPr algn="l"/>
                <a:r>
                  <a:rPr lang="en" sz="1650" b="1" dirty="0">
                    <a:solidFill>
                      <a:srgbClr val="A94E00"/>
                    </a:solidFill>
                    <a:latin typeface="IBM Plex Mono"/>
                    <a:ea typeface="IBM Plex Mono"/>
                    <a:cs typeface="IBM Plex Mono"/>
                  </a:rPr>
                  <a:t>4380 / 4392</a:t>
                </a:r>
              </a:p>
            </p:txBody>
          </p:sp>
        </p:grpSp>
        <p:grpSp>
          <p:nvGrpSpPr>
            <p:cNvPr id="42" name="Group 42"/>
            <p:cNvGrpSpPr/>
            <p:nvPr/>
          </p:nvGrpSpPr>
          <p:grpSpPr>
            <a:xfrm>
              <a:off x="6278880" y="2466975"/>
              <a:ext cx="3920096" cy="3341370"/>
              <a:chOff x="6278880" y="2466975"/>
              <a:chExt cx="3920096" cy="3341370"/>
            </a:xfrm>
          </p:grpSpPr>
          <p:sp>
            <p:nvSpPr>
              <p:cNvPr id="36" name="TextBox 36"/>
              <p:cNvSpPr txBox="1"/>
              <p:nvPr/>
            </p:nvSpPr>
            <p:spPr>
              <a:xfrm>
                <a:off x="6278880" y="2466975"/>
                <a:ext cx="2386965"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National emergency</a:t>
                </a:r>
              </a:p>
            </p:txBody>
          </p:sp>
          <p:sp>
            <p:nvSpPr>
              <p:cNvPr id="37" name="TextBox 37"/>
              <p:cNvSpPr txBox="1"/>
              <p:nvPr/>
            </p:nvSpPr>
            <p:spPr>
              <a:xfrm>
                <a:off x="6278880" y="3076575"/>
                <a:ext cx="4798357"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Extreme threat, imminent or expected</a:t>
                </a:r>
              </a:p>
            </p:txBody>
          </p:sp>
          <p:sp>
            <p:nvSpPr>
              <p:cNvPr id="38" name="TextBox 38"/>
              <p:cNvSpPr txBox="1"/>
              <p:nvPr/>
            </p:nvSpPr>
            <p:spPr>
              <a:xfrm>
                <a:off x="6278880" y="3686175"/>
                <a:ext cx="4900120"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Severe threat, e.g. weather or hazard</a:t>
                </a:r>
              </a:p>
            </p:txBody>
          </p:sp>
          <p:sp>
            <p:nvSpPr>
              <p:cNvPr id="39" name="TextBox 39"/>
              <p:cNvSpPr txBox="1"/>
              <p:nvPr/>
            </p:nvSpPr>
            <p:spPr>
              <a:xfrm>
                <a:off x="6278880" y="4295775"/>
                <a:ext cx="1856440"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Child abduction</a:t>
                </a:r>
              </a:p>
            </p:txBody>
          </p:sp>
          <p:sp>
            <p:nvSpPr>
              <p:cNvPr id="40" name="TextBox 40"/>
              <p:cNvSpPr txBox="1"/>
              <p:nvPr/>
            </p:nvSpPr>
            <p:spPr>
              <a:xfrm>
                <a:off x="6278880" y="4905375"/>
                <a:ext cx="2942665"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Earthquake and tsunami</a:t>
                </a:r>
              </a:p>
            </p:txBody>
          </p:sp>
          <p:sp>
            <p:nvSpPr>
              <p:cNvPr id="41" name="TextBox 41"/>
              <p:cNvSpPr txBox="1"/>
              <p:nvPr/>
            </p:nvSpPr>
            <p:spPr>
              <a:xfrm>
                <a:off x="6278880" y="5514975"/>
                <a:ext cx="2614413" cy="293370"/>
              </a:xfrm>
              <a:prstGeom prst="rect">
                <a:avLst/>
              </a:prstGeom>
              <a:noFill/>
              <a:ln>
                <a:noFill/>
              </a:ln>
            </p:spPr>
            <p:txBody>
              <a:bodyPr wrap="square" lIns="0" tIns="0" rIns="0" bIns="0" anchor="t" anchorCtr="0">
                <a:spAutoFit/>
              </a:bodyPr>
              <a:lstStyle/>
              <a:p>
                <a:pPr algn="l"/>
                <a:r>
                  <a:rPr lang="en" sz="1500" dirty="0">
                    <a:solidFill>
                      <a:srgbClr val="1F3864"/>
                    </a:solidFill>
                    <a:latin typeface="+mn-lt"/>
                    <a:ea typeface="+mn-ea"/>
                    <a:cs typeface="+mn-cs"/>
                  </a:rPr>
                  <a:t>Monthly or local test</a:t>
                </a:r>
              </a:p>
            </p:txBody>
          </p:sp>
        </p:grpSp>
        <p:sp>
          <p:nvSpPr>
            <p:cNvPr id="43" name="Rectangle 43"/>
            <p:cNvSpPr/>
            <p:nvPr/>
          </p:nvSpPr>
          <p:spPr>
            <a:xfrm>
              <a:off x="10134600" y="2362200"/>
              <a:ext cx="1295400" cy="381000"/>
            </a:xfrm>
            <a:prstGeom prst="roundRect">
              <a:avLst>
                <a:gd name="adj" fmla="val 50000"/>
              </a:avLst>
            </a:prstGeom>
            <a:solidFill>
              <a:srgbClr val="1F3864"/>
            </a:solidFill>
            <a:ln>
              <a:noFill/>
            </a:ln>
          </p:spPr>
        </p:sp>
        <p:sp>
          <p:nvSpPr>
            <p:cNvPr id="44" name="TextBox 44"/>
            <p:cNvSpPr txBox="1"/>
            <p:nvPr/>
          </p:nvSpPr>
          <p:spPr>
            <a:xfrm>
              <a:off x="10243773" y="2488406"/>
              <a:ext cx="1077055" cy="220028"/>
            </a:xfrm>
            <a:prstGeom prst="rect">
              <a:avLst/>
            </a:prstGeom>
            <a:noFill/>
            <a:ln>
              <a:noFill/>
            </a:ln>
          </p:spPr>
          <p:txBody>
            <a:bodyPr wrap="square" lIns="0" tIns="0" rIns="0" bIns="0" anchor="t" anchorCtr="0">
              <a:spAutoFit/>
            </a:bodyPr>
            <a:lstStyle/>
            <a:p>
              <a:pPr algn="ctr"/>
              <a:r>
                <a:rPr lang="en" sz="1120" b="1" dirty="0">
                  <a:solidFill>
                    <a:srgbClr val="FFFFFF"/>
                  </a:solidFill>
                  <a:latin typeface="+mn-lt"/>
                  <a:ea typeface="+mn-ea"/>
                  <a:cs typeface="+mn-cs"/>
                </a:rPr>
                <a:t>No opt-out</a:t>
              </a:r>
            </a:p>
          </p:txBody>
        </p:sp>
        <p:sp>
          <p:nvSpPr>
            <p:cNvPr id="45" name="TextBox 45"/>
            <p:cNvSpPr txBox="1"/>
            <p:nvPr/>
          </p:nvSpPr>
          <p:spPr>
            <a:xfrm>
              <a:off x="604266" y="6039802"/>
              <a:ext cx="6503035" cy="205359"/>
            </a:xfrm>
            <a:prstGeom prst="rect">
              <a:avLst/>
            </a:prstGeom>
            <a:noFill/>
            <a:ln>
              <a:noFill/>
            </a:ln>
          </p:spPr>
          <p:txBody>
            <a:bodyPr wrap="square" lIns="0" tIns="0" rIns="0" bIns="0" anchor="t" anchorCtr="0">
              <a:spAutoFit/>
            </a:bodyPr>
            <a:lstStyle/>
            <a:p>
              <a:pPr algn="l"/>
              <a:r>
                <a:rPr lang="en" sz="1050" dirty="0">
                  <a:solidFill>
                    <a:srgbClr val="5B6477"/>
                  </a:solidFill>
                  <a:latin typeface="+mn-lt"/>
                  <a:ea typeface="+mn-ea"/>
                  <a:cs typeface="+mn-cs"/>
                </a:rPr>
                <a:t>Message identifiers per 3GPP TS 23.041; handsets already recognise them.</a:t>
              </a:r>
            </a:p>
          </p:txBody>
        </p:sp>
      </p:grpSp>
      <p:grpSp>
        <p:nvGrpSpPr>
          <p:cNvPr id="50" name="footer"/>
          <p:cNvGrpSpPr/>
          <p:nvPr/>
        </p:nvGrpSpPr>
        <p:grpSpPr>
          <a:xfrm>
            <a:off x="604838" y="6551295"/>
            <a:ext cx="10982324" cy="176212"/>
            <a:chOff x="604838" y="6551295"/>
            <a:chExt cx="10982324" cy="176212"/>
          </a:xfrm>
        </p:grpSpPr>
        <p:sp>
          <p:nvSpPr>
            <p:cNvPr id="47" name="TextBox 47"/>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48" name="TextBox 48"/>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49"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10306730" cy="917734"/>
            <a:chOff x="594360" y="640556"/>
            <a:chExt cx="10306730" cy="917734"/>
          </a:xfrm>
        </p:grpSpPr>
        <p:sp>
          <p:nvSpPr>
            <p:cNvPr id="3" name="TextBox 3"/>
            <p:cNvSpPr txBox="1"/>
            <p:nvPr/>
          </p:nvSpPr>
          <p:spPr>
            <a:xfrm>
              <a:off x="603885" y="640556"/>
              <a:ext cx="3510617"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APPENDIX · 3GPP ARCHITECTURE</a:t>
              </a:r>
            </a:p>
          </p:txBody>
        </p:sp>
        <p:sp>
          <p:nvSpPr>
            <p:cNvPr id="4" name="TextBox 4"/>
            <p:cNvSpPr txBox="1"/>
            <p:nvPr/>
          </p:nvSpPr>
          <p:spPr>
            <a:xfrm>
              <a:off x="594360" y="971550"/>
              <a:ext cx="12883412"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Five network elements from authority to handset</a:t>
              </a:r>
            </a:p>
          </p:txBody>
        </p:sp>
      </p:grpSp>
      <p:grpSp>
        <p:nvGrpSpPr>
          <p:cNvPr id="8" name="alert-sources"/>
          <p:cNvGrpSpPr/>
          <p:nvPr/>
        </p:nvGrpSpPr>
        <p:grpSpPr>
          <a:xfrm>
            <a:off x="602742" y="1810702"/>
            <a:ext cx="8441964" cy="517399"/>
            <a:chOff x="602742" y="1810702"/>
            <a:chExt cx="8441964" cy="517399"/>
          </a:xfrm>
        </p:grpSpPr>
        <p:sp>
          <p:nvSpPr>
            <p:cNvPr id="6" name="TextBox 6"/>
            <p:cNvSpPr txBox="1"/>
            <p:nvPr/>
          </p:nvSpPr>
          <p:spPr>
            <a:xfrm>
              <a:off x="604266" y="1810702"/>
              <a:ext cx="1629137"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ALERT SOURCES</a:t>
              </a:r>
            </a:p>
          </p:txBody>
        </p:sp>
        <p:sp>
          <p:nvSpPr>
            <p:cNvPr id="7" name="TextBox 7"/>
            <p:cNvSpPr txBox="1"/>
            <p:nvPr/>
          </p:nvSpPr>
          <p:spPr>
            <a:xfrm>
              <a:off x="602742" y="2064068"/>
              <a:ext cx="10552455" cy="264033"/>
            </a:xfrm>
            <a:prstGeom prst="rect">
              <a:avLst/>
            </a:prstGeom>
            <a:noFill/>
            <a:ln>
              <a:noFill/>
            </a:ln>
          </p:spPr>
          <p:txBody>
            <a:bodyPr wrap="square" lIns="0" tIns="0" rIns="0" bIns="0" anchor="t" anchorCtr="0">
              <a:spAutoFit/>
            </a:bodyPr>
            <a:lstStyle/>
            <a:p>
              <a:pPr algn="l"/>
              <a:r>
                <a:rPr lang="en" sz="1350" dirty="0">
                  <a:solidFill>
                    <a:srgbClr val="1F3864"/>
                  </a:solidFill>
                  <a:latin typeface="+mn-lt"/>
                  <a:ea typeface="+mn-ea"/>
                  <a:cs typeface="+mn-cs"/>
                </a:rPr>
                <a:t>Government / MINDEF · Météo and Protection Civile · Ministry of Health, sending CAP messages</a:t>
              </a:r>
            </a:p>
          </p:txBody>
        </p:sp>
      </p:grpSp>
      <p:grpSp>
        <p:nvGrpSpPr>
          <p:cNvPr id="56" name="pws-chain"/>
          <p:cNvGrpSpPr/>
          <p:nvPr/>
        </p:nvGrpSpPr>
        <p:grpSpPr>
          <a:xfrm>
            <a:off x="619125" y="2667952"/>
            <a:ext cx="10772775" cy="2440782"/>
            <a:chOff x="619125" y="2667952"/>
            <a:chExt cx="10772775" cy="2440782"/>
          </a:xfrm>
        </p:grpSpPr>
        <p:sp>
          <p:nvSpPr>
            <p:cNvPr id="9" name="TextBox 9"/>
            <p:cNvSpPr txBox="1"/>
            <p:nvPr/>
          </p:nvSpPr>
          <p:spPr>
            <a:xfrm>
              <a:off x="2954969" y="2667952"/>
              <a:ext cx="1424311" cy="205359"/>
            </a:xfrm>
            <a:prstGeom prst="rect">
              <a:avLst/>
            </a:prstGeom>
            <a:noFill/>
            <a:ln>
              <a:noFill/>
            </a:ln>
          </p:spPr>
          <p:txBody>
            <a:bodyPr wrap="square" lIns="0" tIns="0" rIns="0" bIns="0" anchor="t" anchorCtr="0">
              <a:spAutoFit/>
            </a:bodyPr>
            <a:lstStyle/>
            <a:p>
              <a:pPr algn="ctr"/>
              <a:r>
                <a:rPr lang="en" sz="1050" b="1" spc="90" dirty="0">
                  <a:solidFill>
                    <a:srgbClr val="A94E00"/>
                  </a:solidFill>
                  <a:latin typeface="+mn-lt"/>
                  <a:ea typeface="+mn-ea"/>
                  <a:cs typeface="+mn-cs"/>
                </a:rPr>
                <a:t>F2G CMAS HUB</a:t>
              </a:r>
            </a:p>
          </p:txBody>
        </p:sp>
        <p:grpSp>
          <p:nvGrpSpPr>
            <p:cNvPr id="13" name="Group 13"/>
            <p:cNvGrpSpPr/>
            <p:nvPr/>
          </p:nvGrpSpPr>
          <p:grpSpPr>
            <a:xfrm>
              <a:off x="619125" y="2971800"/>
              <a:ext cx="8429625" cy="914400"/>
              <a:chOff x="619125" y="2971800"/>
              <a:chExt cx="8429625" cy="914400"/>
            </a:xfrm>
          </p:grpSpPr>
          <p:sp>
            <p:nvSpPr>
              <p:cNvPr id="10" name="Rectangle 10"/>
              <p:cNvSpPr/>
              <p:nvPr/>
            </p:nvSpPr>
            <p:spPr>
              <a:xfrm>
                <a:off x="619125" y="2971800"/>
                <a:ext cx="1428750" cy="914400"/>
              </a:xfrm>
              <a:prstGeom prst="roundRect">
                <a:avLst>
                  <a:gd name="adj" fmla="val 16667"/>
                </a:avLst>
              </a:prstGeom>
              <a:solidFill>
                <a:srgbClr val="FFFFFF"/>
              </a:solidFill>
              <a:ln w="19050">
                <a:solidFill>
                  <a:srgbClr val="1F3864"/>
                </a:solidFill>
              </a:ln>
            </p:spPr>
          </p:sp>
          <p:sp>
            <p:nvSpPr>
              <p:cNvPr id="11" name="Rectangle 11"/>
              <p:cNvSpPr/>
              <p:nvPr/>
            </p:nvSpPr>
            <p:spPr>
              <a:xfrm>
                <a:off x="5286375" y="2971800"/>
                <a:ext cx="1428750" cy="914400"/>
              </a:xfrm>
              <a:prstGeom prst="roundRect">
                <a:avLst>
                  <a:gd name="adj" fmla="val 16667"/>
                </a:avLst>
              </a:prstGeom>
              <a:solidFill>
                <a:srgbClr val="FFFFFF"/>
              </a:solidFill>
              <a:ln w="19050">
                <a:solidFill>
                  <a:srgbClr val="1F3864"/>
                </a:solidFill>
              </a:ln>
            </p:spPr>
          </p:sp>
          <p:sp>
            <p:nvSpPr>
              <p:cNvPr id="12" name="Rectangle 12"/>
              <p:cNvSpPr/>
              <p:nvPr/>
            </p:nvSpPr>
            <p:spPr>
              <a:xfrm>
                <a:off x="7620000" y="2971800"/>
                <a:ext cx="1428750" cy="914400"/>
              </a:xfrm>
              <a:prstGeom prst="roundRect">
                <a:avLst>
                  <a:gd name="adj" fmla="val 16667"/>
                </a:avLst>
              </a:prstGeom>
              <a:solidFill>
                <a:srgbClr val="FFFFFF"/>
              </a:solidFill>
              <a:ln w="19050">
                <a:solidFill>
                  <a:srgbClr val="1F3864"/>
                </a:solidFill>
              </a:ln>
            </p:spPr>
          </p:sp>
        </p:grpSp>
        <p:sp>
          <p:nvSpPr>
            <p:cNvPr id="14" name="Rectangle 14"/>
            <p:cNvSpPr/>
            <p:nvPr/>
          </p:nvSpPr>
          <p:spPr>
            <a:xfrm>
              <a:off x="2952750" y="2971800"/>
              <a:ext cx="1428750" cy="914400"/>
            </a:xfrm>
            <a:prstGeom prst="roundRect">
              <a:avLst>
                <a:gd name="adj" fmla="val 16667"/>
              </a:avLst>
            </a:prstGeom>
            <a:solidFill>
              <a:srgbClr val="EC8236"/>
            </a:solidFill>
            <a:ln>
              <a:noFill/>
            </a:ln>
          </p:spPr>
        </p:sp>
        <p:sp>
          <p:nvSpPr>
            <p:cNvPr id="15" name="Rectangle 15"/>
            <p:cNvSpPr/>
            <p:nvPr/>
          </p:nvSpPr>
          <p:spPr>
            <a:xfrm>
              <a:off x="9953625" y="2971800"/>
              <a:ext cx="1428750" cy="914400"/>
            </a:xfrm>
            <a:prstGeom prst="roundRect">
              <a:avLst>
                <a:gd name="adj" fmla="val 16667"/>
              </a:avLst>
            </a:prstGeom>
            <a:solidFill>
              <a:srgbClr val="1F3864"/>
            </a:solidFill>
            <a:ln>
              <a:noFill/>
            </a:ln>
          </p:spPr>
        </p:sp>
        <p:grpSp>
          <p:nvGrpSpPr>
            <p:cNvPr id="20" name="Group 20"/>
            <p:cNvGrpSpPr/>
            <p:nvPr/>
          </p:nvGrpSpPr>
          <p:grpSpPr>
            <a:xfrm>
              <a:off x="2066925" y="3429000"/>
              <a:ext cx="7848600" cy="1"/>
              <a:chOff x="2066925" y="3429000"/>
              <a:chExt cx="7848600" cy="1"/>
            </a:xfrm>
          </p:grpSpPr>
          <p:sp>
            <p:nvSpPr>
              <p:cNvPr id="16" name="Line 16"/>
              <p:cNvSpPr/>
              <p:nvPr/>
            </p:nvSpPr>
            <p:spPr>
              <a:xfrm>
                <a:off x="2066925" y="3429000"/>
                <a:ext cx="847725" cy="1"/>
              </a:xfrm>
              <a:prstGeom prst="line">
                <a:avLst/>
              </a:prstGeom>
              <a:noFill/>
              <a:ln w="23812">
                <a:solidFill>
                  <a:srgbClr val="1F3864"/>
                </a:solidFill>
                <a:tailEnd type="triangle" w="lg" len="lg"/>
              </a:ln>
            </p:spPr>
          </p:sp>
          <p:sp>
            <p:nvSpPr>
              <p:cNvPr id="17" name="Line 17"/>
              <p:cNvSpPr/>
              <p:nvPr/>
            </p:nvSpPr>
            <p:spPr>
              <a:xfrm>
                <a:off x="4400550" y="3429000"/>
                <a:ext cx="847725" cy="1"/>
              </a:xfrm>
              <a:prstGeom prst="line">
                <a:avLst/>
              </a:prstGeom>
              <a:noFill/>
              <a:ln w="23812">
                <a:solidFill>
                  <a:srgbClr val="1F3864"/>
                </a:solidFill>
                <a:tailEnd type="triangle" w="lg" len="lg"/>
              </a:ln>
            </p:spPr>
          </p:sp>
          <p:sp>
            <p:nvSpPr>
              <p:cNvPr id="18" name="Line 18"/>
              <p:cNvSpPr/>
              <p:nvPr/>
            </p:nvSpPr>
            <p:spPr>
              <a:xfrm>
                <a:off x="6734175" y="3429000"/>
                <a:ext cx="847725" cy="1"/>
              </a:xfrm>
              <a:prstGeom prst="line">
                <a:avLst/>
              </a:prstGeom>
              <a:noFill/>
              <a:ln w="23812">
                <a:solidFill>
                  <a:srgbClr val="1F3864"/>
                </a:solidFill>
                <a:tailEnd type="triangle" w="lg" len="lg"/>
              </a:ln>
            </p:spPr>
          </p:sp>
          <p:sp>
            <p:nvSpPr>
              <p:cNvPr id="19" name="Line 19"/>
              <p:cNvSpPr/>
              <p:nvPr/>
            </p:nvSpPr>
            <p:spPr>
              <a:xfrm>
                <a:off x="9067800" y="3429000"/>
                <a:ext cx="847725" cy="1"/>
              </a:xfrm>
              <a:prstGeom prst="line">
                <a:avLst/>
              </a:prstGeom>
              <a:noFill/>
              <a:ln w="23812">
                <a:solidFill>
                  <a:srgbClr val="1F3864"/>
                </a:solidFill>
                <a:tailEnd type="triangle" w="lg" len="lg"/>
              </a:ln>
            </p:spPr>
          </p:sp>
        </p:grpSp>
        <p:grpSp>
          <p:nvGrpSpPr>
            <p:cNvPr id="26" name="Group 26"/>
            <p:cNvGrpSpPr/>
            <p:nvPr/>
          </p:nvGrpSpPr>
          <p:grpSpPr>
            <a:xfrm>
              <a:off x="1083324" y="3237548"/>
              <a:ext cx="9754762" cy="381381"/>
              <a:chOff x="1083324" y="3237548"/>
              <a:chExt cx="9754762" cy="381381"/>
            </a:xfrm>
          </p:grpSpPr>
          <p:sp>
            <p:nvSpPr>
              <p:cNvPr id="21" name="TextBox 21"/>
              <p:cNvSpPr txBox="1"/>
              <p:nvPr/>
            </p:nvSpPr>
            <p:spPr>
              <a:xfrm>
                <a:off x="969024" y="3237548"/>
                <a:ext cx="728952" cy="381381"/>
              </a:xfrm>
              <a:prstGeom prst="rect">
                <a:avLst/>
              </a:prstGeom>
              <a:noFill/>
              <a:ln>
                <a:noFill/>
              </a:ln>
            </p:spPr>
            <p:txBody>
              <a:bodyPr wrap="square" lIns="0" tIns="0" rIns="0" bIns="0" anchor="t" anchorCtr="0">
                <a:spAutoFit/>
              </a:bodyPr>
              <a:lstStyle/>
              <a:p>
                <a:pPr algn="ctr"/>
                <a:r>
                  <a:rPr lang="en" sz="1950" b="1" dirty="0">
                    <a:solidFill>
                      <a:srgbClr val="1F3864"/>
                    </a:solidFill>
                    <a:latin typeface="Baloo 2"/>
                    <a:ea typeface="Baloo 2"/>
                    <a:cs typeface="Baloo 2"/>
                  </a:rPr>
                  <a:t>CBE</a:t>
                </a:r>
              </a:p>
            </p:txBody>
          </p:sp>
          <p:sp>
            <p:nvSpPr>
              <p:cNvPr id="22" name="TextBox 22"/>
              <p:cNvSpPr txBox="1"/>
              <p:nvPr/>
            </p:nvSpPr>
            <p:spPr>
              <a:xfrm>
                <a:off x="3302649" y="3237548"/>
                <a:ext cx="728952" cy="381381"/>
              </a:xfrm>
              <a:prstGeom prst="rect">
                <a:avLst/>
              </a:prstGeom>
              <a:noFill/>
              <a:ln>
                <a:noFill/>
              </a:ln>
            </p:spPr>
            <p:txBody>
              <a:bodyPr wrap="square" lIns="0" tIns="0" rIns="0" bIns="0" anchor="t" anchorCtr="0">
                <a:spAutoFit/>
              </a:bodyPr>
              <a:lstStyle/>
              <a:p>
                <a:pPr algn="ctr"/>
                <a:r>
                  <a:rPr lang="en" sz="1950" b="1" dirty="0">
                    <a:solidFill>
                      <a:srgbClr val="172A4C"/>
                    </a:solidFill>
                    <a:latin typeface="Baloo 2"/>
                    <a:ea typeface="Baloo 2"/>
                    <a:cs typeface="Baloo 2"/>
                  </a:rPr>
                  <a:t>CBC</a:t>
                </a:r>
              </a:p>
            </p:txBody>
          </p:sp>
          <p:sp>
            <p:nvSpPr>
              <p:cNvPr id="23" name="TextBox 23"/>
              <p:cNvSpPr txBox="1"/>
              <p:nvPr/>
            </p:nvSpPr>
            <p:spPr>
              <a:xfrm>
                <a:off x="5069153" y="3237548"/>
                <a:ext cx="1863195" cy="381381"/>
              </a:xfrm>
              <a:prstGeom prst="rect">
                <a:avLst/>
              </a:prstGeom>
              <a:noFill/>
              <a:ln>
                <a:noFill/>
              </a:ln>
            </p:spPr>
            <p:txBody>
              <a:bodyPr wrap="square" lIns="0" tIns="0" rIns="0" bIns="0" anchor="t" anchorCtr="0">
                <a:spAutoFit/>
              </a:bodyPr>
              <a:lstStyle/>
              <a:p>
                <a:pPr algn="ctr"/>
                <a:r>
                  <a:rPr lang="en" sz="1950" b="1" dirty="0">
                    <a:solidFill>
                      <a:srgbClr val="1F3864"/>
                    </a:solidFill>
                    <a:latin typeface="Baloo 2"/>
                    <a:ea typeface="Baloo 2"/>
                    <a:cs typeface="Baloo 2"/>
                  </a:rPr>
                  <a:t>MME / AMF</a:t>
                </a:r>
              </a:p>
            </p:txBody>
          </p:sp>
          <p:sp>
            <p:nvSpPr>
              <p:cNvPr id="24" name="TextBox 24"/>
              <p:cNvSpPr txBox="1"/>
              <p:nvPr/>
            </p:nvSpPr>
            <p:spPr>
              <a:xfrm>
                <a:off x="7526456" y="3237548"/>
                <a:ext cx="1615838" cy="381381"/>
              </a:xfrm>
              <a:prstGeom prst="rect">
                <a:avLst/>
              </a:prstGeom>
              <a:noFill/>
              <a:ln>
                <a:noFill/>
              </a:ln>
            </p:spPr>
            <p:txBody>
              <a:bodyPr wrap="square" lIns="0" tIns="0" rIns="0" bIns="0" anchor="t" anchorCtr="0">
                <a:spAutoFit/>
              </a:bodyPr>
              <a:lstStyle/>
              <a:p>
                <a:pPr algn="ctr"/>
                <a:r>
                  <a:rPr lang="en" sz="1950" b="1" dirty="0">
                    <a:solidFill>
                      <a:srgbClr val="1F3864"/>
                    </a:solidFill>
                    <a:latin typeface="Baloo 2"/>
                    <a:ea typeface="Baloo 2"/>
                    <a:cs typeface="Baloo 2"/>
                  </a:rPr>
                  <a:t>eNB / gNB</a:t>
                </a:r>
              </a:p>
            </p:txBody>
          </p:sp>
          <p:sp>
            <p:nvSpPr>
              <p:cNvPr id="25" name="TextBox 25"/>
              <p:cNvSpPr txBox="1"/>
              <p:nvPr/>
            </p:nvSpPr>
            <p:spPr>
              <a:xfrm>
                <a:off x="10383614" y="3237548"/>
                <a:ext cx="568772" cy="381381"/>
              </a:xfrm>
              <a:prstGeom prst="rect">
                <a:avLst/>
              </a:prstGeom>
              <a:noFill/>
              <a:ln>
                <a:noFill/>
              </a:ln>
            </p:spPr>
            <p:txBody>
              <a:bodyPr wrap="square" lIns="0" tIns="0" rIns="0" bIns="0" anchor="t" anchorCtr="0">
                <a:spAutoFit/>
              </a:bodyPr>
              <a:lstStyle/>
              <a:p>
                <a:pPr algn="ctr"/>
                <a:r>
                  <a:rPr lang="en" sz="1950" b="1" dirty="0">
                    <a:solidFill>
                      <a:srgbClr val="FFFFFF"/>
                    </a:solidFill>
                    <a:latin typeface="Baloo 2"/>
                    <a:ea typeface="Baloo 2"/>
                    <a:cs typeface="Baloo 2"/>
                  </a:rPr>
                  <a:t>UE</a:t>
                </a:r>
              </a:p>
            </p:txBody>
          </p:sp>
        </p:grpSp>
        <p:grpSp>
          <p:nvGrpSpPr>
            <p:cNvPr id="32" name="Group 32"/>
            <p:cNvGrpSpPr/>
            <p:nvPr/>
          </p:nvGrpSpPr>
          <p:grpSpPr>
            <a:xfrm>
              <a:off x="933697" y="3582352"/>
              <a:ext cx="10013938" cy="205359"/>
              <a:chOff x="933697" y="3582352"/>
              <a:chExt cx="10013938" cy="205359"/>
            </a:xfrm>
          </p:grpSpPr>
          <p:sp>
            <p:nvSpPr>
              <p:cNvPr id="27" name="TextBox 27"/>
              <p:cNvSpPr txBox="1"/>
              <p:nvPr/>
            </p:nvSpPr>
            <p:spPr>
              <a:xfrm>
                <a:off x="819397" y="3582352"/>
                <a:ext cx="1028207"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Alert entry</a:t>
                </a:r>
              </a:p>
            </p:txBody>
          </p:sp>
          <p:sp>
            <p:nvSpPr>
              <p:cNvPr id="28" name="TextBox 28"/>
              <p:cNvSpPr txBox="1"/>
              <p:nvPr/>
            </p:nvSpPr>
            <p:spPr>
              <a:xfrm>
                <a:off x="2902263" y="3582352"/>
                <a:ext cx="1529725" cy="205359"/>
              </a:xfrm>
              <a:prstGeom prst="rect">
                <a:avLst/>
              </a:prstGeom>
              <a:noFill/>
              <a:ln>
                <a:noFill/>
              </a:ln>
            </p:spPr>
            <p:txBody>
              <a:bodyPr wrap="square" lIns="0" tIns="0" rIns="0" bIns="0" anchor="t" anchorCtr="0">
                <a:spAutoFit/>
              </a:bodyPr>
              <a:lstStyle/>
              <a:p>
                <a:pPr algn="ctr"/>
                <a:r>
                  <a:rPr lang="en" sz="1050" dirty="0">
                    <a:solidFill>
                      <a:srgbClr val="172A4C"/>
                    </a:solidFill>
                    <a:latin typeface="+mn-lt"/>
                    <a:ea typeface="+mn-ea"/>
                    <a:cs typeface="+mn-cs"/>
                  </a:rPr>
                  <a:t>Broadcast centre</a:t>
                </a:r>
              </a:p>
            </p:txBody>
          </p:sp>
          <p:sp>
            <p:nvSpPr>
              <p:cNvPr id="29" name="TextBox 29"/>
              <p:cNvSpPr txBox="1"/>
              <p:nvPr/>
            </p:nvSpPr>
            <p:spPr>
              <a:xfrm>
                <a:off x="5412449" y="3582352"/>
                <a:ext cx="1176601"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Core network</a:t>
                </a:r>
              </a:p>
            </p:txBody>
          </p:sp>
          <p:sp>
            <p:nvSpPr>
              <p:cNvPr id="30" name="TextBox 30"/>
              <p:cNvSpPr txBox="1"/>
              <p:nvPr/>
            </p:nvSpPr>
            <p:spPr>
              <a:xfrm>
                <a:off x="7855809" y="3582352"/>
                <a:ext cx="957131" cy="205359"/>
              </a:xfrm>
              <a:prstGeom prst="rect">
                <a:avLst/>
              </a:prstGeom>
              <a:noFill/>
              <a:ln>
                <a:noFill/>
              </a:ln>
            </p:spPr>
            <p:txBody>
              <a:bodyPr wrap="square" lIns="0" tIns="0" rIns="0" bIns="0" anchor="t" anchorCtr="0">
                <a:spAutoFit/>
              </a:bodyPr>
              <a:lstStyle/>
              <a:p>
                <a:pPr algn="ctr"/>
                <a:r>
                  <a:rPr lang="en" sz="1050" dirty="0">
                    <a:solidFill>
                      <a:srgbClr val="5B6477"/>
                    </a:solidFill>
                    <a:latin typeface="+mn-lt"/>
                    <a:ea typeface="+mn-ea"/>
                    <a:cs typeface="+mn-cs"/>
                  </a:rPr>
                  <a:t>Radio cells</a:t>
                </a:r>
              </a:p>
            </p:txBody>
          </p:sp>
          <p:sp>
            <p:nvSpPr>
              <p:cNvPr id="31" name="TextBox 31"/>
              <p:cNvSpPr txBox="1"/>
              <p:nvPr/>
            </p:nvSpPr>
            <p:spPr>
              <a:xfrm>
                <a:off x="10274065" y="3582352"/>
                <a:ext cx="787870" cy="205359"/>
              </a:xfrm>
              <a:prstGeom prst="rect">
                <a:avLst/>
              </a:prstGeom>
              <a:noFill/>
              <a:ln>
                <a:noFill/>
              </a:ln>
            </p:spPr>
            <p:txBody>
              <a:bodyPr wrap="square" lIns="0" tIns="0" rIns="0" bIns="0" anchor="t" anchorCtr="0">
                <a:spAutoFit/>
              </a:bodyPr>
              <a:lstStyle/>
              <a:p>
                <a:pPr algn="ctr"/>
                <a:r>
                  <a:rPr lang="en" sz="1050" dirty="0">
                    <a:solidFill>
                      <a:srgbClr val="C9D2E3"/>
                    </a:solidFill>
                    <a:latin typeface="+mn-lt"/>
                    <a:ea typeface="+mn-ea"/>
                    <a:cs typeface="+mn-cs"/>
                  </a:rPr>
                  <a:t>Handset</a:t>
                </a:r>
              </a:p>
            </p:txBody>
          </p:sp>
        </p:grpSp>
        <p:grpSp>
          <p:nvGrpSpPr>
            <p:cNvPr id="37" name="Group 37"/>
            <p:cNvGrpSpPr/>
            <p:nvPr/>
          </p:nvGrpSpPr>
          <p:grpSpPr>
            <a:xfrm>
              <a:off x="2355799" y="4115752"/>
              <a:ext cx="7638821" cy="205359"/>
              <a:chOff x="2355799" y="4115752"/>
              <a:chExt cx="7638821" cy="205359"/>
            </a:xfrm>
          </p:grpSpPr>
          <p:sp>
            <p:nvSpPr>
              <p:cNvPr id="33" name="TextBox 33"/>
              <p:cNvSpPr txBox="1"/>
              <p:nvPr/>
            </p:nvSpPr>
            <p:spPr>
              <a:xfrm>
                <a:off x="2241499" y="4115752"/>
                <a:ext cx="508102" cy="205359"/>
              </a:xfrm>
              <a:prstGeom prst="rect">
                <a:avLst/>
              </a:prstGeom>
              <a:noFill/>
              <a:ln>
                <a:noFill/>
              </a:ln>
            </p:spPr>
            <p:txBody>
              <a:bodyPr wrap="square" lIns="0" tIns="0" rIns="0" bIns="0" anchor="t" anchorCtr="0">
                <a:spAutoFit/>
              </a:bodyPr>
              <a:lstStyle/>
              <a:p>
                <a:pPr algn="ctr"/>
                <a:r>
                  <a:rPr lang="en" sz="1050" b="1" dirty="0">
                    <a:solidFill>
                      <a:srgbClr val="A94E00"/>
                    </a:solidFill>
                    <a:latin typeface="IBM Plex Mono"/>
                    <a:ea typeface="IBM Plex Mono"/>
                    <a:cs typeface="IBM Plex Mono"/>
                  </a:rPr>
                  <a:t>CAP</a:t>
                </a:r>
              </a:p>
            </p:txBody>
          </p:sp>
          <p:sp>
            <p:nvSpPr>
              <p:cNvPr id="34" name="TextBox 34"/>
              <p:cNvSpPr txBox="1"/>
              <p:nvPr/>
            </p:nvSpPr>
            <p:spPr>
              <a:xfrm>
                <a:off x="4443588" y="4115752"/>
                <a:ext cx="771174" cy="205359"/>
              </a:xfrm>
              <a:prstGeom prst="rect">
                <a:avLst/>
              </a:prstGeom>
              <a:noFill/>
              <a:ln>
                <a:noFill/>
              </a:ln>
            </p:spPr>
            <p:txBody>
              <a:bodyPr wrap="square" lIns="0" tIns="0" rIns="0" bIns="0" anchor="t" anchorCtr="0">
                <a:spAutoFit/>
              </a:bodyPr>
              <a:lstStyle/>
              <a:p>
                <a:pPr algn="ctr"/>
                <a:r>
                  <a:rPr lang="en" sz="1050" b="1" dirty="0">
                    <a:solidFill>
                      <a:srgbClr val="A94E00"/>
                    </a:solidFill>
                    <a:latin typeface="IBM Plex Mono"/>
                    <a:ea typeface="IBM Plex Mono"/>
                    <a:cs typeface="IBM Plex Mono"/>
                  </a:rPr>
                  <a:t>SBc-AP</a:t>
                </a:r>
              </a:p>
            </p:txBody>
          </p:sp>
          <p:sp>
            <p:nvSpPr>
              <p:cNvPr id="35" name="TextBox 35"/>
              <p:cNvSpPr txBox="1"/>
              <p:nvPr/>
            </p:nvSpPr>
            <p:spPr>
              <a:xfrm>
                <a:off x="6484049" y="4115752"/>
                <a:ext cx="1357502" cy="205359"/>
              </a:xfrm>
              <a:prstGeom prst="rect">
                <a:avLst/>
              </a:prstGeom>
              <a:noFill/>
              <a:ln>
                <a:noFill/>
              </a:ln>
            </p:spPr>
            <p:txBody>
              <a:bodyPr wrap="square" lIns="0" tIns="0" rIns="0" bIns="0" anchor="t" anchorCtr="0">
                <a:spAutoFit/>
              </a:bodyPr>
              <a:lstStyle/>
              <a:p>
                <a:pPr algn="ctr"/>
                <a:r>
                  <a:rPr lang="en" sz="1050" b="1" dirty="0">
                    <a:solidFill>
                      <a:srgbClr val="A94E00"/>
                    </a:solidFill>
                    <a:latin typeface="IBM Plex Mono"/>
                    <a:ea typeface="IBM Plex Mono"/>
                    <a:cs typeface="IBM Plex Mono"/>
                  </a:rPr>
                  <a:t>S1-AP / NGAP</a:t>
                </a:r>
              </a:p>
            </p:txBody>
          </p:sp>
          <p:sp>
            <p:nvSpPr>
              <p:cNvPr id="36" name="TextBox 36"/>
              <p:cNvSpPr txBox="1"/>
              <p:nvPr/>
            </p:nvSpPr>
            <p:spPr>
              <a:xfrm>
                <a:off x="8873681" y="4115752"/>
                <a:ext cx="1245488" cy="205359"/>
              </a:xfrm>
              <a:prstGeom prst="rect">
                <a:avLst/>
              </a:prstGeom>
              <a:noFill/>
              <a:ln>
                <a:noFill/>
              </a:ln>
            </p:spPr>
            <p:txBody>
              <a:bodyPr wrap="square" lIns="0" tIns="0" rIns="0" bIns="0" anchor="t" anchorCtr="0">
                <a:spAutoFit/>
              </a:bodyPr>
              <a:lstStyle/>
              <a:p>
                <a:pPr algn="ctr"/>
                <a:r>
                  <a:rPr lang="en" sz="1050" b="1" dirty="0">
                    <a:solidFill>
                      <a:srgbClr val="A94E00"/>
                    </a:solidFill>
                    <a:latin typeface="IBM Plex Mono"/>
                    <a:ea typeface="IBM Plex Mono"/>
                    <a:cs typeface="IBM Plex Mono"/>
                  </a:rPr>
                  <a:t>SIB10/11/12</a:t>
                </a:r>
              </a:p>
            </p:txBody>
          </p:sp>
        </p:grpSp>
        <p:grpSp>
          <p:nvGrpSpPr>
            <p:cNvPr id="50" name="Group 50"/>
            <p:cNvGrpSpPr/>
            <p:nvPr/>
          </p:nvGrpSpPr>
          <p:grpSpPr>
            <a:xfrm>
              <a:off x="619125" y="4686300"/>
              <a:ext cx="10772775" cy="85725"/>
              <a:chOff x="619125" y="4686300"/>
              <a:chExt cx="10772775" cy="85725"/>
            </a:xfrm>
          </p:grpSpPr>
          <p:sp>
            <p:nvSpPr>
              <p:cNvPr id="38" name="Line 38"/>
              <p:cNvSpPr/>
              <p:nvPr/>
            </p:nvSpPr>
            <p:spPr>
              <a:xfrm>
                <a:off x="619125" y="4762500"/>
                <a:ext cx="1428750" cy="9525"/>
              </a:xfrm>
              <a:custGeom>
                <a:avLst/>
                <a:gdLst/>
                <a:ahLst/>
                <a:cxnLst/>
                <a:rect l="l" t="t" r="r" b="b"/>
                <a:pathLst>
                  <a:path w="1428750" h="9525">
                    <a:moveTo>
                      <a:pt x="0" y="0"/>
                    </a:moveTo>
                    <a:lnTo>
                      <a:pt x="1428750" y="0"/>
                    </a:lnTo>
                  </a:path>
                </a:pathLst>
              </a:custGeom>
              <a:noFill/>
              <a:ln w="19050">
                <a:solidFill>
                  <a:srgbClr val="8FA0C0"/>
                </a:solidFill>
              </a:ln>
            </p:spPr>
          </p:sp>
          <p:sp>
            <p:nvSpPr>
              <p:cNvPr id="39" name="Line 39"/>
              <p:cNvSpPr/>
              <p:nvPr/>
            </p:nvSpPr>
            <p:spPr>
              <a:xfrm>
                <a:off x="2952750" y="4762500"/>
                <a:ext cx="1428750" cy="9525"/>
              </a:xfrm>
              <a:custGeom>
                <a:avLst/>
                <a:gdLst/>
                <a:ahLst/>
                <a:cxnLst/>
                <a:rect l="l" t="t" r="r" b="b"/>
                <a:pathLst>
                  <a:path w="1428750" h="9525">
                    <a:moveTo>
                      <a:pt x="0" y="0"/>
                    </a:moveTo>
                    <a:lnTo>
                      <a:pt x="1428750" y="0"/>
                    </a:lnTo>
                  </a:path>
                </a:pathLst>
              </a:custGeom>
              <a:noFill/>
              <a:ln w="19050">
                <a:solidFill>
                  <a:srgbClr val="8FA0C0"/>
                </a:solidFill>
              </a:ln>
            </p:spPr>
          </p:sp>
          <p:sp>
            <p:nvSpPr>
              <p:cNvPr id="40" name="Line 40"/>
              <p:cNvSpPr/>
              <p:nvPr/>
            </p:nvSpPr>
            <p:spPr>
              <a:xfrm>
                <a:off x="5286375" y="4762500"/>
                <a:ext cx="3762375" cy="9525"/>
              </a:xfrm>
              <a:custGeom>
                <a:avLst/>
                <a:gdLst/>
                <a:ahLst/>
                <a:cxnLst/>
                <a:rect l="l" t="t" r="r" b="b"/>
                <a:pathLst>
                  <a:path w="3762375" h="9525">
                    <a:moveTo>
                      <a:pt x="0" y="0"/>
                    </a:moveTo>
                    <a:lnTo>
                      <a:pt x="3762375" y="0"/>
                    </a:lnTo>
                  </a:path>
                </a:pathLst>
              </a:custGeom>
              <a:noFill/>
              <a:ln w="19050">
                <a:solidFill>
                  <a:srgbClr val="8FA0C0"/>
                </a:solidFill>
              </a:ln>
            </p:spPr>
          </p:sp>
          <p:sp>
            <p:nvSpPr>
              <p:cNvPr id="41" name="Line 41"/>
              <p:cNvSpPr/>
              <p:nvPr/>
            </p:nvSpPr>
            <p:spPr>
              <a:xfrm>
                <a:off x="9953625" y="4762500"/>
                <a:ext cx="1428750" cy="9525"/>
              </a:xfrm>
              <a:custGeom>
                <a:avLst/>
                <a:gdLst/>
                <a:ahLst/>
                <a:cxnLst/>
                <a:rect l="l" t="t" r="r" b="b"/>
                <a:pathLst>
                  <a:path w="1428750" h="9525">
                    <a:moveTo>
                      <a:pt x="0" y="0"/>
                    </a:moveTo>
                    <a:lnTo>
                      <a:pt x="1428750" y="0"/>
                    </a:lnTo>
                  </a:path>
                </a:pathLst>
              </a:custGeom>
              <a:noFill/>
              <a:ln w="19050">
                <a:solidFill>
                  <a:srgbClr val="8FA0C0"/>
                </a:solidFill>
              </a:ln>
            </p:spPr>
          </p:sp>
          <p:sp>
            <p:nvSpPr>
              <p:cNvPr id="42" name="Line 42"/>
              <p:cNvSpPr/>
              <p:nvPr/>
            </p:nvSpPr>
            <p:spPr>
              <a:xfrm>
                <a:off x="619125"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3" name="Line 43"/>
              <p:cNvSpPr/>
              <p:nvPr/>
            </p:nvSpPr>
            <p:spPr>
              <a:xfrm>
                <a:off x="2047875"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4" name="Line 44"/>
              <p:cNvSpPr/>
              <p:nvPr/>
            </p:nvSpPr>
            <p:spPr>
              <a:xfrm>
                <a:off x="2952750"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5" name="Line 45"/>
              <p:cNvSpPr/>
              <p:nvPr/>
            </p:nvSpPr>
            <p:spPr>
              <a:xfrm>
                <a:off x="4381500"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6" name="Line 46"/>
              <p:cNvSpPr/>
              <p:nvPr/>
            </p:nvSpPr>
            <p:spPr>
              <a:xfrm>
                <a:off x="5286375"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7" name="Line 47"/>
              <p:cNvSpPr/>
              <p:nvPr/>
            </p:nvSpPr>
            <p:spPr>
              <a:xfrm>
                <a:off x="9048750"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8" name="Line 48"/>
              <p:cNvSpPr/>
              <p:nvPr/>
            </p:nvSpPr>
            <p:spPr>
              <a:xfrm>
                <a:off x="9953625" y="4686300"/>
                <a:ext cx="9525" cy="76200"/>
              </a:xfrm>
              <a:custGeom>
                <a:avLst/>
                <a:gdLst/>
                <a:ahLst/>
                <a:cxnLst/>
                <a:rect l="l" t="t" r="r" b="b"/>
                <a:pathLst>
                  <a:path w="9525" h="76200">
                    <a:moveTo>
                      <a:pt x="0" y="0"/>
                    </a:moveTo>
                    <a:lnTo>
                      <a:pt x="0" y="76200"/>
                    </a:lnTo>
                  </a:path>
                </a:pathLst>
              </a:custGeom>
              <a:noFill/>
              <a:ln w="19050">
                <a:solidFill>
                  <a:srgbClr val="8FA0C0"/>
                </a:solidFill>
              </a:ln>
            </p:spPr>
          </p:sp>
          <p:sp>
            <p:nvSpPr>
              <p:cNvPr id="49" name="Line 49"/>
              <p:cNvSpPr/>
              <p:nvPr/>
            </p:nvSpPr>
            <p:spPr>
              <a:xfrm>
                <a:off x="11382375" y="4686300"/>
                <a:ext cx="9525" cy="76200"/>
              </a:xfrm>
              <a:custGeom>
                <a:avLst/>
                <a:gdLst/>
                <a:ahLst/>
                <a:cxnLst/>
                <a:rect l="l" t="t" r="r" b="b"/>
                <a:pathLst>
                  <a:path w="9525" h="76200">
                    <a:moveTo>
                      <a:pt x="0" y="0"/>
                    </a:moveTo>
                    <a:lnTo>
                      <a:pt x="0" y="76200"/>
                    </a:lnTo>
                  </a:path>
                </a:pathLst>
              </a:custGeom>
              <a:noFill/>
              <a:ln w="19050">
                <a:solidFill>
                  <a:srgbClr val="8FA0C0"/>
                </a:solidFill>
              </a:ln>
            </p:spPr>
          </p:sp>
        </p:grpSp>
        <p:grpSp>
          <p:nvGrpSpPr>
            <p:cNvPr id="55" name="Group 55"/>
            <p:cNvGrpSpPr/>
            <p:nvPr/>
          </p:nvGrpSpPr>
          <p:grpSpPr>
            <a:xfrm>
              <a:off x="953409" y="4888706"/>
              <a:ext cx="9944036" cy="220028"/>
              <a:chOff x="953409" y="4888706"/>
              <a:chExt cx="9944036" cy="220028"/>
            </a:xfrm>
          </p:grpSpPr>
          <p:sp>
            <p:nvSpPr>
              <p:cNvPr id="51" name="TextBox 51"/>
              <p:cNvSpPr txBox="1"/>
              <p:nvPr/>
            </p:nvSpPr>
            <p:spPr>
              <a:xfrm>
                <a:off x="839109" y="4888706"/>
                <a:ext cx="988781" cy="220028"/>
              </a:xfrm>
              <a:prstGeom prst="rect">
                <a:avLst/>
              </a:prstGeom>
              <a:noFill/>
              <a:ln>
                <a:noFill/>
              </a:ln>
            </p:spPr>
            <p:txBody>
              <a:bodyPr wrap="square" lIns="0" tIns="0" rIns="0" bIns="0" anchor="t" anchorCtr="0">
                <a:spAutoFit/>
              </a:bodyPr>
              <a:lstStyle/>
              <a:p>
                <a:pPr algn="ctr"/>
                <a:r>
                  <a:rPr lang="en" sz="1120" b="1" dirty="0">
                    <a:solidFill>
                      <a:srgbClr val="5B6477"/>
                    </a:solidFill>
                    <a:latin typeface="+mn-lt"/>
                    <a:ea typeface="+mn-ea"/>
                    <a:cs typeface="+mn-cs"/>
                  </a:rPr>
                  <a:t>Authority</a:t>
                </a:r>
              </a:p>
            </p:txBody>
          </p:sp>
          <p:sp>
            <p:nvSpPr>
              <p:cNvPr id="52" name="TextBox 52"/>
              <p:cNvSpPr txBox="1"/>
              <p:nvPr/>
            </p:nvSpPr>
            <p:spPr>
              <a:xfrm>
                <a:off x="3409109" y="4888706"/>
                <a:ext cx="516032" cy="220028"/>
              </a:xfrm>
              <a:prstGeom prst="rect">
                <a:avLst/>
              </a:prstGeom>
              <a:noFill/>
              <a:ln>
                <a:noFill/>
              </a:ln>
            </p:spPr>
            <p:txBody>
              <a:bodyPr wrap="square" lIns="0" tIns="0" rIns="0" bIns="0" anchor="t" anchorCtr="0">
                <a:spAutoFit/>
              </a:bodyPr>
              <a:lstStyle/>
              <a:p>
                <a:pPr algn="ctr"/>
                <a:r>
                  <a:rPr lang="en" sz="1120" b="1" dirty="0">
                    <a:solidFill>
                      <a:srgbClr val="5B6477"/>
                    </a:solidFill>
                    <a:latin typeface="+mn-lt"/>
                    <a:ea typeface="+mn-ea"/>
                    <a:cs typeface="+mn-cs"/>
                  </a:rPr>
                  <a:t>F2G</a:t>
                </a:r>
              </a:p>
            </p:txBody>
          </p:sp>
          <p:sp>
            <p:nvSpPr>
              <p:cNvPr id="53" name="TextBox 53"/>
              <p:cNvSpPr txBox="1"/>
              <p:nvPr/>
            </p:nvSpPr>
            <p:spPr>
              <a:xfrm>
                <a:off x="6266751" y="4888706"/>
                <a:ext cx="1792098" cy="220028"/>
              </a:xfrm>
              <a:prstGeom prst="rect">
                <a:avLst/>
              </a:prstGeom>
              <a:noFill/>
              <a:ln>
                <a:noFill/>
              </a:ln>
            </p:spPr>
            <p:txBody>
              <a:bodyPr wrap="square" lIns="0" tIns="0" rIns="0" bIns="0" anchor="t" anchorCtr="0">
                <a:spAutoFit/>
              </a:bodyPr>
              <a:lstStyle/>
              <a:p>
                <a:pPr algn="ctr"/>
                <a:r>
                  <a:rPr lang="en" sz="1120" b="1" dirty="0">
                    <a:solidFill>
                      <a:srgbClr val="5B6477"/>
                    </a:solidFill>
                    <a:latin typeface="+mn-lt"/>
                    <a:ea typeface="+mn-ea"/>
                    <a:cs typeface="+mn-cs"/>
                  </a:rPr>
                  <a:t>Operator network</a:t>
                </a:r>
              </a:p>
            </p:txBody>
          </p:sp>
          <p:sp>
            <p:nvSpPr>
              <p:cNvPr id="54" name="TextBox 54"/>
              <p:cNvSpPr txBox="1"/>
              <p:nvPr/>
            </p:nvSpPr>
            <p:spPr>
              <a:xfrm>
                <a:off x="10324256" y="4888706"/>
                <a:ext cx="687489" cy="220028"/>
              </a:xfrm>
              <a:prstGeom prst="rect">
                <a:avLst/>
              </a:prstGeom>
              <a:noFill/>
              <a:ln>
                <a:noFill/>
              </a:ln>
            </p:spPr>
            <p:txBody>
              <a:bodyPr wrap="square" lIns="0" tIns="0" rIns="0" bIns="0" anchor="t" anchorCtr="0">
                <a:spAutoFit/>
              </a:bodyPr>
              <a:lstStyle/>
              <a:p>
                <a:pPr algn="ctr"/>
                <a:r>
                  <a:rPr lang="en" sz="1120" b="1" dirty="0">
                    <a:solidFill>
                      <a:srgbClr val="5B6477"/>
                    </a:solidFill>
                    <a:latin typeface="+mn-lt"/>
                    <a:ea typeface="+mn-ea"/>
                    <a:cs typeface="+mn-cs"/>
                  </a:rPr>
                  <a:t>Public</a:t>
                </a:r>
              </a:p>
            </p:txBody>
          </p:sp>
        </p:grpSp>
      </p:grpSp>
      <p:grpSp>
        <p:nvGrpSpPr>
          <p:cNvPr id="58" name="interfaces-note"/>
          <p:cNvGrpSpPr/>
          <p:nvPr/>
        </p:nvGrpSpPr>
        <p:grpSpPr>
          <a:xfrm>
            <a:off x="603123" y="5634514"/>
            <a:ext cx="8522970" cy="497014"/>
            <a:chOff x="603123" y="5634514"/>
            <a:chExt cx="8522970" cy="497014"/>
          </a:xfrm>
        </p:grpSpPr>
        <p:sp>
          <p:nvSpPr>
            <p:cNvPr id="57" name="TextBox 57"/>
            <p:cNvSpPr txBox="1"/>
            <p:nvPr/>
          </p:nvSpPr>
          <p:spPr>
            <a:xfrm>
              <a:off x="603123" y="5634514"/>
              <a:ext cx="10653712" cy="497014"/>
            </a:xfrm>
            <a:prstGeom prst="rect">
              <a:avLst/>
            </a:prstGeom>
            <a:noFill/>
            <a:ln>
              <a:noFill/>
            </a:ln>
          </p:spPr>
          <p:txBody>
            <a:bodyPr wrap="square" lIns="0" tIns="0" rIns="0" bIns="0" anchor="t" anchorCtr="0">
              <a:spAutoFit/>
            </a:bodyPr>
            <a:lstStyle/>
            <a:p>
              <a:pPr algn="l">
                <a:lnSpc>
                  <a:spcPts val="1950"/>
                </a:lnSpc>
              </a:pPr>
              <a:r>
                <a:rPr lang="en" sz="1280" dirty="0">
                  <a:solidFill>
                    <a:srgbClr val="1F3864"/>
                  </a:solidFill>
                  <a:latin typeface="+mn-lt"/>
                  <a:ea typeface="+mn-ea"/>
                  <a:cs typeface="+mn-cs"/>
                </a:rPr>
                <a:t>The CBC talks to each operator core over SBc-AP (3GPP TS 29.168). The core sends a Write-Replace Warning</a:t>
              </a:r>
              <a:br/>
              <a:r>
                <a:rPr lang="en" sz="1280" dirty="0">
                  <a:solidFill>
                    <a:srgbClr val="1F3864"/>
                  </a:solidFill>
                  <a:latin typeface="+mn-lt"/>
                  <a:ea typeface="+mn-ea"/>
                  <a:cs typeface="+mn-cs"/>
                </a:rPr>
                <a:t>over S1-AP or NGAP; the cell broadcasts SIB10/11 (ETWS) and SIB12 (CMAS), and the phone shows the alert.</a:t>
              </a:r>
            </a:p>
          </p:txBody>
        </p:sp>
      </p:grpSp>
      <p:grpSp>
        <p:nvGrpSpPr>
          <p:cNvPr id="62" name="footer"/>
          <p:cNvGrpSpPr/>
          <p:nvPr/>
        </p:nvGrpSpPr>
        <p:grpSpPr>
          <a:xfrm>
            <a:off x="604838" y="6551295"/>
            <a:ext cx="10982324" cy="176212"/>
            <a:chOff x="604838" y="6551295"/>
            <a:chExt cx="10982324" cy="176212"/>
          </a:xfrm>
        </p:grpSpPr>
        <p:sp>
          <p:nvSpPr>
            <p:cNvPr id="59" name="TextBox 59"/>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60" name="TextBox 60"/>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61"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6646" y="801052"/>
            <a:ext cx="1932981" cy="1651255"/>
            <a:chOff x="596646" y="801052"/>
            <a:chExt cx="1932981" cy="1651255"/>
          </a:xfrm>
        </p:grpSpPr>
        <p:sp>
          <p:nvSpPr>
            <p:cNvPr id="3" name="TextBox 3"/>
            <p:cNvSpPr txBox="1"/>
            <p:nvPr/>
          </p:nvSpPr>
          <p:spPr>
            <a:xfrm>
              <a:off x="604266" y="801052"/>
              <a:ext cx="2406701" cy="205359"/>
            </a:xfrm>
            <a:prstGeom prst="rect">
              <a:avLst/>
            </a:prstGeom>
            <a:noFill/>
            <a:ln>
              <a:noFill/>
            </a:ln>
          </p:spPr>
          <p:txBody>
            <a:bodyPr wrap="square" lIns="0" tIns="0" rIns="0" bIns="0" anchor="t" anchorCtr="0">
              <a:spAutoFit/>
            </a:bodyPr>
            <a:lstStyle/>
            <a:p>
              <a:pPr algn="l"/>
              <a:r>
                <a:rPr lang="en" sz="1050" b="1" spc="105" dirty="0">
                  <a:solidFill>
                    <a:srgbClr val="A94E00"/>
                  </a:solidFill>
                  <a:latin typeface="+mn-lt"/>
                  <a:ea typeface="+mn-ea"/>
                  <a:cs typeface="+mn-cs"/>
                </a:rPr>
                <a:t>APPENDIX · CALL FLOW</a:t>
              </a:r>
            </a:p>
          </p:txBody>
        </p:sp>
        <p:sp>
          <p:nvSpPr>
            <p:cNvPr id="4" name="TextBox 4"/>
            <p:cNvSpPr txBox="1"/>
            <p:nvPr/>
          </p:nvSpPr>
          <p:spPr>
            <a:xfrm>
              <a:off x="596646" y="1153478"/>
              <a:ext cx="2370177" cy="1298829"/>
            </a:xfrm>
            <a:prstGeom prst="rect">
              <a:avLst/>
            </a:prstGeom>
            <a:noFill/>
            <a:ln>
              <a:noFill/>
            </a:ln>
          </p:spPr>
          <p:txBody>
            <a:bodyPr wrap="square" lIns="0" tIns="0" rIns="0" bIns="0" anchor="t" anchorCtr="0">
              <a:spAutoFit/>
            </a:bodyPr>
            <a:lstStyle/>
            <a:p>
              <a:pPr algn="l">
                <a:lnSpc>
                  <a:spcPts val="3150"/>
                </a:lnSpc>
              </a:pPr>
              <a:r>
                <a:rPr lang="en" sz="2550" b="1" dirty="0">
                  <a:solidFill>
                    <a:srgbClr val="1F3864"/>
                  </a:solidFill>
                  <a:latin typeface="Baloo 2"/>
                  <a:ea typeface="Baloo 2"/>
                  <a:cs typeface="Baloo 2"/>
                </a:rPr>
                <a:t>End-to-end</a:t>
              </a:r>
              <a:br/>
              <a:r>
                <a:rPr lang="en" sz="2550" b="1" dirty="0">
                  <a:solidFill>
                    <a:srgbClr val="1F3864"/>
                  </a:solidFill>
                  <a:latin typeface="Baloo 2"/>
                  <a:ea typeface="Baloo 2"/>
                  <a:cs typeface="Baloo 2"/>
                </a:rPr>
                <a:t>call flow,</a:t>
              </a:r>
              <a:br/>
              <a:r>
                <a:rPr lang="en" sz="2550" b="1" dirty="0">
                  <a:solidFill>
                    <a:srgbClr val="1F3864"/>
                  </a:solidFill>
                  <a:latin typeface="Baloo 2"/>
                  <a:ea typeface="Baloo 2"/>
                  <a:cs typeface="Baloo 2"/>
                </a:rPr>
                <a:t>under 4 s</a:t>
              </a:r>
            </a:p>
          </p:txBody>
        </p:sp>
      </p:grpSp>
      <p:grpSp>
        <p:nvGrpSpPr>
          <p:cNvPr id="14" name="flow-keys"/>
          <p:cNvGrpSpPr/>
          <p:nvPr/>
        </p:nvGrpSpPr>
        <p:grpSpPr>
          <a:xfrm>
            <a:off x="598932" y="3030855"/>
            <a:ext cx="1563624" cy="2389251"/>
            <a:chOff x="598932" y="3030855"/>
            <a:chExt cx="1563624" cy="2389251"/>
          </a:xfrm>
        </p:grpSpPr>
        <p:grpSp>
          <p:nvGrpSpPr>
            <p:cNvPr id="9" name="Group 9"/>
            <p:cNvGrpSpPr/>
            <p:nvPr/>
          </p:nvGrpSpPr>
          <p:grpSpPr>
            <a:xfrm>
              <a:off x="598932" y="3030855"/>
              <a:ext cx="184596" cy="2315718"/>
              <a:chOff x="598932" y="3030855"/>
              <a:chExt cx="184596" cy="2315718"/>
            </a:xfrm>
          </p:grpSpPr>
          <p:sp>
            <p:nvSpPr>
              <p:cNvPr id="6" name="TextBox 6"/>
              <p:cNvSpPr txBox="1"/>
              <p:nvPr/>
            </p:nvSpPr>
            <p:spPr>
              <a:xfrm>
                <a:off x="598932" y="3030855"/>
                <a:ext cx="413196" cy="410718"/>
              </a:xfrm>
              <a:prstGeom prst="rect">
                <a:avLst/>
              </a:prstGeom>
              <a:noFill/>
              <a:ln>
                <a:noFill/>
              </a:ln>
            </p:spPr>
            <p:txBody>
              <a:bodyPr wrap="square" lIns="0" tIns="0" rIns="0" bIns="0" anchor="t" anchorCtr="0">
                <a:spAutoFit/>
              </a:bodyPr>
              <a:lstStyle/>
              <a:p>
                <a:pPr algn="l"/>
                <a:r>
                  <a:rPr lang="en" sz="2100" b="1" dirty="0">
                    <a:solidFill>
                      <a:srgbClr val="CC6508"/>
                    </a:solidFill>
                    <a:latin typeface="Baloo 2"/>
                    <a:ea typeface="Baloo 2"/>
                    <a:cs typeface="Baloo 2"/>
                  </a:rPr>
                  <a:t>1</a:t>
                </a:r>
              </a:p>
            </p:txBody>
          </p:sp>
          <p:sp>
            <p:nvSpPr>
              <p:cNvPr id="7" name="TextBox 7"/>
              <p:cNvSpPr txBox="1"/>
              <p:nvPr/>
            </p:nvSpPr>
            <p:spPr>
              <a:xfrm>
                <a:off x="598932" y="3983355"/>
                <a:ext cx="413196" cy="410718"/>
              </a:xfrm>
              <a:prstGeom prst="rect">
                <a:avLst/>
              </a:prstGeom>
              <a:noFill/>
              <a:ln>
                <a:noFill/>
              </a:ln>
            </p:spPr>
            <p:txBody>
              <a:bodyPr wrap="square" lIns="0" tIns="0" rIns="0" bIns="0" anchor="t" anchorCtr="0">
                <a:spAutoFit/>
              </a:bodyPr>
              <a:lstStyle/>
              <a:p>
                <a:pPr algn="l"/>
                <a:r>
                  <a:rPr lang="en" sz="2100" b="1" dirty="0">
                    <a:solidFill>
                      <a:srgbClr val="CC6508"/>
                    </a:solidFill>
                    <a:latin typeface="Baloo 2"/>
                    <a:ea typeface="Baloo 2"/>
                    <a:cs typeface="Baloo 2"/>
                  </a:rPr>
                  <a:t>2</a:t>
                </a:r>
              </a:p>
            </p:txBody>
          </p:sp>
          <p:sp>
            <p:nvSpPr>
              <p:cNvPr id="8" name="TextBox 8"/>
              <p:cNvSpPr txBox="1"/>
              <p:nvPr/>
            </p:nvSpPr>
            <p:spPr>
              <a:xfrm>
                <a:off x="598932" y="4935855"/>
                <a:ext cx="413196" cy="410718"/>
              </a:xfrm>
              <a:prstGeom prst="rect">
                <a:avLst/>
              </a:prstGeom>
              <a:noFill/>
              <a:ln>
                <a:noFill/>
              </a:ln>
            </p:spPr>
            <p:txBody>
              <a:bodyPr wrap="square" lIns="0" tIns="0" rIns="0" bIns="0" anchor="t" anchorCtr="0">
                <a:spAutoFit/>
              </a:bodyPr>
              <a:lstStyle/>
              <a:p>
                <a:pPr algn="l"/>
                <a:r>
                  <a:rPr lang="en" sz="2100" b="1" dirty="0">
                    <a:solidFill>
                      <a:srgbClr val="CC6508"/>
                    </a:solidFill>
                    <a:latin typeface="Baloo 2"/>
                    <a:ea typeface="Baloo 2"/>
                    <a:cs typeface="Baloo 2"/>
                  </a:rPr>
                  <a:t>3</a:t>
                </a:r>
              </a:p>
            </p:txBody>
          </p:sp>
        </p:grpSp>
        <p:grpSp>
          <p:nvGrpSpPr>
            <p:cNvPr id="13" name="Group 13"/>
            <p:cNvGrpSpPr/>
            <p:nvPr/>
          </p:nvGrpSpPr>
          <p:grpSpPr>
            <a:xfrm>
              <a:off x="870204" y="3070860"/>
              <a:ext cx="1292352" cy="2349246"/>
              <a:chOff x="870204" y="3070860"/>
              <a:chExt cx="1292352" cy="2349246"/>
            </a:xfrm>
          </p:grpSpPr>
          <p:sp>
            <p:nvSpPr>
              <p:cNvPr id="10" name="TextBox 10"/>
              <p:cNvSpPr txBox="1"/>
              <p:nvPr/>
            </p:nvSpPr>
            <p:spPr>
              <a:xfrm>
                <a:off x="870204" y="3070860"/>
                <a:ext cx="1472565" cy="653796"/>
              </a:xfrm>
              <a:prstGeom prst="rect">
                <a:avLst/>
              </a:prstGeom>
              <a:noFill/>
              <a:ln>
                <a:noFill/>
              </a:ln>
            </p:spPr>
            <p:txBody>
              <a:bodyPr wrap="square" lIns="0" tIns="0" rIns="0" bIns="0" anchor="t" anchorCtr="0">
                <a:spAutoFit/>
              </a:bodyPr>
              <a:lstStyle/>
              <a:p>
                <a:pPr algn="l">
                  <a:lnSpc>
                    <a:spcPts val="1650"/>
                  </a:lnSpc>
                </a:pPr>
                <a:r>
                  <a:rPr lang="en" sz="1200" b="1" dirty="0">
                    <a:solidFill>
                      <a:srgbClr val="1F3864"/>
                    </a:solidFill>
                    <a:latin typeface="+mn-lt"/>
                    <a:ea typeface="+mn-ea"/>
                    <a:cs typeface="+mn-cs"/>
                  </a:rPr>
                  <a:t>Write-Replace</a:t>
                </a:r>
                <a:br/>
                <a:r>
                  <a:rPr lang="en" sz="1200" b="1" dirty="0">
                    <a:solidFill>
                      <a:srgbClr val="1F3864"/>
                    </a:solidFill>
                    <a:latin typeface="+mn-lt"/>
                    <a:ea typeface="+mn-ea"/>
                    <a:cs typeface="+mn-cs"/>
                  </a:rPr>
                  <a:t>Warning</a:t>
                </a:r>
                <a:br/>
                <a:r>
                  <a:rPr lang="en" sz="1200" dirty="0">
                    <a:solidFill>
                      <a:srgbClr val="5B6477"/>
                    </a:solidFill>
                    <a:latin typeface="+mn-lt"/>
                    <a:ea typeface="+mn-ea"/>
                    <a:cs typeface="+mn-cs"/>
                  </a:rPr>
                  <a:t>CBC → MME → eNB</a:t>
                </a:r>
              </a:p>
            </p:txBody>
          </p:sp>
          <p:sp>
            <p:nvSpPr>
              <p:cNvPr id="11" name="TextBox 11"/>
              <p:cNvSpPr txBox="1"/>
              <p:nvPr/>
            </p:nvSpPr>
            <p:spPr>
              <a:xfrm>
                <a:off x="870204" y="4023360"/>
                <a:ext cx="1575435" cy="444246"/>
              </a:xfrm>
              <a:prstGeom prst="rect">
                <a:avLst/>
              </a:prstGeom>
              <a:noFill/>
              <a:ln>
                <a:noFill/>
              </a:ln>
            </p:spPr>
            <p:txBody>
              <a:bodyPr wrap="square" lIns="0" tIns="0" rIns="0" bIns="0" anchor="t" anchorCtr="0">
                <a:spAutoFit/>
              </a:bodyPr>
              <a:lstStyle/>
              <a:p>
                <a:pPr algn="l">
                  <a:lnSpc>
                    <a:spcPts val="1650"/>
                  </a:lnSpc>
                </a:pPr>
                <a:r>
                  <a:rPr lang="en" sz="1200" b="1" dirty="0">
                    <a:solidFill>
                      <a:srgbClr val="1F3864"/>
                    </a:solidFill>
                    <a:latin typeface="+mn-lt"/>
                    <a:ea typeface="+mn-ea"/>
                    <a:cs typeface="+mn-cs"/>
                  </a:rPr>
                  <a:t>SIB12 and paging</a:t>
                </a:r>
                <a:br/>
                <a:r>
                  <a:rPr lang="en" sz="1200" dirty="0">
                    <a:solidFill>
                      <a:srgbClr val="5B6477"/>
                    </a:solidFill>
                    <a:latin typeface="+mn-lt"/>
                    <a:ea typeface="+mn-ea"/>
                    <a:cs typeface="+mn-cs"/>
                  </a:rPr>
                  <a:t>eNB → every UE</a:t>
                </a:r>
              </a:p>
            </p:txBody>
          </p:sp>
          <p:sp>
            <p:nvSpPr>
              <p:cNvPr id="12" name="TextBox 12"/>
              <p:cNvSpPr txBox="1"/>
              <p:nvPr/>
            </p:nvSpPr>
            <p:spPr>
              <a:xfrm>
                <a:off x="870204" y="4975860"/>
                <a:ext cx="1615440" cy="444246"/>
              </a:xfrm>
              <a:prstGeom prst="rect">
                <a:avLst/>
              </a:prstGeom>
              <a:noFill/>
              <a:ln>
                <a:noFill/>
              </a:ln>
            </p:spPr>
            <p:txBody>
              <a:bodyPr wrap="square" lIns="0" tIns="0" rIns="0" bIns="0" anchor="t" anchorCtr="0">
                <a:spAutoFit/>
              </a:bodyPr>
              <a:lstStyle/>
              <a:p>
                <a:pPr algn="l">
                  <a:lnSpc>
                    <a:spcPts val="1650"/>
                  </a:lnSpc>
                </a:pPr>
                <a:r>
                  <a:rPr lang="en" sz="1200" b="1" dirty="0">
                    <a:solidFill>
                      <a:srgbClr val="1F3864"/>
                    </a:solidFill>
                    <a:latin typeface="+mn-lt"/>
                    <a:ea typeface="+mn-ea"/>
                    <a:cs typeface="+mn-cs"/>
                  </a:rPr>
                  <a:t>Popup on screen</a:t>
                </a:r>
                <a:br/>
                <a:r>
                  <a:rPr lang="en" sz="1200" dirty="0">
                    <a:solidFill>
                      <a:srgbClr val="5B6477"/>
                    </a:solidFill>
                    <a:latin typeface="+mn-lt"/>
                    <a:ea typeface="+mn-ea"/>
                    <a:cs typeface="+mn-cs"/>
                  </a:rPr>
                  <a:t>under 4 s in total</a:t>
                </a:r>
              </a:p>
            </p:txBody>
          </p:sp>
        </p:grpSp>
      </p:grpSp>
      <p:grpSp>
        <p:nvGrpSpPr>
          <p:cNvPr id="17" name="call-flow-figure"/>
          <p:cNvGrpSpPr/>
          <p:nvPr/>
        </p:nvGrpSpPr>
        <p:grpSpPr>
          <a:xfrm>
            <a:off x="3009900" y="990600"/>
            <a:ext cx="8572500" cy="5257800"/>
            <a:chOff x="3009900" y="990600"/>
            <a:chExt cx="8572500" cy="5257800"/>
          </a:xfrm>
        </p:grpSpPr>
        <p:sp>
          <p:nvSpPr>
            <p:cNvPr id="15" name="Rectangle 15"/>
            <p:cNvSpPr/>
            <p:nvPr/>
          </p:nvSpPr>
          <p:spPr>
            <a:xfrm>
              <a:off x="3009900" y="990600"/>
              <a:ext cx="8572500" cy="5257800"/>
            </a:xfrm>
            <a:prstGeom prst="roundRect">
              <a:avLst>
                <a:gd name="adj" fmla="val 2899"/>
              </a:avLst>
            </a:prstGeom>
            <a:solidFill>
              <a:srgbClr val="FFFFFF"/>
            </a:solidFill>
            <a:ln>
              <a:noFill/>
            </a:ln>
          </p:spPr>
        </p:sp>
        <p:pic>
          <p:nvPicPr>
            <p:cNvPr id="16" name="Image 16"/>
            <p:cNvPicPr>
              <a:picLocks noChangeAspect="1"/>
            </p:cNvPicPr>
            <p:nvPr/>
          </p:nvPicPr>
          <p:blipFill>
            <a:blip r:embed="rId3"/>
            <a:stretch>
              <a:fillRect/>
            </a:stretch>
          </p:blipFill>
          <p:spPr>
            <a:xfrm>
              <a:off x="3086100" y="1047750"/>
              <a:ext cx="8420100" cy="5067300"/>
            </a:xfrm>
            <a:prstGeom prst="rect">
              <a:avLst/>
            </a:prstGeom>
          </p:spPr>
        </p:pic>
      </p:grpSp>
      <p:grpSp>
        <p:nvGrpSpPr>
          <p:cNvPr id="21" name="footer"/>
          <p:cNvGrpSpPr/>
          <p:nvPr/>
        </p:nvGrpSpPr>
        <p:grpSpPr>
          <a:xfrm>
            <a:off x="604838" y="6551295"/>
            <a:ext cx="10982324" cy="176212"/>
            <a:chOff x="604838" y="6551295"/>
            <a:chExt cx="10982324" cy="176212"/>
          </a:xfrm>
        </p:grpSpPr>
        <p:sp>
          <p:nvSpPr>
            <p:cNvPr id="18" name="TextBox 18"/>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19" name="TextBox 19"/>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20"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7083990" cy="917734"/>
            <a:chOff x="594360" y="640556"/>
            <a:chExt cx="7083990" cy="917734"/>
          </a:xfrm>
        </p:grpSpPr>
        <p:sp>
          <p:nvSpPr>
            <p:cNvPr id="3" name="TextBox 3"/>
            <p:cNvSpPr txBox="1"/>
            <p:nvPr/>
          </p:nvSpPr>
          <p:spPr>
            <a:xfrm>
              <a:off x="603885" y="640556"/>
              <a:ext cx="3552436"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APPENDIX · THE ALERT JOURNEY</a:t>
              </a:r>
            </a:p>
          </p:txBody>
        </p:sp>
        <p:sp>
          <p:nvSpPr>
            <p:cNvPr id="4" name="TextBox 4"/>
            <p:cNvSpPr txBox="1"/>
            <p:nvPr/>
          </p:nvSpPr>
          <p:spPr>
            <a:xfrm>
              <a:off x="594360" y="971550"/>
              <a:ext cx="8854987"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Four steps from decision to popup</a:t>
              </a:r>
            </a:p>
          </p:txBody>
        </p:sp>
      </p:grpSp>
      <p:grpSp>
        <p:nvGrpSpPr>
          <p:cNvPr id="10" name="step-create"/>
          <p:cNvGrpSpPr/>
          <p:nvPr/>
        </p:nvGrpSpPr>
        <p:grpSpPr>
          <a:xfrm>
            <a:off x="590550" y="1866900"/>
            <a:ext cx="2647950" cy="1902429"/>
            <a:chOff x="590550" y="1866900"/>
            <a:chExt cx="2647950" cy="1902429"/>
          </a:xfrm>
        </p:grpSpPr>
        <p:sp>
          <p:nvSpPr>
            <p:cNvPr id="6" name="Line 6"/>
            <p:cNvSpPr/>
            <p:nvPr/>
          </p:nvSpPr>
          <p:spPr>
            <a:xfrm>
              <a:off x="1428750" y="2171700"/>
              <a:ext cx="1809750" cy="552450"/>
            </a:xfrm>
            <a:prstGeom prst="line">
              <a:avLst/>
            </a:prstGeom>
            <a:noFill/>
            <a:ln w="23812">
              <a:solidFill>
                <a:srgbClr val="CC6508"/>
              </a:solidFill>
              <a:prstDash val="lgDash"/>
              <a:tailEnd type="triangle" w="lg" len="lg"/>
            </a:ln>
          </p:spPr>
        </p:sp>
        <p:sp>
          <p:nvSpPr>
            <p:cNvPr id="7" name="TextBox 7"/>
            <p:cNvSpPr txBox="1"/>
            <p:nvPr/>
          </p:nvSpPr>
          <p:spPr>
            <a:xfrm>
              <a:off x="590550" y="1866900"/>
              <a:ext cx="733158" cy="1162050"/>
            </a:xfrm>
            <a:prstGeom prst="rect">
              <a:avLst/>
            </a:prstGeom>
            <a:noFill/>
            <a:ln>
              <a:noFill/>
            </a:ln>
          </p:spPr>
          <p:txBody>
            <a:bodyPr wrap="square" lIns="0" tIns="0" rIns="0" bIns="0" anchor="t" anchorCtr="0">
              <a:spAutoFit/>
            </a:bodyPr>
            <a:lstStyle/>
            <a:p>
              <a:pPr algn="l"/>
              <a:r>
                <a:rPr lang="en" sz="6000" b="1" dirty="0">
                  <a:solidFill>
                    <a:srgbClr val="CC6508"/>
                  </a:solidFill>
                  <a:latin typeface="Baloo 2"/>
                  <a:ea typeface="Baloo 2"/>
                  <a:cs typeface="Baloo 2"/>
                </a:rPr>
                <a:t>1</a:t>
              </a:r>
            </a:p>
          </p:txBody>
        </p:sp>
        <p:sp>
          <p:nvSpPr>
            <p:cNvPr id="8" name="TextBox 8"/>
            <p:cNvSpPr txBox="1"/>
            <p:nvPr/>
          </p:nvSpPr>
          <p:spPr>
            <a:xfrm>
              <a:off x="600456" y="2720340"/>
              <a:ext cx="1094434"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Create</a:t>
              </a:r>
            </a:p>
          </p:txBody>
        </p:sp>
        <p:sp>
          <p:nvSpPr>
            <p:cNvPr id="9" name="TextBox 9"/>
            <p:cNvSpPr txBox="1"/>
            <p:nvPr/>
          </p:nvSpPr>
          <p:spPr>
            <a:xfrm>
              <a:off x="603123" y="3062764"/>
              <a:ext cx="2373312" cy="706565"/>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An authority writes and</a:t>
              </a:r>
              <a:br/>
              <a:r>
                <a:rPr lang="en" sz="1280" dirty="0">
                  <a:solidFill>
                    <a:srgbClr val="5B6477"/>
                  </a:solidFill>
                  <a:latin typeface="+mn-lt"/>
                  <a:ea typeface="+mn-ea"/>
                  <a:cs typeface="+mn-cs"/>
                </a:rPr>
                <a:t>approves the alert and</a:t>
              </a:r>
              <a:br/>
              <a:r>
                <a:rPr lang="en" sz="1280" dirty="0">
                  <a:solidFill>
                    <a:srgbClr val="5B6477"/>
                  </a:solidFill>
                  <a:latin typeface="+mn-lt"/>
                  <a:ea typeface="+mn-ea"/>
                  <a:cs typeface="+mn-cs"/>
                </a:rPr>
                <a:t>picks the target cells.</a:t>
              </a:r>
            </a:p>
          </p:txBody>
        </p:sp>
      </p:grpSp>
      <p:grpSp>
        <p:nvGrpSpPr>
          <p:cNvPr id="15" name="step-broadcast"/>
          <p:cNvGrpSpPr/>
          <p:nvPr/>
        </p:nvGrpSpPr>
        <p:grpSpPr>
          <a:xfrm>
            <a:off x="3371850" y="2438400"/>
            <a:ext cx="2647950" cy="1902429"/>
            <a:chOff x="3371850" y="2438400"/>
            <a:chExt cx="2647950" cy="1902429"/>
          </a:xfrm>
        </p:grpSpPr>
        <p:sp>
          <p:nvSpPr>
            <p:cNvPr id="11" name="Line 11"/>
            <p:cNvSpPr/>
            <p:nvPr/>
          </p:nvSpPr>
          <p:spPr>
            <a:xfrm>
              <a:off x="4210050" y="2743200"/>
              <a:ext cx="1809750" cy="552450"/>
            </a:xfrm>
            <a:prstGeom prst="line">
              <a:avLst/>
            </a:prstGeom>
            <a:noFill/>
            <a:ln w="23812">
              <a:solidFill>
                <a:srgbClr val="CC6508"/>
              </a:solidFill>
              <a:prstDash val="lgDash"/>
              <a:tailEnd type="triangle" w="lg" len="lg"/>
            </a:ln>
          </p:spPr>
        </p:sp>
        <p:sp>
          <p:nvSpPr>
            <p:cNvPr id="12" name="TextBox 12"/>
            <p:cNvSpPr txBox="1"/>
            <p:nvPr/>
          </p:nvSpPr>
          <p:spPr>
            <a:xfrm>
              <a:off x="3371850" y="2438400"/>
              <a:ext cx="733158" cy="1162050"/>
            </a:xfrm>
            <a:prstGeom prst="rect">
              <a:avLst/>
            </a:prstGeom>
            <a:noFill/>
            <a:ln>
              <a:noFill/>
            </a:ln>
          </p:spPr>
          <p:txBody>
            <a:bodyPr wrap="square" lIns="0" tIns="0" rIns="0" bIns="0" anchor="t" anchorCtr="0">
              <a:spAutoFit/>
            </a:bodyPr>
            <a:lstStyle/>
            <a:p>
              <a:pPr algn="l"/>
              <a:r>
                <a:rPr lang="en" sz="6000" b="1" dirty="0">
                  <a:solidFill>
                    <a:srgbClr val="CC6508"/>
                  </a:solidFill>
                  <a:latin typeface="Baloo 2"/>
                  <a:ea typeface="Baloo 2"/>
                  <a:cs typeface="Baloo 2"/>
                </a:rPr>
                <a:t>2</a:t>
              </a:r>
            </a:p>
          </p:txBody>
        </p:sp>
        <p:sp>
          <p:nvSpPr>
            <p:cNvPr id="13" name="TextBox 13"/>
            <p:cNvSpPr txBox="1"/>
            <p:nvPr/>
          </p:nvSpPr>
          <p:spPr>
            <a:xfrm>
              <a:off x="3381756" y="3291840"/>
              <a:ext cx="1607057"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Broadcast</a:t>
              </a:r>
            </a:p>
          </p:txBody>
        </p:sp>
        <p:sp>
          <p:nvSpPr>
            <p:cNvPr id="14" name="TextBox 14"/>
            <p:cNvSpPr txBox="1"/>
            <p:nvPr/>
          </p:nvSpPr>
          <p:spPr>
            <a:xfrm>
              <a:off x="3384423" y="3634264"/>
              <a:ext cx="2678112" cy="706565"/>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The CBC sends a Write-</a:t>
              </a:r>
              <a:br/>
              <a:r>
                <a:rPr lang="en" sz="1280" dirty="0">
                  <a:solidFill>
                    <a:srgbClr val="5B6477"/>
                  </a:solidFill>
                  <a:latin typeface="+mn-lt"/>
                  <a:ea typeface="+mn-ea"/>
                  <a:cs typeface="+mn-cs"/>
                </a:rPr>
                <a:t>Replace Warning over</a:t>
              </a:r>
              <a:br/>
              <a:r>
                <a:rPr lang="en" sz="1280" dirty="0">
                  <a:solidFill>
                    <a:srgbClr val="5B6477"/>
                  </a:solidFill>
                  <a:latin typeface="+mn-lt"/>
                  <a:ea typeface="+mn-ea"/>
                  <a:cs typeface="+mn-cs"/>
                </a:rPr>
                <a:t>SBc-AP to each MME / AMF.</a:t>
              </a:r>
            </a:p>
          </p:txBody>
        </p:sp>
      </p:grpSp>
      <p:grpSp>
        <p:nvGrpSpPr>
          <p:cNvPr id="20" name="step-schedule"/>
          <p:cNvGrpSpPr/>
          <p:nvPr/>
        </p:nvGrpSpPr>
        <p:grpSpPr>
          <a:xfrm>
            <a:off x="6153150" y="3009900"/>
            <a:ext cx="2647950" cy="1902429"/>
            <a:chOff x="6153150" y="3009900"/>
            <a:chExt cx="2647950" cy="1902429"/>
          </a:xfrm>
        </p:grpSpPr>
        <p:sp>
          <p:nvSpPr>
            <p:cNvPr id="16" name="Line 16"/>
            <p:cNvSpPr/>
            <p:nvPr/>
          </p:nvSpPr>
          <p:spPr>
            <a:xfrm>
              <a:off x="6991350" y="3314700"/>
              <a:ext cx="1809750" cy="552450"/>
            </a:xfrm>
            <a:prstGeom prst="line">
              <a:avLst/>
            </a:prstGeom>
            <a:noFill/>
            <a:ln w="23812">
              <a:solidFill>
                <a:srgbClr val="CC6508"/>
              </a:solidFill>
              <a:prstDash val="lgDash"/>
              <a:tailEnd type="triangle" w="lg" len="lg"/>
            </a:ln>
          </p:spPr>
        </p:sp>
        <p:sp>
          <p:nvSpPr>
            <p:cNvPr id="17" name="TextBox 17"/>
            <p:cNvSpPr txBox="1"/>
            <p:nvPr/>
          </p:nvSpPr>
          <p:spPr>
            <a:xfrm>
              <a:off x="6153150" y="3009900"/>
              <a:ext cx="733158" cy="1162050"/>
            </a:xfrm>
            <a:prstGeom prst="rect">
              <a:avLst/>
            </a:prstGeom>
            <a:noFill/>
            <a:ln>
              <a:noFill/>
            </a:ln>
          </p:spPr>
          <p:txBody>
            <a:bodyPr wrap="square" lIns="0" tIns="0" rIns="0" bIns="0" anchor="t" anchorCtr="0">
              <a:spAutoFit/>
            </a:bodyPr>
            <a:lstStyle/>
            <a:p>
              <a:pPr algn="l"/>
              <a:r>
                <a:rPr lang="en" sz="6000" b="1" dirty="0">
                  <a:solidFill>
                    <a:srgbClr val="CC6508"/>
                  </a:solidFill>
                  <a:latin typeface="Baloo 2"/>
                  <a:ea typeface="Baloo 2"/>
                  <a:cs typeface="Baloo 2"/>
                </a:rPr>
                <a:t>3</a:t>
              </a:r>
            </a:p>
          </p:txBody>
        </p:sp>
        <p:sp>
          <p:nvSpPr>
            <p:cNvPr id="18" name="TextBox 18"/>
            <p:cNvSpPr txBox="1"/>
            <p:nvPr/>
          </p:nvSpPr>
          <p:spPr>
            <a:xfrm>
              <a:off x="6163056" y="3863340"/>
              <a:ext cx="1352063"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Schedule</a:t>
              </a:r>
            </a:p>
          </p:txBody>
        </p:sp>
        <p:sp>
          <p:nvSpPr>
            <p:cNvPr id="19" name="TextBox 19"/>
            <p:cNvSpPr txBox="1"/>
            <p:nvPr/>
          </p:nvSpPr>
          <p:spPr>
            <a:xfrm>
              <a:off x="6165723" y="4205764"/>
              <a:ext cx="2403792" cy="706565"/>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Each eNodeB schedules</a:t>
              </a:r>
              <a:br/>
              <a:r>
                <a:rPr lang="en" sz="1280" dirty="0">
                  <a:solidFill>
                    <a:srgbClr val="5B6477"/>
                  </a:solidFill>
                  <a:latin typeface="+mn-lt"/>
                  <a:ea typeface="+mn-ea"/>
                  <a:cs typeface="+mn-cs"/>
                </a:rPr>
                <a:t>SIB12 and pages its cells</a:t>
              </a:r>
              <a:br/>
              <a:r>
                <a:rPr lang="en" sz="1280" dirty="0">
                  <a:solidFill>
                    <a:srgbClr val="5B6477"/>
                  </a:solidFill>
                  <a:latin typeface="+mn-lt"/>
                  <a:ea typeface="+mn-ea"/>
                  <a:cs typeface="+mn-cs"/>
                </a:rPr>
                <a:t>with a CMAS indication.</a:t>
              </a:r>
            </a:p>
          </p:txBody>
        </p:sp>
      </p:grpSp>
      <p:grpSp>
        <p:nvGrpSpPr>
          <p:cNvPr id="24" name="step-display"/>
          <p:cNvGrpSpPr/>
          <p:nvPr/>
        </p:nvGrpSpPr>
        <p:grpSpPr>
          <a:xfrm>
            <a:off x="8934450" y="3581400"/>
            <a:ext cx="2049399" cy="1902429"/>
            <a:chOff x="8934450" y="3581400"/>
            <a:chExt cx="2049399" cy="1902429"/>
          </a:xfrm>
        </p:grpSpPr>
        <p:sp>
          <p:nvSpPr>
            <p:cNvPr id="21" name="TextBox 21"/>
            <p:cNvSpPr txBox="1"/>
            <p:nvPr/>
          </p:nvSpPr>
          <p:spPr>
            <a:xfrm>
              <a:off x="8934450" y="3581400"/>
              <a:ext cx="733158" cy="1162050"/>
            </a:xfrm>
            <a:prstGeom prst="rect">
              <a:avLst/>
            </a:prstGeom>
            <a:noFill/>
            <a:ln>
              <a:noFill/>
            </a:ln>
          </p:spPr>
          <p:txBody>
            <a:bodyPr wrap="square" lIns="0" tIns="0" rIns="0" bIns="0" anchor="t" anchorCtr="0">
              <a:spAutoFit/>
            </a:bodyPr>
            <a:lstStyle/>
            <a:p>
              <a:pPr algn="l"/>
              <a:r>
                <a:rPr lang="en" sz="6000" b="1" dirty="0">
                  <a:solidFill>
                    <a:srgbClr val="CC6508"/>
                  </a:solidFill>
                  <a:latin typeface="Baloo 2"/>
                  <a:ea typeface="Baloo 2"/>
                  <a:cs typeface="Baloo 2"/>
                </a:rPr>
                <a:t>4</a:t>
              </a:r>
            </a:p>
          </p:txBody>
        </p:sp>
        <p:sp>
          <p:nvSpPr>
            <p:cNvPr id="22" name="TextBox 22"/>
            <p:cNvSpPr txBox="1"/>
            <p:nvPr/>
          </p:nvSpPr>
          <p:spPr>
            <a:xfrm>
              <a:off x="8944356" y="4434840"/>
              <a:ext cx="1106127" cy="352044"/>
            </a:xfrm>
            <a:prstGeom prst="rect">
              <a:avLst/>
            </a:prstGeom>
            <a:noFill/>
            <a:ln>
              <a:noFill/>
            </a:ln>
          </p:spPr>
          <p:txBody>
            <a:bodyPr wrap="square" lIns="0" tIns="0" rIns="0" bIns="0" anchor="t" anchorCtr="0">
              <a:spAutoFit/>
            </a:bodyPr>
            <a:lstStyle/>
            <a:p>
              <a:pPr algn="l"/>
              <a:r>
                <a:rPr lang="en" sz="1800" b="1" dirty="0">
                  <a:solidFill>
                    <a:srgbClr val="1F3864"/>
                  </a:solidFill>
                  <a:latin typeface="+mn-lt"/>
                  <a:ea typeface="+mn-ea"/>
                  <a:cs typeface="+mn-cs"/>
                </a:rPr>
                <a:t>Display</a:t>
              </a:r>
            </a:p>
          </p:txBody>
        </p:sp>
        <p:sp>
          <p:nvSpPr>
            <p:cNvPr id="23" name="TextBox 23"/>
            <p:cNvSpPr txBox="1"/>
            <p:nvPr/>
          </p:nvSpPr>
          <p:spPr>
            <a:xfrm>
              <a:off x="8947023" y="4777264"/>
              <a:ext cx="2546032" cy="706565"/>
            </a:xfrm>
            <a:prstGeom prst="rect">
              <a:avLst/>
            </a:prstGeom>
            <a:noFill/>
            <a:ln>
              <a:noFill/>
            </a:ln>
          </p:spPr>
          <p:txBody>
            <a:bodyPr wrap="square" lIns="0" tIns="0" rIns="0" bIns="0" anchor="t" anchorCtr="0">
              <a:spAutoFit/>
            </a:bodyPr>
            <a:lstStyle/>
            <a:p>
              <a:pPr algn="l">
                <a:lnSpc>
                  <a:spcPts val="1800"/>
                </a:lnSpc>
              </a:pPr>
              <a:r>
                <a:rPr lang="en" sz="1280" dirty="0">
                  <a:solidFill>
                    <a:srgbClr val="5B6477"/>
                  </a:solidFill>
                  <a:latin typeface="+mn-lt"/>
                  <a:ea typeface="+mn-ea"/>
                  <a:cs typeface="+mn-cs"/>
                </a:rPr>
                <a:t>Every phone in the area</a:t>
              </a:r>
              <a:br/>
              <a:r>
                <a:rPr lang="en" sz="1280" dirty="0">
                  <a:solidFill>
                    <a:srgbClr val="5B6477"/>
                  </a:solidFill>
                  <a:latin typeface="+mn-lt"/>
                  <a:ea typeface="+mn-ea"/>
                  <a:cs typeface="+mn-cs"/>
                </a:rPr>
                <a:t>shows a full-screen alert</a:t>
              </a:r>
              <a:br/>
              <a:r>
                <a:rPr lang="en" sz="1280" dirty="0">
                  <a:solidFill>
                    <a:srgbClr val="5B6477"/>
                  </a:solidFill>
                  <a:latin typeface="+mn-lt"/>
                  <a:ea typeface="+mn-ea"/>
                  <a:cs typeface="+mn-cs"/>
                </a:rPr>
                <a:t>with a special sound.</a:t>
              </a:r>
            </a:p>
          </p:txBody>
        </p:sp>
      </p:grpSp>
      <p:grpSp>
        <p:nvGrpSpPr>
          <p:cNvPr id="27" name="total-time"/>
          <p:cNvGrpSpPr/>
          <p:nvPr/>
        </p:nvGrpSpPr>
        <p:grpSpPr>
          <a:xfrm>
            <a:off x="590550" y="5128260"/>
            <a:ext cx="4227195" cy="1390650"/>
            <a:chOff x="590550" y="5128260"/>
            <a:chExt cx="4227195" cy="1390650"/>
          </a:xfrm>
        </p:grpSpPr>
        <p:sp>
          <p:nvSpPr>
            <p:cNvPr id="25" name="TextBox 25"/>
            <p:cNvSpPr txBox="1"/>
            <p:nvPr/>
          </p:nvSpPr>
          <p:spPr>
            <a:xfrm>
              <a:off x="590550" y="5128260"/>
              <a:ext cx="2909982" cy="1390650"/>
            </a:xfrm>
            <a:prstGeom prst="rect">
              <a:avLst/>
            </a:prstGeom>
            <a:noFill/>
            <a:ln>
              <a:noFill/>
            </a:ln>
          </p:spPr>
          <p:txBody>
            <a:bodyPr wrap="square" lIns="0" tIns="0" rIns="0" bIns="0" anchor="t" anchorCtr="0">
              <a:spAutoFit/>
            </a:bodyPr>
            <a:lstStyle/>
            <a:p>
              <a:pPr algn="l"/>
              <a:r>
                <a:rPr lang="en" sz="7200" b="1" dirty="0">
                  <a:solidFill>
                    <a:srgbClr val="1F3864"/>
                  </a:solidFill>
                  <a:latin typeface="Baloo 2"/>
                  <a:ea typeface="Baloo 2"/>
                  <a:cs typeface="Baloo 2"/>
                </a:rPr>
                <a:t>&lt; 4 s</a:t>
              </a:r>
            </a:p>
          </p:txBody>
        </p:sp>
        <p:sp>
          <p:nvSpPr>
            <p:cNvPr id="26" name="TextBox 26"/>
            <p:cNvSpPr txBox="1"/>
            <p:nvPr/>
          </p:nvSpPr>
          <p:spPr>
            <a:xfrm>
              <a:off x="2849880" y="5362575"/>
              <a:ext cx="2459831" cy="560070"/>
            </a:xfrm>
            <a:prstGeom prst="rect">
              <a:avLst/>
            </a:prstGeom>
            <a:noFill/>
            <a:ln>
              <a:noFill/>
            </a:ln>
          </p:spPr>
          <p:txBody>
            <a:bodyPr wrap="square" lIns="0" tIns="0" rIns="0" bIns="0" anchor="t" anchorCtr="0">
              <a:spAutoFit/>
            </a:bodyPr>
            <a:lstStyle/>
            <a:p>
              <a:pPr algn="l">
                <a:lnSpc>
                  <a:spcPts val="2100"/>
                </a:lnSpc>
              </a:pPr>
              <a:r>
                <a:rPr lang="en" sz="1500" b="1" dirty="0">
                  <a:solidFill>
                    <a:srgbClr val="1F3864"/>
                  </a:solidFill>
                  <a:latin typeface="+mn-lt"/>
                  <a:ea typeface="+mn-ea"/>
                  <a:cs typeface="+mn-cs"/>
                </a:rPr>
                <a:t>end to end,</a:t>
              </a:r>
              <a:br/>
              <a:r>
                <a:rPr lang="en" sz="1500" dirty="0">
                  <a:solidFill>
                    <a:srgbClr val="5B6477"/>
                  </a:solidFill>
                  <a:latin typeface="+mn-lt"/>
                  <a:ea typeface="+mn-ea"/>
                  <a:cs typeface="+mn-cs"/>
                </a:rPr>
                <a:t>authority to handset</a:t>
              </a:r>
            </a:p>
          </p:txBody>
        </p:sp>
      </p:grpSp>
      <p:grpSp>
        <p:nvGrpSpPr>
          <p:cNvPr id="31" name="footer"/>
          <p:cNvGrpSpPr/>
          <p:nvPr/>
        </p:nvGrpSpPr>
        <p:grpSpPr>
          <a:xfrm>
            <a:off x="604838" y="6551295"/>
            <a:ext cx="10982324" cy="176212"/>
            <a:chOff x="604838" y="6551295"/>
            <a:chExt cx="10982324" cy="176212"/>
          </a:xfrm>
        </p:grpSpPr>
        <p:sp>
          <p:nvSpPr>
            <p:cNvPr id="28" name="TextBox 28"/>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29" name="TextBox 29"/>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30"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11201400" y="228600"/>
            <a:ext cx="609600" cy="609600"/>
          </a:xfrm>
          <a:prstGeom prst="rect">
            <a:avLst/>
          </a:prstGeom>
        </p:spPr>
      </p:pic>
      <p:grpSp>
        <p:nvGrpSpPr>
          <p:cNvPr id="5" name="header"/>
          <p:cNvGrpSpPr/>
          <p:nvPr/>
        </p:nvGrpSpPr>
        <p:grpSpPr>
          <a:xfrm>
            <a:off x="594360" y="640556"/>
            <a:ext cx="10094758" cy="917734"/>
            <a:chOff x="594360" y="640556"/>
            <a:chExt cx="10094758" cy="917734"/>
          </a:xfrm>
        </p:grpSpPr>
        <p:sp>
          <p:nvSpPr>
            <p:cNvPr id="3" name="TextBox 3"/>
            <p:cNvSpPr txBox="1"/>
            <p:nvPr/>
          </p:nvSpPr>
          <p:spPr>
            <a:xfrm>
              <a:off x="603885" y="640556"/>
              <a:ext cx="3365248" cy="220028"/>
            </a:xfrm>
            <a:prstGeom prst="rect">
              <a:avLst/>
            </a:prstGeom>
            <a:noFill/>
            <a:ln>
              <a:noFill/>
            </a:ln>
          </p:spPr>
          <p:txBody>
            <a:bodyPr wrap="square" lIns="0" tIns="0" rIns="0" bIns="0" anchor="t" anchorCtr="0">
              <a:spAutoFit/>
            </a:bodyPr>
            <a:lstStyle/>
            <a:p>
              <a:pPr algn="l"/>
              <a:r>
                <a:rPr lang="en" sz="1120" b="1" spc="112" dirty="0">
                  <a:solidFill>
                    <a:srgbClr val="A94E00"/>
                  </a:solidFill>
                  <a:latin typeface="+mn-lt"/>
                  <a:ea typeface="+mn-ea"/>
                  <a:cs typeface="+mn-cs"/>
                </a:rPr>
                <a:t>APPENDIX · THE F2G CMAS HUB</a:t>
              </a:r>
            </a:p>
          </p:txBody>
        </p:sp>
        <p:sp>
          <p:nvSpPr>
            <p:cNvPr id="4" name="TextBox 4"/>
            <p:cNvSpPr txBox="1"/>
            <p:nvPr/>
          </p:nvSpPr>
          <p:spPr>
            <a:xfrm>
              <a:off x="594360" y="971550"/>
              <a:ext cx="12618447" cy="586740"/>
            </a:xfrm>
            <a:prstGeom prst="rect">
              <a:avLst/>
            </a:prstGeom>
            <a:noFill/>
            <a:ln>
              <a:noFill/>
            </a:ln>
          </p:spPr>
          <p:txBody>
            <a:bodyPr wrap="square" lIns="0" tIns="0" rIns="0" bIns="0" anchor="t" anchorCtr="0">
              <a:spAutoFit/>
            </a:bodyPr>
            <a:lstStyle/>
            <a:p>
              <a:pPr algn="l"/>
              <a:r>
                <a:rPr lang="en" sz="3000" b="1" dirty="0">
                  <a:solidFill>
                    <a:srgbClr val="1F3864"/>
                  </a:solidFill>
                  <a:latin typeface="Baloo 2"/>
                  <a:ea typeface="Baloo 2"/>
                  <a:cs typeface="Baloo 2"/>
                </a:rPr>
                <a:t>One hub between authorities and every operator</a:t>
              </a:r>
            </a:p>
          </p:txBody>
        </p:sp>
      </p:grpSp>
      <p:grpSp>
        <p:nvGrpSpPr>
          <p:cNvPr id="8" name="hub-figure"/>
          <p:cNvGrpSpPr/>
          <p:nvPr/>
        </p:nvGrpSpPr>
        <p:grpSpPr>
          <a:xfrm>
            <a:off x="609600" y="1638300"/>
            <a:ext cx="10972800" cy="4705350"/>
            <a:chOff x="609600" y="1638300"/>
            <a:chExt cx="10972800" cy="4705350"/>
          </a:xfrm>
        </p:grpSpPr>
        <p:sp>
          <p:nvSpPr>
            <p:cNvPr id="6" name="Rectangle 6"/>
            <p:cNvSpPr/>
            <p:nvPr/>
          </p:nvSpPr>
          <p:spPr>
            <a:xfrm>
              <a:off x="609600" y="1638300"/>
              <a:ext cx="10972800" cy="4705350"/>
            </a:xfrm>
            <a:prstGeom prst="roundRect">
              <a:avLst>
                <a:gd name="adj" fmla="val 3239"/>
              </a:avLst>
            </a:prstGeom>
            <a:solidFill>
              <a:srgbClr val="FFFFFF"/>
            </a:solidFill>
            <a:ln>
              <a:noFill/>
            </a:ln>
          </p:spPr>
        </p:sp>
        <p:pic>
          <p:nvPicPr>
            <p:cNvPr id="7" name="Image 7"/>
            <p:cNvPicPr>
              <a:picLocks noChangeAspect="1"/>
            </p:cNvPicPr>
            <p:nvPr/>
          </p:nvPicPr>
          <p:blipFill>
            <a:blip r:embed="rId3"/>
            <a:stretch>
              <a:fillRect/>
            </a:stretch>
          </p:blipFill>
          <p:spPr>
            <a:xfrm>
              <a:off x="1323975" y="1714500"/>
              <a:ext cx="9544050" cy="4572000"/>
            </a:xfrm>
            <a:prstGeom prst="rect">
              <a:avLst/>
            </a:prstGeom>
          </p:spPr>
        </p:pic>
      </p:grpSp>
      <p:grpSp>
        <p:nvGrpSpPr>
          <p:cNvPr id="12" name="footer"/>
          <p:cNvGrpSpPr/>
          <p:nvPr/>
        </p:nvGrpSpPr>
        <p:grpSpPr>
          <a:xfrm>
            <a:off x="604838" y="6551295"/>
            <a:ext cx="10982324" cy="176212"/>
            <a:chOff x="604838" y="6551295"/>
            <a:chExt cx="10982324" cy="176212"/>
          </a:xfrm>
        </p:grpSpPr>
        <p:sp>
          <p:nvSpPr>
            <p:cNvPr id="9" name="TextBox 9"/>
            <p:cNvSpPr txBox="1"/>
            <p:nvPr/>
          </p:nvSpPr>
          <p:spPr>
            <a:xfrm>
              <a:off x="604838" y="6551295"/>
              <a:ext cx="1258470" cy="176212"/>
            </a:xfrm>
            <a:prstGeom prst="rect">
              <a:avLst/>
            </a:prstGeom>
            <a:noFill/>
            <a:ln>
              <a:noFill/>
            </a:ln>
          </p:spPr>
          <p:txBody>
            <a:bodyPr wrap="square" lIns="0" tIns="0" rIns="0" bIns="0" anchor="t" anchorCtr="0">
              <a:spAutoFit/>
            </a:bodyPr>
            <a:lstStyle/>
            <a:p>
              <a:pPr algn="l"/>
              <a:r>
                <a:rPr lang="en" sz="900" dirty="0">
                  <a:solidFill>
                    <a:srgbClr val="5B6477"/>
                  </a:solidFill>
                  <a:latin typeface="+mn-lt"/>
                  <a:ea typeface="+mn-ea"/>
                  <a:cs typeface="+mn-cs"/>
                </a:rPr>
                <a:t>F2G Solutions Inc</a:t>
              </a:r>
            </a:p>
          </p:txBody>
        </p:sp>
        <p:sp>
          <p:nvSpPr>
            <p:cNvPr id="10" name="TextBox 10"/>
            <p:cNvSpPr txBox="1"/>
            <p:nvPr/>
          </p:nvSpPr>
          <p:spPr>
            <a:xfrm>
              <a:off x="8395974" y="6551295"/>
              <a:ext cx="2848288" cy="176212"/>
            </a:xfrm>
            <a:prstGeom prst="rect">
              <a:avLst/>
            </a:prstGeom>
            <a:noFill/>
            <a:ln>
              <a:noFill/>
            </a:ln>
          </p:spPr>
          <p:txBody>
            <a:bodyPr wrap="square" lIns="0" tIns="0" rIns="0" bIns="0" anchor="t" anchorCtr="0">
              <a:spAutoFit/>
            </a:bodyPr>
            <a:lstStyle/>
            <a:p>
              <a:pPr algn="r"/>
              <a:r>
                <a:rPr lang="en" sz="900" dirty="0">
                  <a:solidFill>
                    <a:srgbClr val="5B6477"/>
                  </a:solidFill>
                  <a:latin typeface="+mn-lt"/>
                  <a:ea typeface="+mn-ea"/>
                  <a:cs typeface="+mn-cs"/>
                </a:rPr>
                <a:t>KFOKAM48 Telecommunication Academy</a:t>
              </a:r>
            </a:p>
          </p:txBody>
        </p:sp>
        <p:sp>
          <p:nvSpPr>
            <p:cNvPr id="11" name="page-number"/>
            <p:cNvSpPr txBox="1"/>
            <p:nvPr/>
          </p:nvSpPr>
          <p:spPr>
            <a:xfrm>
              <a:off x="11209100" y="6551295"/>
              <a:ext cx="378062" cy="176212"/>
            </a:xfrm>
            <a:prstGeom prst="rect">
              <a:avLst/>
            </a:prstGeom>
            <a:noFill/>
            <a:ln>
              <a:noFill/>
            </a:ln>
          </p:spPr>
          <p:txBody>
            <a:bodyPr wrap="square" lIns="0" tIns="0" rIns="0" bIns="0" anchor="t" anchorCtr="0">
              <a:spAutoFit/>
            </a:bodyPr>
            <a:lstStyle/>
            <a:p>
              <a:pPr algn="r"/>
              <a:r>
                <a:rPr lang="en" sz="900" b="1" dirty="0">
                  <a:solidFill>
                    <a:srgbClr val="1F3864"/>
                  </a:solidFill>
                  <a:latin typeface="+mn-lt"/>
                  <a:ea typeface="+mn-ea"/>
                  <a:cs typeface="+mn-cs"/>
                </a:rPr>
                <a:t>24</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mas_v3">
  <a:themeElements>
    <a:clrScheme name="cmas_v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mas_v3">
      <a:majorFont>
        <a:latin typeface="IBM Plex Sans"/>
        <a:ea typeface="Microsoft YaHei"/>
        <a:cs typeface="IBM Plex San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Microsoft YaHei"/>
        <a:cs typeface="IBM Plex San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mas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mas_v3">
  <a:themeElements>
    <a:clrScheme name="cmas_v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mas_v3">
      <a:majorFont>
        <a:latin typeface="IBM Plex Sans"/>
        <a:ea typeface="Microsoft YaHei"/>
        <a:cs typeface="IBM Plex San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Microsoft YaHei"/>
        <a:cs typeface="IBM Plex San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mas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2026-09-28T01:13:51Z</dcterms:created>
  <dcterms:modified xsi:type="dcterms:W3CDTF">2026-09-28T01:13:51Z</dcterms:modified>
  <cp:category/>
  <cp:contentStatus/>
</cp:coreProperties>
</file>